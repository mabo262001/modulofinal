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Montserrat Italics" charset="1" panose="00000500000000000000"/>
      <p:regular r:id="rId16"/>
    </p:embeddedFont>
    <p:embeddedFont>
      <p:font typeface="Montserrat" charset="1" panose="00000500000000000000"/>
      <p:regular r:id="rId17"/>
    </p:embeddedFont>
    <p:embeddedFont>
      <p:font typeface="Montserrat Bold" charset="1" panose="000008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png" Type="http://schemas.openxmlformats.org/officeDocument/2006/relationships/image"/><Relationship Id="rId7" Target="../media/image2.svg" Type="http://schemas.openxmlformats.org/officeDocument/2006/relationships/image"/><Relationship Id="rId8"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8.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16.png" Type="http://schemas.openxmlformats.org/officeDocument/2006/relationships/image"/><Relationship Id="rId9" Target="../media/image1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131B"/>
        </a:solidFill>
      </p:bgPr>
    </p:bg>
    <p:spTree>
      <p:nvGrpSpPr>
        <p:cNvPr id="1" name=""/>
        <p:cNvGrpSpPr/>
        <p:nvPr/>
      </p:nvGrpSpPr>
      <p:grpSpPr>
        <a:xfrm>
          <a:off x="0" y="0"/>
          <a:ext cx="0" cy="0"/>
          <a:chOff x="0" y="0"/>
          <a:chExt cx="0" cy="0"/>
        </a:xfrm>
      </p:grpSpPr>
      <p:sp>
        <p:nvSpPr>
          <p:cNvPr name="Freeform 2" id="2"/>
          <p:cNvSpPr/>
          <p:nvPr/>
        </p:nvSpPr>
        <p:spPr>
          <a:xfrm flipH="true" flipV="false" rot="3909884">
            <a:off x="11350372" y="-141318"/>
            <a:ext cx="14319658" cy="14625633"/>
          </a:xfrm>
          <a:custGeom>
            <a:avLst/>
            <a:gdLst/>
            <a:ahLst/>
            <a:cxnLst/>
            <a:rect r="r" b="b" t="t" l="l"/>
            <a:pathLst>
              <a:path h="14625633" w="14319658">
                <a:moveTo>
                  <a:pt x="14319658" y="0"/>
                </a:moveTo>
                <a:lnTo>
                  <a:pt x="0" y="0"/>
                </a:lnTo>
                <a:lnTo>
                  <a:pt x="0" y="14625634"/>
                </a:lnTo>
                <a:lnTo>
                  <a:pt x="14319658" y="14625634"/>
                </a:lnTo>
                <a:lnTo>
                  <a:pt x="14319658" y="0"/>
                </a:lnTo>
                <a:close/>
              </a:path>
            </a:pathLst>
          </a:custGeom>
          <a:blipFill>
            <a:blip r:embed="rId2">
              <a:alphaModFix amt="7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036157">
            <a:off x="-3151065" y="-4804991"/>
            <a:ext cx="13558802" cy="10126730"/>
          </a:xfrm>
          <a:custGeom>
            <a:avLst/>
            <a:gdLst/>
            <a:ahLst/>
            <a:cxnLst/>
            <a:rect r="r" b="b" t="t" l="l"/>
            <a:pathLst>
              <a:path h="10126730" w="13558802">
                <a:moveTo>
                  <a:pt x="0" y="0"/>
                </a:moveTo>
                <a:lnTo>
                  <a:pt x="13558802" y="0"/>
                </a:lnTo>
                <a:lnTo>
                  <a:pt x="13558802" y="10126730"/>
                </a:lnTo>
                <a:lnTo>
                  <a:pt x="0" y="10126730"/>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803731" y="2170782"/>
            <a:ext cx="24368261" cy="24368261"/>
          </a:xfrm>
          <a:custGeom>
            <a:avLst/>
            <a:gdLst/>
            <a:ahLst/>
            <a:cxnLst/>
            <a:rect r="r" b="b" t="t" l="l"/>
            <a:pathLst>
              <a:path h="24368261" w="24368261">
                <a:moveTo>
                  <a:pt x="0" y="0"/>
                </a:moveTo>
                <a:lnTo>
                  <a:pt x="24368260" y="0"/>
                </a:lnTo>
                <a:lnTo>
                  <a:pt x="24368260" y="24368260"/>
                </a:lnTo>
                <a:lnTo>
                  <a:pt x="0" y="243682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343677" y="-14081261"/>
            <a:ext cx="24368261" cy="24368261"/>
          </a:xfrm>
          <a:custGeom>
            <a:avLst/>
            <a:gdLst/>
            <a:ahLst/>
            <a:cxnLst/>
            <a:rect r="r" b="b" t="t" l="l"/>
            <a:pathLst>
              <a:path h="24368261" w="24368261">
                <a:moveTo>
                  <a:pt x="0" y="0"/>
                </a:moveTo>
                <a:lnTo>
                  <a:pt x="24368261" y="0"/>
                </a:lnTo>
                <a:lnTo>
                  <a:pt x="24368261" y="24368261"/>
                </a:lnTo>
                <a:lnTo>
                  <a:pt x="0" y="24368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717547" y="2970616"/>
            <a:ext cx="14297856" cy="5581675"/>
            <a:chOff x="0" y="0"/>
            <a:chExt cx="4606779" cy="1798419"/>
          </a:xfrm>
        </p:grpSpPr>
        <p:sp>
          <p:nvSpPr>
            <p:cNvPr name="Freeform 7" id="7"/>
            <p:cNvSpPr/>
            <p:nvPr/>
          </p:nvSpPr>
          <p:spPr>
            <a:xfrm flipH="false" flipV="false" rot="0">
              <a:off x="0" y="0"/>
              <a:ext cx="4606779" cy="1798419"/>
            </a:xfrm>
            <a:custGeom>
              <a:avLst/>
              <a:gdLst/>
              <a:ahLst/>
              <a:cxnLst/>
              <a:rect r="r" b="b" t="t" l="l"/>
              <a:pathLst>
                <a:path h="1798419" w="4606779">
                  <a:moveTo>
                    <a:pt x="28698" y="0"/>
                  </a:moveTo>
                  <a:lnTo>
                    <a:pt x="4578081" y="0"/>
                  </a:lnTo>
                  <a:cubicBezTo>
                    <a:pt x="4585692" y="0"/>
                    <a:pt x="4592991" y="3024"/>
                    <a:pt x="4598374" y="8405"/>
                  </a:cubicBezTo>
                  <a:cubicBezTo>
                    <a:pt x="4603755" y="13787"/>
                    <a:pt x="4606779" y="21087"/>
                    <a:pt x="4606779" y="28698"/>
                  </a:cubicBezTo>
                  <a:lnTo>
                    <a:pt x="4606779" y="1769721"/>
                  </a:lnTo>
                  <a:cubicBezTo>
                    <a:pt x="4606779" y="1777332"/>
                    <a:pt x="4603755" y="1784632"/>
                    <a:pt x="4598374" y="1790014"/>
                  </a:cubicBezTo>
                  <a:cubicBezTo>
                    <a:pt x="4592991" y="1795396"/>
                    <a:pt x="4585692" y="1798419"/>
                    <a:pt x="4578081" y="1798419"/>
                  </a:cubicBezTo>
                  <a:lnTo>
                    <a:pt x="28698" y="1798419"/>
                  </a:lnTo>
                  <a:cubicBezTo>
                    <a:pt x="21087" y="1798419"/>
                    <a:pt x="13787" y="1795396"/>
                    <a:pt x="8405" y="1790014"/>
                  </a:cubicBezTo>
                  <a:cubicBezTo>
                    <a:pt x="3024" y="1784632"/>
                    <a:pt x="0" y="1777332"/>
                    <a:pt x="0" y="1769721"/>
                  </a:cubicBezTo>
                  <a:lnTo>
                    <a:pt x="0" y="28698"/>
                  </a:lnTo>
                  <a:cubicBezTo>
                    <a:pt x="0" y="21087"/>
                    <a:pt x="3024" y="13787"/>
                    <a:pt x="8405" y="8405"/>
                  </a:cubicBezTo>
                  <a:cubicBezTo>
                    <a:pt x="13787" y="3024"/>
                    <a:pt x="21087" y="0"/>
                    <a:pt x="28698" y="0"/>
                  </a:cubicBezTo>
                  <a:close/>
                </a:path>
              </a:pathLst>
            </a:custGeom>
            <a:solidFill>
              <a:srgbClr val="2D3677">
                <a:alpha val="44706"/>
              </a:srgbClr>
            </a:solidFill>
            <a:ln w="38100" cap="rnd">
              <a:solidFill>
                <a:srgbClr val="E7F2FA">
                  <a:alpha val="44706"/>
                </a:srgbClr>
              </a:solidFill>
              <a:prstDash val="solid"/>
              <a:round/>
            </a:ln>
          </p:spPr>
        </p:sp>
        <p:sp>
          <p:nvSpPr>
            <p:cNvPr name="TextBox 8" id="8"/>
            <p:cNvSpPr txBox="true"/>
            <p:nvPr/>
          </p:nvSpPr>
          <p:spPr>
            <a:xfrm>
              <a:off x="0" y="-38100"/>
              <a:ext cx="4606779" cy="1836519"/>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5869586" y="6715409"/>
            <a:ext cx="6548829" cy="912181"/>
            <a:chOff x="0" y="0"/>
            <a:chExt cx="2110037" cy="293905"/>
          </a:xfrm>
        </p:grpSpPr>
        <p:sp>
          <p:nvSpPr>
            <p:cNvPr name="Freeform 10" id="10"/>
            <p:cNvSpPr/>
            <p:nvPr/>
          </p:nvSpPr>
          <p:spPr>
            <a:xfrm flipH="false" flipV="false" rot="0">
              <a:off x="0" y="0"/>
              <a:ext cx="2110037" cy="293905"/>
            </a:xfrm>
            <a:custGeom>
              <a:avLst/>
              <a:gdLst/>
              <a:ahLst/>
              <a:cxnLst/>
              <a:rect r="r" b="b" t="t" l="l"/>
              <a:pathLst>
                <a:path h="293905" w="2110037">
                  <a:moveTo>
                    <a:pt x="118218" y="0"/>
                  </a:moveTo>
                  <a:lnTo>
                    <a:pt x="1991819" y="0"/>
                  </a:lnTo>
                  <a:cubicBezTo>
                    <a:pt x="2057109" y="0"/>
                    <a:pt x="2110037" y="52928"/>
                    <a:pt x="2110037" y="118218"/>
                  </a:cubicBezTo>
                  <a:lnTo>
                    <a:pt x="2110037" y="175687"/>
                  </a:lnTo>
                  <a:cubicBezTo>
                    <a:pt x="2110037" y="207040"/>
                    <a:pt x="2097582" y="237110"/>
                    <a:pt x="2075411" y="259280"/>
                  </a:cubicBezTo>
                  <a:cubicBezTo>
                    <a:pt x="2053241" y="281450"/>
                    <a:pt x="2023172" y="293905"/>
                    <a:pt x="1991819" y="293905"/>
                  </a:cubicBezTo>
                  <a:lnTo>
                    <a:pt x="118218" y="293905"/>
                  </a:lnTo>
                  <a:cubicBezTo>
                    <a:pt x="52928" y="293905"/>
                    <a:pt x="0" y="240977"/>
                    <a:pt x="0" y="175687"/>
                  </a:cubicBezTo>
                  <a:lnTo>
                    <a:pt x="0" y="118218"/>
                  </a:lnTo>
                  <a:cubicBezTo>
                    <a:pt x="0" y="52928"/>
                    <a:pt x="52928" y="0"/>
                    <a:pt x="118218" y="0"/>
                  </a:cubicBezTo>
                  <a:close/>
                </a:path>
              </a:pathLst>
            </a:custGeom>
            <a:gradFill rotWithShape="true">
              <a:gsLst>
                <a:gs pos="0">
                  <a:srgbClr val="1F2854">
                    <a:alpha val="100000"/>
                  </a:srgbClr>
                </a:gs>
                <a:gs pos="100000">
                  <a:srgbClr val="5961E1">
                    <a:alpha val="100000"/>
                  </a:srgbClr>
                </a:gs>
              </a:gsLst>
              <a:lin ang="2700000"/>
            </a:gradFill>
            <a:ln w="19050" cap="rnd">
              <a:solidFill>
                <a:srgbClr val="E7F2FA"/>
              </a:solidFill>
              <a:prstDash val="solid"/>
              <a:round/>
            </a:ln>
          </p:spPr>
        </p:sp>
        <p:sp>
          <p:nvSpPr>
            <p:cNvPr name="TextBox 11" id="11"/>
            <p:cNvSpPr txBox="true"/>
            <p:nvPr/>
          </p:nvSpPr>
          <p:spPr>
            <a:xfrm>
              <a:off x="0" y="-38100"/>
              <a:ext cx="2110037" cy="332005"/>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954221" y="3696402"/>
            <a:ext cx="13824508" cy="2686180"/>
          </a:xfrm>
          <a:prstGeom prst="rect">
            <a:avLst/>
          </a:prstGeom>
        </p:spPr>
        <p:txBody>
          <a:bodyPr anchor="t" rtlCol="false" tIns="0" lIns="0" bIns="0" rIns="0">
            <a:spAutoFit/>
          </a:bodyPr>
          <a:lstStyle/>
          <a:p>
            <a:pPr algn="ctr">
              <a:lnSpc>
                <a:spcPts val="10396"/>
              </a:lnSpc>
            </a:pPr>
            <a:r>
              <a:rPr lang="en-US" sz="10396" i="true" spc="-571">
                <a:solidFill>
                  <a:srgbClr val="E7F2FA"/>
                </a:solidFill>
                <a:latin typeface="Montserrat Italics"/>
                <a:ea typeface="Montserrat Italics"/>
                <a:cs typeface="Montserrat Italics"/>
                <a:sym typeface="Montserrat Italics"/>
              </a:rPr>
              <a:t>PROYE</a:t>
            </a:r>
            <a:r>
              <a:rPr lang="en-US" sz="10396" i="true" spc="-571">
                <a:solidFill>
                  <a:srgbClr val="E7F2FA"/>
                </a:solidFill>
                <a:latin typeface="Montserrat Italics"/>
                <a:ea typeface="Montserrat Italics"/>
                <a:cs typeface="Montserrat Italics"/>
                <a:sym typeface="Montserrat Italics"/>
              </a:rPr>
              <a:t>CTO FINAL</a:t>
            </a:r>
          </a:p>
          <a:p>
            <a:pPr algn="ctr">
              <a:lnSpc>
                <a:spcPts val="10396"/>
              </a:lnSpc>
            </a:pPr>
            <a:r>
              <a:rPr lang="en-US" sz="10396" i="true" spc="-571">
                <a:solidFill>
                  <a:srgbClr val="E7F2FA"/>
                </a:solidFill>
                <a:latin typeface="Montserrat Italics"/>
                <a:ea typeface="Montserrat Italics"/>
                <a:cs typeface="Montserrat Italics"/>
                <a:sym typeface="Montserrat Italics"/>
              </a:rPr>
              <a:t>DEVSECOPS EN CI/CD</a:t>
            </a:r>
          </a:p>
        </p:txBody>
      </p:sp>
      <p:sp>
        <p:nvSpPr>
          <p:cNvPr name="TextBox 13" id="13"/>
          <p:cNvSpPr txBox="true"/>
          <p:nvPr/>
        </p:nvSpPr>
        <p:spPr>
          <a:xfrm rot="0">
            <a:off x="6572011" y="7022399"/>
            <a:ext cx="5143978" cy="364255"/>
          </a:xfrm>
          <a:prstGeom prst="rect">
            <a:avLst/>
          </a:prstGeom>
        </p:spPr>
        <p:txBody>
          <a:bodyPr anchor="t" rtlCol="false" tIns="0" lIns="0" bIns="0" rIns="0">
            <a:spAutoFit/>
          </a:bodyPr>
          <a:lstStyle/>
          <a:p>
            <a:pPr algn="ctr">
              <a:lnSpc>
                <a:spcPts val="2715"/>
              </a:lnSpc>
            </a:pPr>
            <a:r>
              <a:rPr lang="en-US" sz="2715" spc="-149">
                <a:solidFill>
                  <a:srgbClr val="E7F2FA"/>
                </a:solidFill>
                <a:latin typeface="Montserrat"/>
                <a:ea typeface="Montserrat"/>
                <a:cs typeface="Montserrat"/>
                <a:sym typeface="Montserrat"/>
              </a:rPr>
              <a:t>GRUPO # 1</a:t>
            </a:r>
          </a:p>
        </p:txBody>
      </p:sp>
      <p:sp>
        <p:nvSpPr>
          <p:cNvPr name="TextBox 14" id="14"/>
          <p:cNvSpPr txBox="true"/>
          <p:nvPr/>
        </p:nvSpPr>
        <p:spPr>
          <a:xfrm rot="0">
            <a:off x="8381761"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Home</a:t>
            </a:r>
          </a:p>
        </p:txBody>
      </p:sp>
      <p:sp>
        <p:nvSpPr>
          <p:cNvPr name="TextBox 15" id="15"/>
          <p:cNvSpPr txBox="true"/>
          <p:nvPr/>
        </p:nvSpPr>
        <p:spPr>
          <a:xfrm rot="0">
            <a:off x="10668000"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About</a:t>
            </a:r>
          </a:p>
        </p:txBody>
      </p:sp>
      <p:sp>
        <p:nvSpPr>
          <p:cNvPr name="TextBox 16" id="16"/>
          <p:cNvSpPr txBox="true"/>
          <p:nvPr/>
        </p:nvSpPr>
        <p:spPr>
          <a:xfrm rot="0">
            <a:off x="12951095"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Service</a:t>
            </a:r>
          </a:p>
        </p:txBody>
      </p:sp>
      <p:sp>
        <p:nvSpPr>
          <p:cNvPr name="TextBox 17" id="17"/>
          <p:cNvSpPr txBox="true"/>
          <p:nvPr/>
        </p:nvSpPr>
        <p:spPr>
          <a:xfrm rot="0">
            <a:off x="15234190"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Contact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B131B"/>
        </a:solidFill>
      </p:bgPr>
    </p:bg>
    <p:spTree>
      <p:nvGrpSpPr>
        <p:cNvPr id="1" name=""/>
        <p:cNvGrpSpPr/>
        <p:nvPr/>
      </p:nvGrpSpPr>
      <p:grpSpPr>
        <a:xfrm>
          <a:off x="0" y="0"/>
          <a:ext cx="0" cy="0"/>
          <a:chOff x="0" y="0"/>
          <a:chExt cx="0" cy="0"/>
        </a:xfrm>
      </p:grpSpPr>
      <p:sp>
        <p:nvSpPr>
          <p:cNvPr name="Freeform 2" id="2"/>
          <p:cNvSpPr/>
          <p:nvPr/>
        </p:nvSpPr>
        <p:spPr>
          <a:xfrm flipH="true" flipV="false" rot="3909884">
            <a:off x="11350372" y="-141318"/>
            <a:ext cx="14319658" cy="14625633"/>
          </a:xfrm>
          <a:custGeom>
            <a:avLst/>
            <a:gdLst/>
            <a:ahLst/>
            <a:cxnLst/>
            <a:rect r="r" b="b" t="t" l="l"/>
            <a:pathLst>
              <a:path h="14625633" w="14319658">
                <a:moveTo>
                  <a:pt x="14319658" y="0"/>
                </a:moveTo>
                <a:lnTo>
                  <a:pt x="0" y="0"/>
                </a:lnTo>
                <a:lnTo>
                  <a:pt x="0" y="14625634"/>
                </a:lnTo>
                <a:lnTo>
                  <a:pt x="14319658" y="14625634"/>
                </a:lnTo>
                <a:lnTo>
                  <a:pt x="14319658" y="0"/>
                </a:lnTo>
                <a:close/>
              </a:path>
            </a:pathLst>
          </a:custGeom>
          <a:blipFill>
            <a:blip r:embed="rId2">
              <a:alphaModFix amt="7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036157">
            <a:off x="-3151065" y="-4804991"/>
            <a:ext cx="13558802" cy="10126730"/>
          </a:xfrm>
          <a:custGeom>
            <a:avLst/>
            <a:gdLst/>
            <a:ahLst/>
            <a:cxnLst/>
            <a:rect r="r" b="b" t="t" l="l"/>
            <a:pathLst>
              <a:path h="10126730" w="13558802">
                <a:moveTo>
                  <a:pt x="0" y="0"/>
                </a:moveTo>
                <a:lnTo>
                  <a:pt x="13558802" y="0"/>
                </a:lnTo>
                <a:lnTo>
                  <a:pt x="13558802" y="10126730"/>
                </a:lnTo>
                <a:lnTo>
                  <a:pt x="0" y="10126730"/>
                </a:lnTo>
                <a:lnTo>
                  <a:pt x="0" y="0"/>
                </a:lnTo>
                <a:close/>
              </a:path>
            </a:pathLst>
          </a:custGeom>
          <a:blipFill>
            <a:blip r:embed="rId4">
              <a:alphaModFix amt="43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803731" y="2170782"/>
            <a:ext cx="24368261" cy="24368261"/>
          </a:xfrm>
          <a:custGeom>
            <a:avLst/>
            <a:gdLst/>
            <a:ahLst/>
            <a:cxnLst/>
            <a:rect r="r" b="b" t="t" l="l"/>
            <a:pathLst>
              <a:path h="24368261" w="24368261">
                <a:moveTo>
                  <a:pt x="0" y="0"/>
                </a:moveTo>
                <a:lnTo>
                  <a:pt x="24368260" y="0"/>
                </a:lnTo>
                <a:lnTo>
                  <a:pt x="24368260" y="24368260"/>
                </a:lnTo>
                <a:lnTo>
                  <a:pt x="0" y="243682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8343677" y="-14081261"/>
            <a:ext cx="24368261" cy="24368261"/>
          </a:xfrm>
          <a:custGeom>
            <a:avLst/>
            <a:gdLst/>
            <a:ahLst/>
            <a:cxnLst/>
            <a:rect r="r" b="b" t="t" l="l"/>
            <a:pathLst>
              <a:path h="24368261" w="24368261">
                <a:moveTo>
                  <a:pt x="0" y="0"/>
                </a:moveTo>
                <a:lnTo>
                  <a:pt x="24368261" y="0"/>
                </a:lnTo>
                <a:lnTo>
                  <a:pt x="24368261" y="24368261"/>
                </a:lnTo>
                <a:lnTo>
                  <a:pt x="0" y="2436826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1717547" y="3744910"/>
            <a:ext cx="14297856" cy="4807380"/>
            <a:chOff x="0" y="0"/>
            <a:chExt cx="4606779" cy="1548941"/>
          </a:xfrm>
        </p:grpSpPr>
        <p:sp>
          <p:nvSpPr>
            <p:cNvPr name="Freeform 7" id="7"/>
            <p:cNvSpPr/>
            <p:nvPr/>
          </p:nvSpPr>
          <p:spPr>
            <a:xfrm flipH="false" flipV="false" rot="0">
              <a:off x="0" y="0"/>
              <a:ext cx="4606779" cy="1548941"/>
            </a:xfrm>
            <a:custGeom>
              <a:avLst/>
              <a:gdLst/>
              <a:ahLst/>
              <a:cxnLst/>
              <a:rect r="r" b="b" t="t" l="l"/>
              <a:pathLst>
                <a:path h="1548941" w="4606779">
                  <a:moveTo>
                    <a:pt x="28698" y="0"/>
                  </a:moveTo>
                  <a:lnTo>
                    <a:pt x="4578081" y="0"/>
                  </a:lnTo>
                  <a:cubicBezTo>
                    <a:pt x="4585692" y="0"/>
                    <a:pt x="4592991" y="3024"/>
                    <a:pt x="4598374" y="8405"/>
                  </a:cubicBezTo>
                  <a:cubicBezTo>
                    <a:pt x="4603755" y="13787"/>
                    <a:pt x="4606779" y="21087"/>
                    <a:pt x="4606779" y="28698"/>
                  </a:cubicBezTo>
                  <a:lnTo>
                    <a:pt x="4606779" y="1520243"/>
                  </a:lnTo>
                  <a:cubicBezTo>
                    <a:pt x="4606779" y="1527854"/>
                    <a:pt x="4603755" y="1535154"/>
                    <a:pt x="4598374" y="1540536"/>
                  </a:cubicBezTo>
                  <a:cubicBezTo>
                    <a:pt x="4592991" y="1545918"/>
                    <a:pt x="4585692" y="1548941"/>
                    <a:pt x="4578081" y="1548941"/>
                  </a:cubicBezTo>
                  <a:lnTo>
                    <a:pt x="28698" y="1548941"/>
                  </a:lnTo>
                  <a:cubicBezTo>
                    <a:pt x="21087" y="1548941"/>
                    <a:pt x="13787" y="1545918"/>
                    <a:pt x="8405" y="1540536"/>
                  </a:cubicBezTo>
                  <a:cubicBezTo>
                    <a:pt x="3024" y="1535154"/>
                    <a:pt x="0" y="1527854"/>
                    <a:pt x="0" y="1520243"/>
                  </a:cubicBezTo>
                  <a:lnTo>
                    <a:pt x="0" y="28698"/>
                  </a:lnTo>
                  <a:cubicBezTo>
                    <a:pt x="0" y="21087"/>
                    <a:pt x="3024" y="13787"/>
                    <a:pt x="8405" y="8405"/>
                  </a:cubicBezTo>
                  <a:cubicBezTo>
                    <a:pt x="13787" y="3024"/>
                    <a:pt x="21087" y="0"/>
                    <a:pt x="28698" y="0"/>
                  </a:cubicBezTo>
                  <a:close/>
                </a:path>
              </a:pathLst>
            </a:custGeom>
            <a:solidFill>
              <a:srgbClr val="2D3677">
                <a:alpha val="44706"/>
              </a:srgbClr>
            </a:solidFill>
            <a:ln w="38100" cap="rnd">
              <a:solidFill>
                <a:srgbClr val="E7F2FA">
                  <a:alpha val="44706"/>
                </a:srgbClr>
              </a:solidFill>
              <a:prstDash val="solid"/>
              <a:round/>
            </a:ln>
          </p:spPr>
        </p:sp>
        <p:sp>
          <p:nvSpPr>
            <p:cNvPr name="TextBox 8" id="8"/>
            <p:cNvSpPr txBox="true"/>
            <p:nvPr/>
          </p:nvSpPr>
          <p:spPr>
            <a:xfrm>
              <a:off x="0" y="-38100"/>
              <a:ext cx="4606779" cy="1587041"/>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2231746" y="1838096"/>
            <a:ext cx="13824508" cy="1370352"/>
          </a:xfrm>
          <a:prstGeom prst="rect">
            <a:avLst/>
          </a:prstGeom>
        </p:spPr>
        <p:txBody>
          <a:bodyPr anchor="t" rtlCol="false" tIns="0" lIns="0" bIns="0" rIns="0">
            <a:spAutoFit/>
          </a:bodyPr>
          <a:lstStyle/>
          <a:p>
            <a:pPr algn="ctr">
              <a:lnSpc>
                <a:spcPts val="10396"/>
              </a:lnSpc>
            </a:pPr>
            <a:r>
              <a:rPr lang="en-US" sz="10396" i="true" spc="-571">
                <a:solidFill>
                  <a:srgbClr val="E7F2FA"/>
                </a:solidFill>
                <a:latin typeface="Montserrat Italics"/>
                <a:ea typeface="Montserrat Italics"/>
                <a:cs typeface="Montserrat Italics"/>
                <a:sym typeface="Montserrat Italics"/>
              </a:rPr>
              <a:t>INTEGRANTES</a:t>
            </a:r>
          </a:p>
        </p:txBody>
      </p:sp>
      <p:sp>
        <p:nvSpPr>
          <p:cNvPr name="TextBox 10" id="10"/>
          <p:cNvSpPr txBox="true"/>
          <p:nvPr/>
        </p:nvSpPr>
        <p:spPr>
          <a:xfrm rot="0">
            <a:off x="2855399" y="4445870"/>
            <a:ext cx="12245441" cy="400450"/>
          </a:xfrm>
          <a:prstGeom prst="rect">
            <a:avLst/>
          </a:prstGeom>
        </p:spPr>
        <p:txBody>
          <a:bodyPr anchor="t" rtlCol="false" tIns="0" lIns="0" bIns="0" rIns="0">
            <a:spAutoFit/>
          </a:bodyPr>
          <a:lstStyle/>
          <a:p>
            <a:pPr algn="ctr">
              <a:lnSpc>
                <a:spcPts val="3015"/>
              </a:lnSpc>
            </a:pPr>
            <a:r>
              <a:rPr lang="en-US" sz="3015" spc="-165">
                <a:solidFill>
                  <a:srgbClr val="E7F2FA"/>
                </a:solidFill>
                <a:latin typeface="Montserrat"/>
                <a:ea typeface="Montserrat"/>
                <a:cs typeface="Montserrat"/>
                <a:sym typeface="Montserrat"/>
              </a:rPr>
              <a:t>BALLIVIAN OCAMPO MIGUEL ANGEL </a:t>
            </a:r>
          </a:p>
        </p:txBody>
      </p:sp>
      <p:sp>
        <p:nvSpPr>
          <p:cNvPr name="TextBox 11" id="11"/>
          <p:cNvSpPr txBox="true"/>
          <p:nvPr/>
        </p:nvSpPr>
        <p:spPr>
          <a:xfrm rot="0">
            <a:off x="8381761"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Home</a:t>
            </a:r>
          </a:p>
        </p:txBody>
      </p:sp>
      <p:sp>
        <p:nvSpPr>
          <p:cNvPr name="TextBox 12" id="12"/>
          <p:cNvSpPr txBox="true"/>
          <p:nvPr/>
        </p:nvSpPr>
        <p:spPr>
          <a:xfrm rot="0">
            <a:off x="10668000"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About</a:t>
            </a:r>
          </a:p>
        </p:txBody>
      </p:sp>
      <p:sp>
        <p:nvSpPr>
          <p:cNvPr name="TextBox 13" id="13"/>
          <p:cNvSpPr txBox="true"/>
          <p:nvPr/>
        </p:nvSpPr>
        <p:spPr>
          <a:xfrm rot="0">
            <a:off x="12951095"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Service</a:t>
            </a:r>
          </a:p>
        </p:txBody>
      </p:sp>
      <p:sp>
        <p:nvSpPr>
          <p:cNvPr name="TextBox 14" id="14"/>
          <p:cNvSpPr txBox="true"/>
          <p:nvPr/>
        </p:nvSpPr>
        <p:spPr>
          <a:xfrm rot="0">
            <a:off x="15234190"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Contact</a:t>
            </a:r>
          </a:p>
        </p:txBody>
      </p:sp>
      <p:sp>
        <p:nvSpPr>
          <p:cNvPr name="TextBox 15" id="15"/>
          <p:cNvSpPr txBox="true"/>
          <p:nvPr/>
        </p:nvSpPr>
        <p:spPr>
          <a:xfrm rot="0">
            <a:off x="2855399" y="5293995"/>
            <a:ext cx="12245441" cy="400450"/>
          </a:xfrm>
          <a:prstGeom prst="rect">
            <a:avLst/>
          </a:prstGeom>
        </p:spPr>
        <p:txBody>
          <a:bodyPr anchor="t" rtlCol="false" tIns="0" lIns="0" bIns="0" rIns="0">
            <a:spAutoFit/>
          </a:bodyPr>
          <a:lstStyle/>
          <a:p>
            <a:pPr algn="ctr">
              <a:lnSpc>
                <a:spcPts val="3015"/>
              </a:lnSpc>
            </a:pPr>
            <a:r>
              <a:rPr lang="en-US" sz="3015" spc="-165">
                <a:solidFill>
                  <a:srgbClr val="E7F2FA"/>
                </a:solidFill>
                <a:latin typeface="Montserrat"/>
                <a:ea typeface="Montserrat"/>
                <a:cs typeface="Montserrat"/>
                <a:sym typeface="Montserrat"/>
              </a:rPr>
              <a:t>FISHER VARGAS MELISSA</a:t>
            </a:r>
          </a:p>
        </p:txBody>
      </p:sp>
      <p:sp>
        <p:nvSpPr>
          <p:cNvPr name="TextBox 16" id="16"/>
          <p:cNvSpPr txBox="true"/>
          <p:nvPr/>
        </p:nvSpPr>
        <p:spPr>
          <a:xfrm rot="0">
            <a:off x="2743755" y="6195500"/>
            <a:ext cx="12245441" cy="400450"/>
          </a:xfrm>
          <a:prstGeom prst="rect">
            <a:avLst/>
          </a:prstGeom>
        </p:spPr>
        <p:txBody>
          <a:bodyPr anchor="t" rtlCol="false" tIns="0" lIns="0" bIns="0" rIns="0">
            <a:spAutoFit/>
          </a:bodyPr>
          <a:lstStyle/>
          <a:p>
            <a:pPr algn="ctr">
              <a:lnSpc>
                <a:spcPts val="3015"/>
              </a:lnSpc>
            </a:pPr>
            <a:r>
              <a:rPr lang="en-US" sz="3015" spc="-165">
                <a:solidFill>
                  <a:srgbClr val="E7F2FA"/>
                </a:solidFill>
                <a:latin typeface="Montserrat"/>
                <a:ea typeface="Montserrat"/>
                <a:cs typeface="Montserrat"/>
                <a:sym typeface="Montserrat"/>
              </a:rPr>
              <a:t>HURTADO JUSTINIANO ROGER </a:t>
            </a:r>
          </a:p>
        </p:txBody>
      </p:sp>
      <p:sp>
        <p:nvSpPr>
          <p:cNvPr name="TextBox 17" id="17"/>
          <p:cNvSpPr txBox="true"/>
          <p:nvPr/>
        </p:nvSpPr>
        <p:spPr>
          <a:xfrm rot="0">
            <a:off x="2855399" y="7190349"/>
            <a:ext cx="12245441" cy="400450"/>
          </a:xfrm>
          <a:prstGeom prst="rect">
            <a:avLst/>
          </a:prstGeom>
        </p:spPr>
        <p:txBody>
          <a:bodyPr anchor="t" rtlCol="false" tIns="0" lIns="0" bIns="0" rIns="0">
            <a:spAutoFit/>
          </a:bodyPr>
          <a:lstStyle/>
          <a:p>
            <a:pPr algn="ctr">
              <a:lnSpc>
                <a:spcPts val="3015"/>
              </a:lnSpc>
            </a:pPr>
            <a:r>
              <a:rPr lang="en-US" sz="3015" spc="-165">
                <a:solidFill>
                  <a:srgbClr val="E7F2FA"/>
                </a:solidFill>
                <a:latin typeface="Montserrat"/>
                <a:ea typeface="Montserrat"/>
                <a:cs typeface="Montserrat"/>
                <a:sym typeface="Montserrat"/>
              </a:rPr>
              <a:t>QUINTEROS MAMANI FREDDY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B131B"/>
        </a:solidFill>
      </p:bgPr>
    </p:bg>
    <p:spTree>
      <p:nvGrpSpPr>
        <p:cNvPr id="1" name=""/>
        <p:cNvGrpSpPr/>
        <p:nvPr/>
      </p:nvGrpSpPr>
      <p:grpSpPr>
        <a:xfrm>
          <a:off x="0" y="0"/>
          <a:ext cx="0" cy="0"/>
          <a:chOff x="0" y="0"/>
          <a:chExt cx="0" cy="0"/>
        </a:xfrm>
      </p:grpSpPr>
      <p:sp>
        <p:nvSpPr>
          <p:cNvPr name="Freeform 2" id="2"/>
          <p:cNvSpPr/>
          <p:nvPr/>
        </p:nvSpPr>
        <p:spPr>
          <a:xfrm flipH="false" flipV="false" rot="2036157">
            <a:off x="-3237659" y="-4528319"/>
            <a:ext cx="13558802" cy="10126730"/>
          </a:xfrm>
          <a:custGeom>
            <a:avLst/>
            <a:gdLst/>
            <a:ahLst/>
            <a:cxnLst/>
            <a:rect r="r" b="b" t="t" l="l"/>
            <a:pathLst>
              <a:path h="10126730" w="13558802">
                <a:moveTo>
                  <a:pt x="0" y="0"/>
                </a:moveTo>
                <a:lnTo>
                  <a:pt x="13558802" y="0"/>
                </a:lnTo>
                <a:lnTo>
                  <a:pt x="13558802" y="10126730"/>
                </a:lnTo>
                <a:lnTo>
                  <a:pt x="0" y="10126730"/>
                </a:lnTo>
                <a:lnTo>
                  <a:pt x="0" y="0"/>
                </a:lnTo>
                <a:close/>
              </a:path>
            </a:pathLst>
          </a:custGeom>
          <a:blipFill>
            <a:blip r:embed="rId2">
              <a:alphaModFix amt="2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700261" y="-15109961"/>
            <a:ext cx="24368261" cy="24368261"/>
          </a:xfrm>
          <a:custGeom>
            <a:avLst/>
            <a:gdLst/>
            <a:ahLst/>
            <a:cxnLst/>
            <a:rect r="r" b="b" t="t" l="l"/>
            <a:pathLst>
              <a:path h="24368261" w="24368261">
                <a:moveTo>
                  <a:pt x="0" y="0"/>
                </a:moveTo>
                <a:lnTo>
                  <a:pt x="24368261" y="0"/>
                </a:lnTo>
                <a:lnTo>
                  <a:pt x="24368261" y="24368261"/>
                </a:lnTo>
                <a:lnTo>
                  <a:pt x="0" y="243682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3909884">
            <a:off x="12613941" y="164385"/>
            <a:ext cx="14319658" cy="14625633"/>
          </a:xfrm>
          <a:custGeom>
            <a:avLst/>
            <a:gdLst/>
            <a:ahLst/>
            <a:cxnLst/>
            <a:rect r="r" b="b" t="t" l="l"/>
            <a:pathLst>
              <a:path h="14625633" w="14319658">
                <a:moveTo>
                  <a:pt x="14319658" y="0"/>
                </a:moveTo>
                <a:lnTo>
                  <a:pt x="0" y="0"/>
                </a:lnTo>
                <a:lnTo>
                  <a:pt x="0" y="14625633"/>
                </a:lnTo>
                <a:lnTo>
                  <a:pt x="14319658" y="14625633"/>
                </a:lnTo>
                <a:lnTo>
                  <a:pt x="14319658" y="0"/>
                </a:lnTo>
                <a:close/>
              </a:path>
            </a:pathLst>
          </a:custGeom>
          <a:blipFill>
            <a:blip r:embed="rId6">
              <a:alphaModFix amt="32999"/>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7923581" y="9739"/>
            <a:ext cx="1774514" cy="10277261"/>
            <a:chOff x="0" y="0"/>
            <a:chExt cx="467362" cy="2706768"/>
          </a:xfrm>
        </p:grpSpPr>
        <p:sp>
          <p:nvSpPr>
            <p:cNvPr name="Freeform 6" id="6"/>
            <p:cNvSpPr/>
            <p:nvPr/>
          </p:nvSpPr>
          <p:spPr>
            <a:xfrm flipH="false" flipV="false" rot="0">
              <a:off x="0" y="0"/>
              <a:ext cx="467362" cy="2706768"/>
            </a:xfrm>
            <a:custGeom>
              <a:avLst/>
              <a:gdLst/>
              <a:ahLst/>
              <a:cxnLst/>
              <a:rect r="r" b="b" t="t" l="l"/>
              <a:pathLst>
                <a:path h="2706768" w="467362">
                  <a:moveTo>
                    <a:pt x="0" y="0"/>
                  </a:moveTo>
                  <a:lnTo>
                    <a:pt x="467362" y="0"/>
                  </a:lnTo>
                  <a:lnTo>
                    <a:pt x="467362" y="2706768"/>
                  </a:lnTo>
                  <a:lnTo>
                    <a:pt x="0" y="2706768"/>
                  </a:lnTo>
                  <a:close/>
                </a:path>
              </a:pathLst>
            </a:custGeom>
            <a:gradFill rotWithShape="true">
              <a:gsLst>
                <a:gs pos="0">
                  <a:srgbClr val="000000">
                    <a:alpha val="100000"/>
                  </a:srgbClr>
                </a:gs>
                <a:gs pos="100000">
                  <a:srgbClr val="0B131B">
                    <a:alpha val="100000"/>
                  </a:srgbClr>
                </a:gs>
              </a:gsLst>
              <a:lin ang="0"/>
            </a:gradFill>
          </p:spPr>
        </p:sp>
        <p:sp>
          <p:nvSpPr>
            <p:cNvPr name="TextBox 7" id="7"/>
            <p:cNvSpPr txBox="true"/>
            <p:nvPr/>
          </p:nvSpPr>
          <p:spPr>
            <a:xfrm>
              <a:off x="0" y="28575"/>
              <a:ext cx="467362" cy="2678193"/>
            </a:xfrm>
            <a:prstGeom prst="rect">
              <a:avLst/>
            </a:prstGeom>
          </p:spPr>
          <p:txBody>
            <a:bodyPr anchor="ctr" rtlCol="false" tIns="50800" lIns="50800" bIns="50800" rIns="50800"/>
            <a:lstStyle/>
            <a:p>
              <a:pPr algn="ctr">
                <a:lnSpc>
                  <a:spcPts val="1800"/>
                </a:lnSpc>
              </a:pPr>
            </a:p>
          </p:txBody>
        </p:sp>
      </p:grpSp>
      <p:sp>
        <p:nvSpPr>
          <p:cNvPr name="Freeform 8" id="8"/>
          <p:cNvSpPr/>
          <p:nvPr/>
        </p:nvSpPr>
        <p:spPr>
          <a:xfrm flipH="false" flipV="false" rot="0">
            <a:off x="263357" y="2404264"/>
            <a:ext cx="7660223" cy="4155671"/>
          </a:xfrm>
          <a:custGeom>
            <a:avLst/>
            <a:gdLst/>
            <a:ahLst/>
            <a:cxnLst/>
            <a:rect r="r" b="b" t="t" l="l"/>
            <a:pathLst>
              <a:path h="4155671" w="7660223">
                <a:moveTo>
                  <a:pt x="0" y="0"/>
                </a:moveTo>
                <a:lnTo>
                  <a:pt x="7660224" y="0"/>
                </a:lnTo>
                <a:lnTo>
                  <a:pt x="7660224" y="4155671"/>
                </a:lnTo>
                <a:lnTo>
                  <a:pt x="0" y="4155671"/>
                </a:lnTo>
                <a:lnTo>
                  <a:pt x="0" y="0"/>
                </a:lnTo>
                <a:close/>
              </a:path>
            </a:pathLst>
          </a:custGeom>
          <a:blipFill>
            <a:blip r:embed="rId8"/>
            <a:stretch>
              <a:fillRect l="0" t="0" r="0" b="0"/>
            </a:stretch>
          </a:blipFill>
        </p:spPr>
      </p:sp>
      <p:sp>
        <p:nvSpPr>
          <p:cNvPr name="TextBox 9" id="9"/>
          <p:cNvSpPr txBox="true"/>
          <p:nvPr/>
        </p:nvSpPr>
        <p:spPr>
          <a:xfrm rot="0">
            <a:off x="9456634" y="2041997"/>
            <a:ext cx="6366849" cy="848360"/>
          </a:xfrm>
          <a:prstGeom prst="rect">
            <a:avLst/>
          </a:prstGeom>
        </p:spPr>
        <p:txBody>
          <a:bodyPr anchor="t" rtlCol="false" tIns="0" lIns="0" bIns="0" rIns="0">
            <a:spAutoFit/>
          </a:bodyPr>
          <a:lstStyle/>
          <a:p>
            <a:pPr algn="l">
              <a:lnSpc>
                <a:spcPts val="6399"/>
              </a:lnSpc>
            </a:pPr>
            <a:r>
              <a:rPr lang="en-US" sz="6399" i="true" spc="-351">
                <a:solidFill>
                  <a:srgbClr val="E7F2FA"/>
                </a:solidFill>
                <a:latin typeface="Montserrat Italics"/>
                <a:ea typeface="Montserrat Italics"/>
                <a:cs typeface="Montserrat Italics"/>
                <a:sym typeface="Montserrat Italics"/>
              </a:rPr>
              <a:t>INTRODUCCIÓN</a:t>
            </a:r>
          </a:p>
        </p:txBody>
      </p:sp>
      <p:sp>
        <p:nvSpPr>
          <p:cNvPr name="TextBox 10" id="10"/>
          <p:cNvSpPr txBox="true"/>
          <p:nvPr/>
        </p:nvSpPr>
        <p:spPr>
          <a:xfrm rot="0">
            <a:off x="8381761"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Home</a:t>
            </a:r>
          </a:p>
        </p:txBody>
      </p:sp>
      <p:sp>
        <p:nvSpPr>
          <p:cNvPr name="TextBox 11" id="11"/>
          <p:cNvSpPr txBox="true"/>
          <p:nvPr/>
        </p:nvSpPr>
        <p:spPr>
          <a:xfrm rot="0">
            <a:off x="10668000"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About</a:t>
            </a:r>
          </a:p>
        </p:txBody>
      </p:sp>
      <p:sp>
        <p:nvSpPr>
          <p:cNvPr name="TextBox 12" id="12"/>
          <p:cNvSpPr txBox="true"/>
          <p:nvPr/>
        </p:nvSpPr>
        <p:spPr>
          <a:xfrm rot="0">
            <a:off x="12951095"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Service</a:t>
            </a:r>
          </a:p>
        </p:txBody>
      </p:sp>
      <p:sp>
        <p:nvSpPr>
          <p:cNvPr name="TextBox 13" id="13"/>
          <p:cNvSpPr txBox="true"/>
          <p:nvPr/>
        </p:nvSpPr>
        <p:spPr>
          <a:xfrm rot="0">
            <a:off x="15234190"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Contact</a:t>
            </a:r>
          </a:p>
        </p:txBody>
      </p:sp>
      <p:sp>
        <p:nvSpPr>
          <p:cNvPr name="TextBox 14" id="14"/>
          <p:cNvSpPr txBox="true"/>
          <p:nvPr/>
        </p:nvSpPr>
        <p:spPr>
          <a:xfrm rot="0">
            <a:off x="9456634" y="3079699"/>
            <a:ext cx="7443970" cy="6290457"/>
          </a:xfrm>
          <a:prstGeom prst="rect">
            <a:avLst/>
          </a:prstGeom>
        </p:spPr>
        <p:txBody>
          <a:bodyPr anchor="t" rtlCol="false" tIns="0" lIns="0" bIns="0" rIns="0">
            <a:spAutoFit/>
          </a:bodyPr>
          <a:lstStyle/>
          <a:p>
            <a:pPr algn="l">
              <a:lnSpc>
                <a:spcPts val="2843"/>
              </a:lnSpc>
            </a:pPr>
            <a:r>
              <a:rPr lang="en-US" sz="2060" spc="-140">
                <a:solidFill>
                  <a:srgbClr val="E7F2FA"/>
                </a:solidFill>
                <a:latin typeface="Montserrat"/>
                <a:ea typeface="Montserrat"/>
                <a:cs typeface="Montserrat"/>
                <a:sym typeface="Montserrat"/>
              </a:rPr>
              <a:t>La</a:t>
            </a:r>
            <a:r>
              <a:rPr lang="en-US" sz="2060" spc="-140">
                <a:solidFill>
                  <a:srgbClr val="E7F2FA"/>
                </a:solidFill>
                <a:latin typeface="Montserrat"/>
                <a:ea typeface="Montserrat"/>
                <a:cs typeface="Montserrat"/>
                <a:sym typeface="Montserrat"/>
              </a:rPr>
              <a:t> seguridad en el desarrollo de software se ha convertido en un componente fundamental de los procesos modernos de ingeniería de software. </a:t>
            </a:r>
          </a:p>
          <a:p>
            <a:pPr algn="l">
              <a:lnSpc>
                <a:spcPts val="2843"/>
              </a:lnSpc>
            </a:pPr>
          </a:p>
          <a:p>
            <a:pPr algn="l">
              <a:lnSpc>
                <a:spcPts val="2843"/>
              </a:lnSpc>
            </a:pPr>
            <a:r>
              <a:rPr lang="en-US" sz="2060" spc="-140">
                <a:solidFill>
                  <a:srgbClr val="E7F2FA"/>
                </a:solidFill>
                <a:latin typeface="Montserrat"/>
                <a:ea typeface="Montserrat"/>
                <a:cs typeface="Montserrat"/>
                <a:sym typeface="Montserrat"/>
              </a:rPr>
              <a:t>El enfoque DevSecOps integra prácticas de seguridad en el ciclo de vida del desarrollo con el objetivo de detectar vulnerabilidades desde las primeras etapas del proceso.</a:t>
            </a:r>
          </a:p>
          <a:p>
            <a:pPr algn="l">
              <a:lnSpc>
                <a:spcPts val="2843"/>
              </a:lnSpc>
            </a:pPr>
          </a:p>
          <a:p>
            <a:pPr algn="l">
              <a:lnSpc>
                <a:spcPts val="2843"/>
              </a:lnSpc>
            </a:pPr>
            <a:r>
              <a:rPr lang="en-US" sz="2060" spc="-140">
                <a:solidFill>
                  <a:srgbClr val="E7F2FA"/>
                </a:solidFill>
                <a:latin typeface="Montserrat"/>
                <a:ea typeface="Montserrat"/>
                <a:cs typeface="Montserrat"/>
                <a:sym typeface="Montserrat"/>
              </a:rPr>
              <a:t>El presente informe describe el análisis de seguridad realizado a una aplicación mediante el uso de diferentes herramientas especializadas </a:t>
            </a:r>
          </a:p>
          <a:p>
            <a:pPr algn="l">
              <a:lnSpc>
                <a:spcPts val="2843"/>
              </a:lnSpc>
            </a:pPr>
            <a:r>
              <a:rPr lang="en-US" sz="2060" spc="-140">
                <a:solidFill>
                  <a:srgbClr val="E7F2FA"/>
                </a:solidFill>
                <a:latin typeface="Montserrat"/>
                <a:ea typeface="Montserrat"/>
                <a:cs typeface="Montserrat"/>
                <a:sym typeface="Montserrat"/>
              </a:rPr>
              <a:t>que permiten evaluar el código fuente, las dependencias, las imágenes de contenedores y la aplicación en ejecución.</a:t>
            </a:r>
          </a:p>
          <a:p>
            <a:pPr algn="l">
              <a:lnSpc>
                <a:spcPts val="2843"/>
              </a:lnSpc>
            </a:pPr>
          </a:p>
          <a:p>
            <a:pPr algn="l">
              <a:lnSpc>
                <a:spcPts val="2843"/>
              </a:lnSpc>
            </a:pPr>
            <a:r>
              <a:rPr lang="en-US" sz="2060" spc="-140">
                <a:solidFill>
                  <a:srgbClr val="E7F2FA"/>
                </a:solidFill>
                <a:latin typeface="Montserrat"/>
                <a:ea typeface="Montserrat"/>
                <a:cs typeface="Montserrat"/>
                <a:sym typeface="Montserrat"/>
              </a:rPr>
              <a:t>Este enfoque permite identificar vulnerabilidades relacionadas con el estándar OWASP Top 10, uno de los marcos de referencia más importantes en seguridad de aplicaciones web.</a:t>
            </a:r>
          </a:p>
          <a:p>
            <a:pPr algn="l">
              <a:lnSpc>
                <a:spcPts val="242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131B"/>
        </a:solidFill>
      </p:bgPr>
    </p:bg>
    <p:spTree>
      <p:nvGrpSpPr>
        <p:cNvPr id="1" name=""/>
        <p:cNvGrpSpPr/>
        <p:nvPr/>
      </p:nvGrpSpPr>
      <p:grpSpPr>
        <a:xfrm>
          <a:off x="0" y="0"/>
          <a:ext cx="0" cy="0"/>
          <a:chOff x="0" y="0"/>
          <a:chExt cx="0" cy="0"/>
        </a:xfrm>
      </p:grpSpPr>
      <p:sp>
        <p:nvSpPr>
          <p:cNvPr name="Freeform 2" id="2"/>
          <p:cNvSpPr/>
          <p:nvPr/>
        </p:nvSpPr>
        <p:spPr>
          <a:xfrm flipH="true" flipV="false" rot="3909884">
            <a:off x="12613941" y="164385"/>
            <a:ext cx="14319658" cy="14625633"/>
          </a:xfrm>
          <a:custGeom>
            <a:avLst/>
            <a:gdLst/>
            <a:ahLst/>
            <a:cxnLst/>
            <a:rect r="r" b="b" t="t" l="l"/>
            <a:pathLst>
              <a:path h="14625633" w="14319658">
                <a:moveTo>
                  <a:pt x="14319658" y="0"/>
                </a:moveTo>
                <a:lnTo>
                  <a:pt x="0" y="0"/>
                </a:lnTo>
                <a:lnTo>
                  <a:pt x="0" y="14625633"/>
                </a:lnTo>
                <a:lnTo>
                  <a:pt x="14319658" y="14625633"/>
                </a:lnTo>
                <a:lnTo>
                  <a:pt x="14319658" y="0"/>
                </a:lnTo>
                <a:close/>
              </a:path>
            </a:pathLst>
          </a:custGeom>
          <a:blipFill>
            <a:blip r:embed="rId2">
              <a:alphaModFix amt="32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729804" y="3559483"/>
            <a:ext cx="6209288" cy="620928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4886" y="0"/>
                  </a:moveTo>
                  <a:lnTo>
                    <a:pt x="767914" y="0"/>
                  </a:lnTo>
                  <a:cubicBezTo>
                    <a:pt x="792704" y="0"/>
                    <a:pt x="812800" y="20096"/>
                    <a:pt x="812800" y="44886"/>
                  </a:cubicBezTo>
                  <a:lnTo>
                    <a:pt x="812800" y="767914"/>
                  </a:lnTo>
                  <a:cubicBezTo>
                    <a:pt x="812800" y="792704"/>
                    <a:pt x="792704" y="812800"/>
                    <a:pt x="767914" y="812800"/>
                  </a:cubicBezTo>
                  <a:lnTo>
                    <a:pt x="44886" y="812800"/>
                  </a:lnTo>
                  <a:cubicBezTo>
                    <a:pt x="20096" y="812800"/>
                    <a:pt x="0" y="792704"/>
                    <a:pt x="0" y="767914"/>
                  </a:cubicBezTo>
                  <a:lnTo>
                    <a:pt x="0" y="44886"/>
                  </a:lnTo>
                  <a:cubicBezTo>
                    <a:pt x="0" y="20096"/>
                    <a:pt x="20096" y="0"/>
                    <a:pt x="44886" y="0"/>
                  </a:cubicBezTo>
                  <a:close/>
                </a:path>
              </a:pathLst>
            </a:custGeom>
            <a:blipFill>
              <a:blip r:embed="rId4"/>
              <a:stretch>
                <a:fillRect l="-24931" t="0" r="-24931" b="0"/>
              </a:stretch>
            </a:blipFill>
            <a:ln w="38100" cap="rnd">
              <a:solidFill>
                <a:srgbClr val="E7F2FA"/>
              </a:solidFill>
              <a:prstDash val="solid"/>
              <a:round/>
            </a:ln>
          </p:spPr>
        </p:sp>
      </p:grpSp>
      <p:grpSp>
        <p:nvGrpSpPr>
          <p:cNvPr name="Group 5" id="5"/>
          <p:cNvGrpSpPr/>
          <p:nvPr/>
        </p:nvGrpSpPr>
        <p:grpSpPr>
          <a:xfrm rot="0">
            <a:off x="707741" y="1982762"/>
            <a:ext cx="6165075" cy="4308204"/>
            <a:chOff x="0" y="0"/>
            <a:chExt cx="1986391" cy="1388106"/>
          </a:xfrm>
        </p:grpSpPr>
        <p:sp>
          <p:nvSpPr>
            <p:cNvPr name="Freeform 6" id="6"/>
            <p:cNvSpPr/>
            <p:nvPr/>
          </p:nvSpPr>
          <p:spPr>
            <a:xfrm flipH="false" flipV="false" rot="0">
              <a:off x="0" y="0"/>
              <a:ext cx="1986391" cy="1388106"/>
            </a:xfrm>
            <a:custGeom>
              <a:avLst/>
              <a:gdLst/>
              <a:ahLst/>
              <a:cxnLst/>
              <a:rect r="r" b="b" t="t" l="l"/>
              <a:pathLst>
                <a:path h="1388106" w="1986391">
                  <a:moveTo>
                    <a:pt x="37673" y="0"/>
                  </a:moveTo>
                  <a:lnTo>
                    <a:pt x="1948718" y="0"/>
                  </a:lnTo>
                  <a:cubicBezTo>
                    <a:pt x="1958710" y="0"/>
                    <a:pt x="1968292" y="3969"/>
                    <a:pt x="1975357" y="11034"/>
                  </a:cubicBezTo>
                  <a:cubicBezTo>
                    <a:pt x="1982422" y="18099"/>
                    <a:pt x="1986391" y="27682"/>
                    <a:pt x="1986391" y="37673"/>
                  </a:cubicBezTo>
                  <a:lnTo>
                    <a:pt x="1986391" y="1350433"/>
                  </a:lnTo>
                  <a:cubicBezTo>
                    <a:pt x="1986391" y="1360425"/>
                    <a:pt x="1982422" y="1370007"/>
                    <a:pt x="1975357" y="1377072"/>
                  </a:cubicBezTo>
                  <a:cubicBezTo>
                    <a:pt x="1968292" y="1384137"/>
                    <a:pt x="1958710" y="1388106"/>
                    <a:pt x="1948718" y="1388106"/>
                  </a:cubicBezTo>
                  <a:lnTo>
                    <a:pt x="37673" y="1388106"/>
                  </a:lnTo>
                  <a:cubicBezTo>
                    <a:pt x="27682" y="1388106"/>
                    <a:pt x="18099" y="1384137"/>
                    <a:pt x="11034" y="1377072"/>
                  </a:cubicBezTo>
                  <a:cubicBezTo>
                    <a:pt x="3969" y="1370007"/>
                    <a:pt x="0" y="1360425"/>
                    <a:pt x="0" y="1350433"/>
                  </a:cubicBezTo>
                  <a:lnTo>
                    <a:pt x="0" y="37673"/>
                  </a:lnTo>
                  <a:cubicBezTo>
                    <a:pt x="0" y="27682"/>
                    <a:pt x="3969" y="18099"/>
                    <a:pt x="11034" y="11034"/>
                  </a:cubicBezTo>
                  <a:cubicBezTo>
                    <a:pt x="18099" y="3969"/>
                    <a:pt x="27682" y="0"/>
                    <a:pt x="37673" y="0"/>
                  </a:cubicBezTo>
                  <a:close/>
                </a:path>
              </a:pathLst>
            </a:custGeom>
            <a:gradFill rotWithShape="true">
              <a:gsLst>
                <a:gs pos="0">
                  <a:srgbClr val="1F2854">
                    <a:alpha val="100000"/>
                  </a:srgbClr>
                </a:gs>
                <a:gs pos="100000">
                  <a:srgbClr val="5961E1">
                    <a:alpha val="100000"/>
                  </a:srgbClr>
                </a:gs>
              </a:gsLst>
              <a:lin ang="2700000"/>
            </a:gradFill>
            <a:ln w="19050" cap="rnd">
              <a:solidFill>
                <a:srgbClr val="E7F2FA"/>
              </a:solidFill>
              <a:prstDash val="solid"/>
              <a:round/>
            </a:ln>
          </p:spPr>
        </p:sp>
        <p:sp>
          <p:nvSpPr>
            <p:cNvPr name="TextBox 7" id="7"/>
            <p:cNvSpPr txBox="true"/>
            <p:nvPr/>
          </p:nvSpPr>
          <p:spPr>
            <a:xfrm>
              <a:off x="0" y="-38100"/>
              <a:ext cx="1986391" cy="1426206"/>
            </a:xfrm>
            <a:prstGeom prst="rect">
              <a:avLst/>
            </a:prstGeom>
          </p:spPr>
          <p:txBody>
            <a:bodyPr anchor="ctr" rtlCol="false" tIns="50800" lIns="50800" bIns="50800" rIns="50800"/>
            <a:lstStyle/>
            <a:p>
              <a:pPr algn="ctr">
                <a:lnSpc>
                  <a:spcPts val="2659"/>
                </a:lnSpc>
                <a:spcBef>
                  <a:spcPct val="0"/>
                </a:spcBef>
              </a:pPr>
            </a:p>
          </p:txBody>
        </p:sp>
      </p:grpSp>
      <p:sp>
        <p:nvSpPr>
          <p:cNvPr name="TextBox 8" id="8"/>
          <p:cNvSpPr txBox="true"/>
          <p:nvPr/>
        </p:nvSpPr>
        <p:spPr>
          <a:xfrm rot="0">
            <a:off x="1549772" y="958850"/>
            <a:ext cx="6366849" cy="848360"/>
          </a:xfrm>
          <a:prstGeom prst="rect">
            <a:avLst/>
          </a:prstGeom>
        </p:spPr>
        <p:txBody>
          <a:bodyPr anchor="t" rtlCol="false" tIns="0" lIns="0" bIns="0" rIns="0">
            <a:spAutoFit/>
          </a:bodyPr>
          <a:lstStyle/>
          <a:p>
            <a:pPr algn="l">
              <a:lnSpc>
                <a:spcPts val="6399"/>
              </a:lnSpc>
            </a:pPr>
            <a:r>
              <a:rPr lang="en-US" sz="6399" i="true" spc="-351">
                <a:solidFill>
                  <a:srgbClr val="E7F2FA"/>
                </a:solidFill>
                <a:latin typeface="Montserrat Italics"/>
                <a:ea typeface="Montserrat Italics"/>
                <a:cs typeface="Montserrat Italics"/>
                <a:sym typeface="Montserrat Italics"/>
              </a:rPr>
              <a:t>OBJETIVOS</a:t>
            </a:r>
          </a:p>
        </p:txBody>
      </p:sp>
      <p:sp>
        <p:nvSpPr>
          <p:cNvPr name="TextBox 9" id="9"/>
          <p:cNvSpPr txBox="true"/>
          <p:nvPr/>
        </p:nvSpPr>
        <p:spPr>
          <a:xfrm rot="0">
            <a:off x="8381761"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Home</a:t>
            </a:r>
          </a:p>
        </p:txBody>
      </p:sp>
      <p:sp>
        <p:nvSpPr>
          <p:cNvPr name="TextBox 10" id="10"/>
          <p:cNvSpPr txBox="true"/>
          <p:nvPr/>
        </p:nvSpPr>
        <p:spPr>
          <a:xfrm rot="0">
            <a:off x="10668000"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About</a:t>
            </a:r>
          </a:p>
        </p:txBody>
      </p:sp>
      <p:sp>
        <p:nvSpPr>
          <p:cNvPr name="TextBox 11" id="11"/>
          <p:cNvSpPr txBox="true"/>
          <p:nvPr/>
        </p:nvSpPr>
        <p:spPr>
          <a:xfrm rot="0">
            <a:off x="12951095"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Service</a:t>
            </a:r>
          </a:p>
        </p:txBody>
      </p:sp>
      <p:sp>
        <p:nvSpPr>
          <p:cNvPr name="TextBox 12" id="12"/>
          <p:cNvSpPr txBox="true"/>
          <p:nvPr/>
        </p:nvSpPr>
        <p:spPr>
          <a:xfrm rot="0">
            <a:off x="15234190"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Contact</a:t>
            </a:r>
          </a:p>
        </p:txBody>
      </p:sp>
      <p:sp>
        <p:nvSpPr>
          <p:cNvPr name="TextBox 13" id="13"/>
          <p:cNvSpPr txBox="true"/>
          <p:nvPr/>
        </p:nvSpPr>
        <p:spPr>
          <a:xfrm rot="0">
            <a:off x="9308372" y="2999025"/>
            <a:ext cx="7950928" cy="6308745"/>
          </a:xfrm>
          <a:prstGeom prst="rect">
            <a:avLst/>
          </a:prstGeom>
        </p:spPr>
        <p:txBody>
          <a:bodyPr anchor="t" rtlCol="false" tIns="0" lIns="0" bIns="0" rIns="0">
            <a:spAutoFit/>
          </a:bodyPr>
          <a:lstStyle/>
          <a:p>
            <a:pPr algn="l">
              <a:lnSpc>
                <a:spcPts val="3832"/>
              </a:lnSpc>
            </a:pPr>
            <a:r>
              <a:rPr lang="en-US" sz="2776" spc="-188">
                <a:solidFill>
                  <a:srgbClr val="E7F2FA"/>
                </a:solidFill>
                <a:latin typeface="Montserrat"/>
                <a:ea typeface="Montserrat"/>
                <a:cs typeface="Montserrat"/>
                <a:sym typeface="Montserrat"/>
              </a:rPr>
              <a:t>• D</a:t>
            </a:r>
            <a:r>
              <a:rPr lang="en-US" sz="2776" spc="-188">
                <a:solidFill>
                  <a:srgbClr val="E7F2FA"/>
                </a:solidFill>
                <a:latin typeface="Montserrat"/>
                <a:ea typeface="Montserrat"/>
                <a:cs typeface="Montserrat"/>
                <a:sym typeface="Montserrat"/>
              </a:rPr>
              <a:t>etectar vulnerabilidades en el código fuente mediante análisis SAST.</a:t>
            </a:r>
          </a:p>
          <a:p>
            <a:pPr algn="l">
              <a:lnSpc>
                <a:spcPts val="3832"/>
              </a:lnSpc>
            </a:pPr>
            <a:r>
              <a:rPr lang="en-US" sz="2776" spc="-188">
                <a:solidFill>
                  <a:srgbClr val="E7F2FA"/>
                </a:solidFill>
                <a:latin typeface="Montserrat"/>
                <a:ea typeface="Montserrat"/>
                <a:cs typeface="Montserrat"/>
                <a:sym typeface="Montserrat"/>
              </a:rPr>
              <a:t>• Construir y empaquetar la aplicación utilizando Maven.</a:t>
            </a:r>
          </a:p>
          <a:p>
            <a:pPr algn="l">
              <a:lnSpc>
                <a:spcPts val="3832"/>
              </a:lnSpc>
            </a:pPr>
            <a:r>
              <a:rPr lang="en-US" sz="2776" spc="-188">
                <a:solidFill>
                  <a:srgbClr val="E7F2FA"/>
                </a:solidFill>
                <a:latin typeface="Montserrat"/>
                <a:ea typeface="Montserrat"/>
                <a:cs typeface="Montserrat"/>
                <a:sym typeface="Montserrat"/>
              </a:rPr>
              <a:t>• Crear una imagen de contenedor utilizando Docker.</a:t>
            </a:r>
          </a:p>
          <a:p>
            <a:pPr algn="l">
              <a:lnSpc>
                <a:spcPts val="3832"/>
              </a:lnSpc>
            </a:pPr>
            <a:r>
              <a:rPr lang="en-US" sz="2776" spc="-188">
                <a:solidFill>
                  <a:srgbClr val="E7F2FA"/>
                </a:solidFill>
                <a:latin typeface="Montserrat"/>
                <a:ea typeface="Montserrat"/>
                <a:cs typeface="Montserrat"/>
                <a:sym typeface="Montserrat"/>
              </a:rPr>
              <a:t>• Analizar la seguridad de la imagen del contenedor mediante Trivy.</a:t>
            </a:r>
          </a:p>
          <a:p>
            <a:pPr algn="l">
              <a:lnSpc>
                <a:spcPts val="3832"/>
              </a:lnSpc>
            </a:pPr>
            <a:r>
              <a:rPr lang="en-US" sz="2776" spc="-188">
                <a:solidFill>
                  <a:srgbClr val="E7F2FA"/>
                </a:solidFill>
                <a:latin typeface="Montserrat"/>
                <a:ea typeface="Montserrat"/>
                <a:cs typeface="Montserrat"/>
                <a:sym typeface="Montserrat"/>
              </a:rPr>
              <a:t>• Desplegar la aplicación en un entorno de pruebas.</a:t>
            </a:r>
          </a:p>
          <a:p>
            <a:pPr algn="l">
              <a:lnSpc>
                <a:spcPts val="3832"/>
              </a:lnSpc>
            </a:pPr>
            <a:r>
              <a:rPr lang="en-US" sz="2776" spc="-188">
                <a:solidFill>
                  <a:srgbClr val="E7F2FA"/>
                </a:solidFill>
                <a:latin typeface="Montserrat"/>
                <a:ea typeface="Montserrat"/>
                <a:cs typeface="Montserrat"/>
                <a:sym typeface="Montserrat"/>
              </a:rPr>
              <a:t>• Ejecutar un análisis dinámico de seguridad utilizando OWASP ZAP.</a:t>
            </a:r>
          </a:p>
          <a:p>
            <a:pPr algn="l">
              <a:lnSpc>
                <a:spcPts val="3832"/>
              </a:lnSpc>
            </a:pPr>
            <a:r>
              <a:rPr lang="en-US" sz="2776" spc="-188">
                <a:solidFill>
                  <a:srgbClr val="E7F2FA"/>
                </a:solidFill>
                <a:latin typeface="Montserrat"/>
                <a:ea typeface="Montserrat"/>
                <a:cs typeface="Montserrat"/>
                <a:sym typeface="Montserrat"/>
              </a:rPr>
              <a:t>• Analizar los resultados en función de las métricas OWASP Top 10.</a:t>
            </a:r>
          </a:p>
        </p:txBody>
      </p:sp>
      <p:sp>
        <p:nvSpPr>
          <p:cNvPr name="TextBox 14" id="14"/>
          <p:cNvSpPr txBox="true"/>
          <p:nvPr/>
        </p:nvSpPr>
        <p:spPr>
          <a:xfrm rot="0">
            <a:off x="1160424" y="3103800"/>
            <a:ext cx="5264384" cy="2422920"/>
          </a:xfrm>
          <a:prstGeom prst="rect">
            <a:avLst/>
          </a:prstGeom>
        </p:spPr>
        <p:txBody>
          <a:bodyPr anchor="t" rtlCol="false" tIns="0" lIns="0" bIns="0" rIns="0">
            <a:spAutoFit/>
          </a:bodyPr>
          <a:lstStyle/>
          <a:p>
            <a:pPr algn="l">
              <a:lnSpc>
                <a:spcPts val="2765"/>
              </a:lnSpc>
            </a:pPr>
            <a:r>
              <a:rPr lang="en-US" sz="2765" spc="-152">
                <a:solidFill>
                  <a:srgbClr val="E7F2FA"/>
                </a:solidFill>
                <a:latin typeface="Montserrat"/>
                <a:ea typeface="Montserrat"/>
                <a:cs typeface="Montserrat"/>
                <a:sym typeface="Montserrat"/>
              </a:rPr>
              <a:t>Evaluar la seguridad de una aplicación utilizando herramientas de análisis estático, análisis de contenedores y análisis dinámico con el fin </a:t>
            </a:r>
          </a:p>
          <a:p>
            <a:pPr algn="l">
              <a:lnSpc>
                <a:spcPts val="2765"/>
              </a:lnSpc>
            </a:pPr>
            <a:r>
              <a:rPr lang="en-US" sz="2765" spc="-152">
                <a:solidFill>
                  <a:srgbClr val="E7F2FA"/>
                </a:solidFill>
                <a:latin typeface="Montserrat"/>
                <a:ea typeface="Montserrat"/>
                <a:cs typeface="Montserrat"/>
                <a:sym typeface="Montserrat"/>
              </a:rPr>
              <a:t>de identificar vulnerabilidades alineadas con OWASP Top 10.</a:t>
            </a:r>
          </a:p>
        </p:txBody>
      </p:sp>
      <p:sp>
        <p:nvSpPr>
          <p:cNvPr name="TextBox 15" id="15"/>
          <p:cNvSpPr txBox="true"/>
          <p:nvPr/>
        </p:nvSpPr>
        <p:spPr>
          <a:xfrm rot="0">
            <a:off x="1160424" y="2494527"/>
            <a:ext cx="4355912" cy="320675"/>
          </a:xfrm>
          <a:prstGeom prst="rect">
            <a:avLst/>
          </a:prstGeom>
        </p:spPr>
        <p:txBody>
          <a:bodyPr anchor="t" rtlCol="false" tIns="0" lIns="0" bIns="0" rIns="0">
            <a:spAutoFit/>
          </a:bodyPr>
          <a:lstStyle/>
          <a:p>
            <a:pPr algn="l">
              <a:lnSpc>
                <a:spcPts val="2499"/>
              </a:lnSpc>
            </a:pPr>
            <a:r>
              <a:rPr lang="en-US" sz="2499" spc="-137" b="true">
                <a:solidFill>
                  <a:srgbClr val="E7F2FA"/>
                </a:solidFill>
                <a:latin typeface="Montserrat Bold"/>
                <a:ea typeface="Montserrat Bold"/>
                <a:cs typeface="Montserrat Bold"/>
                <a:sym typeface="Montserrat Bold"/>
              </a:rPr>
              <a:t>OBJETIVO GENERAL</a:t>
            </a:r>
          </a:p>
        </p:txBody>
      </p:sp>
      <p:sp>
        <p:nvSpPr>
          <p:cNvPr name="TextBox 16" id="16"/>
          <p:cNvSpPr txBox="true"/>
          <p:nvPr/>
        </p:nvSpPr>
        <p:spPr>
          <a:xfrm rot="0">
            <a:off x="9308372" y="2150358"/>
            <a:ext cx="4355912" cy="320675"/>
          </a:xfrm>
          <a:prstGeom prst="rect">
            <a:avLst/>
          </a:prstGeom>
        </p:spPr>
        <p:txBody>
          <a:bodyPr anchor="t" rtlCol="false" tIns="0" lIns="0" bIns="0" rIns="0">
            <a:spAutoFit/>
          </a:bodyPr>
          <a:lstStyle/>
          <a:p>
            <a:pPr algn="l">
              <a:lnSpc>
                <a:spcPts val="2499"/>
              </a:lnSpc>
            </a:pPr>
            <a:r>
              <a:rPr lang="en-US" sz="2499" spc="-137" b="true">
                <a:solidFill>
                  <a:srgbClr val="E7F2FA"/>
                </a:solidFill>
                <a:latin typeface="Montserrat Bold"/>
                <a:ea typeface="Montserrat Bold"/>
                <a:cs typeface="Montserrat Bold"/>
                <a:sym typeface="Montserrat Bold"/>
              </a:rPr>
              <a:t>OBJETIVOS ESPECÍFICOS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B131B"/>
        </a:solidFill>
      </p:bgPr>
    </p:bg>
    <p:spTree>
      <p:nvGrpSpPr>
        <p:cNvPr id="1" name=""/>
        <p:cNvGrpSpPr/>
        <p:nvPr/>
      </p:nvGrpSpPr>
      <p:grpSpPr>
        <a:xfrm>
          <a:off x="0" y="0"/>
          <a:ext cx="0" cy="0"/>
          <a:chOff x="0" y="0"/>
          <a:chExt cx="0" cy="0"/>
        </a:xfrm>
      </p:grpSpPr>
      <p:sp>
        <p:nvSpPr>
          <p:cNvPr name="Freeform 2" id="2"/>
          <p:cNvSpPr/>
          <p:nvPr/>
        </p:nvSpPr>
        <p:spPr>
          <a:xfrm flipH="false" flipV="false" rot="0">
            <a:off x="6825552" y="-12520371"/>
            <a:ext cx="24368261" cy="24368261"/>
          </a:xfrm>
          <a:custGeom>
            <a:avLst/>
            <a:gdLst/>
            <a:ahLst/>
            <a:cxnLst/>
            <a:rect r="r" b="b" t="t" l="l"/>
            <a:pathLst>
              <a:path h="24368261" w="24368261">
                <a:moveTo>
                  <a:pt x="0" y="0"/>
                </a:moveTo>
                <a:lnTo>
                  <a:pt x="24368260" y="0"/>
                </a:lnTo>
                <a:lnTo>
                  <a:pt x="24368260" y="24368261"/>
                </a:lnTo>
                <a:lnTo>
                  <a:pt x="0" y="2436826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3909884">
            <a:off x="1221932" y="-113582"/>
            <a:ext cx="14319658" cy="14625633"/>
          </a:xfrm>
          <a:custGeom>
            <a:avLst/>
            <a:gdLst/>
            <a:ahLst/>
            <a:cxnLst/>
            <a:rect r="r" b="b" t="t" l="l"/>
            <a:pathLst>
              <a:path h="14625633" w="14319658">
                <a:moveTo>
                  <a:pt x="14319658" y="0"/>
                </a:moveTo>
                <a:lnTo>
                  <a:pt x="0" y="0"/>
                </a:lnTo>
                <a:lnTo>
                  <a:pt x="0" y="14625633"/>
                </a:lnTo>
                <a:lnTo>
                  <a:pt x="14319658" y="14625633"/>
                </a:lnTo>
                <a:lnTo>
                  <a:pt x="14319658" y="0"/>
                </a:lnTo>
                <a:close/>
              </a:path>
            </a:pathLst>
          </a:custGeom>
          <a:blipFill>
            <a:blip r:embed="rId4">
              <a:alphaModFix amt="32999"/>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9015747" y="0"/>
            <a:ext cx="9272253" cy="10287000"/>
          </a:xfrm>
          <a:custGeom>
            <a:avLst/>
            <a:gdLst/>
            <a:ahLst/>
            <a:cxnLst/>
            <a:rect r="r" b="b" t="t" l="l"/>
            <a:pathLst>
              <a:path h="10287000" w="9272253">
                <a:moveTo>
                  <a:pt x="0" y="0"/>
                </a:moveTo>
                <a:lnTo>
                  <a:pt x="9272253" y="0"/>
                </a:lnTo>
                <a:lnTo>
                  <a:pt x="9272253" y="10287000"/>
                </a:lnTo>
                <a:lnTo>
                  <a:pt x="0" y="10287000"/>
                </a:lnTo>
                <a:lnTo>
                  <a:pt x="0" y="0"/>
                </a:lnTo>
                <a:close/>
              </a:path>
            </a:pathLst>
          </a:custGeom>
          <a:blipFill>
            <a:blip r:embed="rId6"/>
            <a:stretch>
              <a:fillRect l="0" t="0" r="0" b="0"/>
            </a:stretch>
          </a:blipFill>
        </p:spPr>
      </p:sp>
      <p:sp>
        <p:nvSpPr>
          <p:cNvPr name="TextBox 5" id="5"/>
          <p:cNvSpPr txBox="true"/>
          <p:nvPr/>
        </p:nvSpPr>
        <p:spPr>
          <a:xfrm rot="0">
            <a:off x="1405355" y="2822968"/>
            <a:ext cx="6302146" cy="1657985"/>
          </a:xfrm>
          <a:prstGeom prst="rect">
            <a:avLst/>
          </a:prstGeom>
        </p:spPr>
        <p:txBody>
          <a:bodyPr anchor="t" rtlCol="false" tIns="0" lIns="0" bIns="0" rIns="0">
            <a:spAutoFit/>
          </a:bodyPr>
          <a:lstStyle/>
          <a:p>
            <a:pPr algn="l">
              <a:lnSpc>
                <a:spcPts val="6399"/>
              </a:lnSpc>
            </a:pPr>
            <a:r>
              <a:rPr lang="en-US" sz="6399" i="true" spc="-351">
                <a:solidFill>
                  <a:srgbClr val="E7F2FA"/>
                </a:solidFill>
                <a:latin typeface="Montserrat Italics"/>
                <a:ea typeface="Montserrat Italics"/>
                <a:cs typeface="Montserrat Italics"/>
                <a:sym typeface="Montserrat Italics"/>
              </a:rPr>
              <a:t>ARQUITECTURA DEL PIPELINE</a:t>
            </a:r>
          </a:p>
        </p:txBody>
      </p:sp>
      <p:sp>
        <p:nvSpPr>
          <p:cNvPr name="TextBox 6" id="6"/>
          <p:cNvSpPr txBox="true"/>
          <p:nvPr/>
        </p:nvSpPr>
        <p:spPr>
          <a:xfrm rot="0">
            <a:off x="1242497" y="5133975"/>
            <a:ext cx="6976406" cy="2052955"/>
          </a:xfrm>
          <a:prstGeom prst="rect">
            <a:avLst/>
          </a:prstGeom>
        </p:spPr>
        <p:txBody>
          <a:bodyPr anchor="t" rtlCol="false" tIns="0" lIns="0" bIns="0" rIns="0">
            <a:spAutoFit/>
          </a:bodyPr>
          <a:lstStyle/>
          <a:p>
            <a:pPr algn="l">
              <a:lnSpc>
                <a:spcPts val="2749"/>
              </a:lnSpc>
            </a:pPr>
            <a:r>
              <a:rPr lang="en-US" sz="2199" spc="-120">
                <a:solidFill>
                  <a:srgbClr val="E7F2FA"/>
                </a:solidFill>
                <a:latin typeface="Montserrat"/>
                <a:ea typeface="Montserrat"/>
                <a:cs typeface="Montserrat"/>
                <a:sym typeface="Montserrat"/>
              </a:rPr>
              <a:t>Para implementar el pipeline DevSecOps se utilizó Jenkins como servidor de integración continua. Jenkins fue configurado dentro de un contenedor Docker, lo que facilita su instalación y portabilidad.</a:t>
            </a:r>
          </a:p>
          <a:p>
            <a:pPr algn="l">
              <a:lnSpc>
                <a:spcPts val="2749"/>
              </a:lnSpc>
            </a:pPr>
          </a:p>
          <a:p>
            <a:pPr algn="l">
              <a:lnSpc>
                <a:spcPts val="2749"/>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B131B"/>
        </a:solidFill>
      </p:bgPr>
    </p:bg>
    <p:spTree>
      <p:nvGrpSpPr>
        <p:cNvPr id="1" name=""/>
        <p:cNvGrpSpPr/>
        <p:nvPr/>
      </p:nvGrpSpPr>
      <p:grpSpPr>
        <a:xfrm>
          <a:off x="0" y="0"/>
          <a:ext cx="0" cy="0"/>
          <a:chOff x="0" y="0"/>
          <a:chExt cx="0" cy="0"/>
        </a:xfrm>
      </p:grpSpPr>
      <p:sp>
        <p:nvSpPr>
          <p:cNvPr name="Freeform 2" id="2"/>
          <p:cNvSpPr/>
          <p:nvPr/>
        </p:nvSpPr>
        <p:spPr>
          <a:xfrm flipH="false" flipV="false" rot="0">
            <a:off x="-8293015" y="2854067"/>
            <a:ext cx="17437015" cy="17437015"/>
          </a:xfrm>
          <a:custGeom>
            <a:avLst/>
            <a:gdLst/>
            <a:ahLst/>
            <a:cxnLst/>
            <a:rect r="r" b="b" t="t" l="l"/>
            <a:pathLst>
              <a:path h="17437015" w="17437015">
                <a:moveTo>
                  <a:pt x="0" y="0"/>
                </a:moveTo>
                <a:lnTo>
                  <a:pt x="17437015" y="0"/>
                </a:lnTo>
                <a:lnTo>
                  <a:pt x="17437015" y="17437015"/>
                </a:lnTo>
                <a:lnTo>
                  <a:pt x="0" y="174370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25492" y="2460380"/>
            <a:ext cx="10660454" cy="6368192"/>
          </a:xfrm>
          <a:custGeom>
            <a:avLst/>
            <a:gdLst/>
            <a:ahLst/>
            <a:cxnLst/>
            <a:rect r="r" b="b" t="t" l="l"/>
            <a:pathLst>
              <a:path h="6368192" w="10660454">
                <a:moveTo>
                  <a:pt x="0" y="0"/>
                </a:moveTo>
                <a:lnTo>
                  <a:pt x="10660455" y="0"/>
                </a:lnTo>
                <a:lnTo>
                  <a:pt x="10660455" y="6368193"/>
                </a:lnTo>
                <a:lnTo>
                  <a:pt x="0" y="6368193"/>
                </a:lnTo>
                <a:lnTo>
                  <a:pt x="0" y="0"/>
                </a:lnTo>
                <a:close/>
              </a:path>
            </a:pathLst>
          </a:custGeom>
          <a:blipFill>
            <a:blip r:embed="rId4"/>
            <a:stretch>
              <a:fillRect l="0" t="0" r="0" b="0"/>
            </a:stretch>
          </a:blipFill>
        </p:spPr>
      </p:sp>
      <p:sp>
        <p:nvSpPr>
          <p:cNvPr name="Freeform 4" id="4"/>
          <p:cNvSpPr/>
          <p:nvPr/>
        </p:nvSpPr>
        <p:spPr>
          <a:xfrm flipH="false" flipV="false" rot="0">
            <a:off x="11085947" y="2270760"/>
            <a:ext cx="6988167" cy="7443917"/>
          </a:xfrm>
          <a:custGeom>
            <a:avLst/>
            <a:gdLst/>
            <a:ahLst/>
            <a:cxnLst/>
            <a:rect r="r" b="b" t="t" l="l"/>
            <a:pathLst>
              <a:path h="7443917" w="6988167">
                <a:moveTo>
                  <a:pt x="0" y="0"/>
                </a:moveTo>
                <a:lnTo>
                  <a:pt x="6988167" y="0"/>
                </a:lnTo>
                <a:lnTo>
                  <a:pt x="6988167" y="7443916"/>
                </a:lnTo>
                <a:lnTo>
                  <a:pt x="0" y="7443916"/>
                </a:lnTo>
                <a:lnTo>
                  <a:pt x="0" y="0"/>
                </a:lnTo>
                <a:close/>
              </a:path>
            </a:pathLst>
          </a:custGeom>
          <a:blipFill>
            <a:blip r:embed="rId5"/>
            <a:stretch>
              <a:fillRect l="0" t="0" r="0" b="0"/>
            </a:stretch>
          </a:blipFill>
        </p:spPr>
      </p:sp>
      <p:sp>
        <p:nvSpPr>
          <p:cNvPr name="TextBox 5" id="5"/>
          <p:cNvSpPr txBox="true"/>
          <p:nvPr/>
        </p:nvSpPr>
        <p:spPr>
          <a:xfrm rot="0">
            <a:off x="1028700" y="1085850"/>
            <a:ext cx="15786686" cy="1184910"/>
          </a:xfrm>
          <a:prstGeom prst="rect">
            <a:avLst/>
          </a:prstGeom>
        </p:spPr>
        <p:txBody>
          <a:bodyPr anchor="t" rtlCol="false" tIns="0" lIns="0" bIns="0" rIns="0">
            <a:spAutoFit/>
          </a:bodyPr>
          <a:lstStyle/>
          <a:p>
            <a:pPr algn="ctr">
              <a:lnSpc>
                <a:spcPts val="2399"/>
              </a:lnSpc>
              <a:spcBef>
                <a:spcPct val="0"/>
              </a:spcBef>
            </a:pPr>
            <a:r>
              <a:rPr lang="en-US" sz="2399" spc="-131">
                <a:solidFill>
                  <a:srgbClr val="FFFFFF"/>
                </a:solidFill>
                <a:latin typeface="Montserrat"/>
                <a:ea typeface="Montserrat"/>
                <a:cs typeface="Montserrat"/>
                <a:sym typeface="Montserrat"/>
              </a:rPr>
              <a:t>Se expuso el servidor de Jenkins a Internet mediante Ngrok, lo que permitió generar una URL pública accesible desde el exterior. Posteriormente, esta URL fue configurada en GitHub como un webhook, de manera que cada vez que se realiza un push al repositorio se envía una notificación automática a Jenkins para iniciar la ejecución del pipeline.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B131B"/>
        </a:solidFill>
      </p:bgPr>
    </p:bg>
    <p:spTree>
      <p:nvGrpSpPr>
        <p:cNvPr id="1" name=""/>
        <p:cNvGrpSpPr/>
        <p:nvPr/>
      </p:nvGrpSpPr>
      <p:grpSpPr>
        <a:xfrm>
          <a:off x="0" y="0"/>
          <a:ext cx="0" cy="0"/>
          <a:chOff x="0" y="0"/>
          <a:chExt cx="0" cy="0"/>
        </a:xfrm>
      </p:grpSpPr>
      <p:sp>
        <p:nvSpPr>
          <p:cNvPr name="Freeform 2" id="2"/>
          <p:cNvSpPr/>
          <p:nvPr/>
        </p:nvSpPr>
        <p:spPr>
          <a:xfrm flipH="false" flipV="false" rot="610238">
            <a:off x="-4526482" y="-4248239"/>
            <a:ext cx="13558802" cy="10126730"/>
          </a:xfrm>
          <a:custGeom>
            <a:avLst/>
            <a:gdLst/>
            <a:ahLst/>
            <a:cxnLst/>
            <a:rect r="r" b="b" t="t" l="l"/>
            <a:pathLst>
              <a:path h="10126730" w="13558802">
                <a:moveTo>
                  <a:pt x="0" y="0"/>
                </a:moveTo>
                <a:lnTo>
                  <a:pt x="13558802" y="0"/>
                </a:lnTo>
                <a:lnTo>
                  <a:pt x="13558802" y="10126730"/>
                </a:lnTo>
                <a:lnTo>
                  <a:pt x="0" y="10126730"/>
                </a:lnTo>
                <a:lnTo>
                  <a:pt x="0" y="0"/>
                </a:lnTo>
                <a:close/>
              </a:path>
            </a:pathLst>
          </a:custGeom>
          <a:blipFill>
            <a:blip r:embed="rId2">
              <a:alphaModFix amt="2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3909884">
            <a:off x="12613941" y="164385"/>
            <a:ext cx="14319658" cy="14625633"/>
          </a:xfrm>
          <a:custGeom>
            <a:avLst/>
            <a:gdLst/>
            <a:ahLst/>
            <a:cxnLst/>
            <a:rect r="r" b="b" t="t" l="l"/>
            <a:pathLst>
              <a:path h="14625633" w="14319658">
                <a:moveTo>
                  <a:pt x="14319658" y="0"/>
                </a:moveTo>
                <a:lnTo>
                  <a:pt x="0" y="0"/>
                </a:lnTo>
                <a:lnTo>
                  <a:pt x="0" y="14625633"/>
                </a:lnTo>
                <a:lnTo>
                  <a:pt x="14319658" y="14625633"/>
                </a:lnTo>
                <a:lnTo>
                  <a:pt x="14319658" y="0"/>
                </a:lnTo>
                <a:close/>
              </a:path>
            </a:pathLst>
          </a:custGeom>
          <a:blipFill>
            <a:blip r:embed="rId4">
              <a:alphaModFix amt="32999"/>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3554760"/>
            <a:ext cx="15500413" cy="2685202"/>
          </a:xfrm>
          <a:custGeom>
            <a:avLst/>
            <a:gdLst/>
            <a:ahLst/>
            <a:cxnLst/>
            <a:rect r="r" b="b" t="t" l="l"/>
            <a:pathLst>
              <a:path h="2685202" w="15500413">
                <a:moveTo>
                  <a:pt x="0" y="0"/>
                </a:moveTo>
                <a:lnTo>
                  <a:pt x="15500413" y="0"/>
                </a:lnTo>
                <a:lnTo>
                  <a:pt x="15500413" y="2685202"/>
                </a:lnTo>
                <a:lnTo>
                  <a:pt x="0" y="2685202"/>
                </a:lnTo>
                <a:lnTo>
                  <a:pt x="0" y="0"/>
                </a:lnTo>
                <a:close/>
              </a:path>
            </a:pathLst>
          </a:custGeom>
          <a:blipFill>
            <a:blip r:embed="rId6"/>
            <a:stretch>
              <a:fillRect l="0" t="0" r="0" b="0"/>
            </a:stretch>
          </a:blipFill>
        </p:spPr>
      </p:sp>
      <p:sp>
        <p:nvSpPr>
          <p:cNvPr name="TextBox 5" id="5"/>
          <p:cNvSpPr txBox="true"/>
          <p:nvPr/>
        </p:nvSpPr>
        <p:spPr>
          <a:xfrm rot="0">
            <a:off x="8381761"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Home</a:t>
            </a:r>
          </a:p>
        </p:txBody>
      </p:sp>
      <p:sp>
        <p:nvSpPr>
          <p:cNvPr name="TextBox 6" id="6"/>
          <p:cNvSpPr txBox="true"/>
          <p:nvPr/>
        </p:nvSpPr>
        <p:spPr>
          <a:xfrm rot="0">
            <a:off x="10668000"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About</a:t>
            </a:r>
          </a:p>
        </p:txBody>
      </p:sp>
      <p:sp>
        <p:nvSpPr>
          <p:cNvPr name="TextBox 7" id="7"/>
          <p:cNvSpPr txBox="true"/>
          <p:nvPr/>
        </p:nvSpPr>
        <p:spPr>
          <a:xfrm rot="0">
            <a:off x="12951095"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Service</a:t>
            </a:r>
          </a:p>
        </p:txBody>
      </p:sp>
      <p:sp>
        <p:nvSpPr>
          <p:cNvPr name="TextBox 8" id="8"/>
          <p:cNvSpPr txBox="true"/>
          <p:nvPr/>
        </p:nvSpPr>
        <p:spPr>
          <a:xfrm rot="0">
            <a:off x="15234190"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Contact</a:t>
            </a:r>
          </a:p>
        </p:txBody>
      </p:sp>
      <p:sp>
        <p:nvSpPr>
          <p:cNvPr name="TextBox 9" id="9"/>
          <p:cNvSpPr txBox="true"/>
          <p:nvPr/>
        </p:nvSpPr>
        <p:spPr>
          <a:xfrm rot="0">
            <a:off x="1028700" y="1669290"/>
            <a:ext cx="9640732" cy="727711"/>
          </a:xfrm>
          <a:prstGeom prst="rect">
            <a:avLst/>
          </a:prstGeom>
        </p:spPr>
        <p:txBody>
          <a:bodyPr anchor="t" rtlCol="false" tIns="0" lIns="0" bIns="0" rIns="0">
            <a:spAutoFit/>
          </a:bodyPr>
          <a:lstStyle/>
          <a:p>
            <a:pPr algn="l">
              <a:lnSpc>
                <a:spcPts val="5400"/>
              </a:lnSpc>
            </a:pPr>
            <a:r>
              <a:rPr lang="en-US" sz="5400" i="true" spc="-297">
                <a:solidFill>
                  <a:srgbClr val="E7F2FA"/>
                </a:solidFill>
                <a:latin typeface="Montserrat Italics"/>
                <a:ea typeface="Montserrat Italics"/>
                <a:cs typeface="Montserrat Italics"/>
                <a:sym typeface="Montserrat Italics"/>
              </a:rPr>
              <a:t>CONFIGURACIONES</a:t>
            </a:r>
          </a:p>
        </p:txBody>
      </p:sp>
      <p:sp>
        <p:nvSpPr>
          <p:cNvPr name="TextBox 10" id="10"/>
          <p:cNvSpPr txBox="true"/>
          <p:nvPr/>
        </p:nvSpPr>
        <p:spPr>
          <a:xfrm rot="0">
            <a:off x="1028700" y="6872478"/>
            <a:ext cx="11435025" cy="2385822"/>
          </a:xfrm>
          <a:prstGeom prst="rect">
            <a:avLst/>
          </a:prstGeom>
        </p:spPr>
        <p:txBody>
          <a:bodyPr anchor="t" rtlCol="false" tIns="0" lIns="0" bIns="0" rIns="0">
            <a:spAutoFit/>
          </a:bodyPr>
          <a:lstStyle/>
          <a:p>
            <a:pPr algn="l">
              <a:lnSpc>
                <a:spcPts val="3173"/>
              </a:lnSpc>
            </a:pPr>
            <a:r>
              <a:rPr lang="en-US" sz="2299" spc="-156">
                <a:solidFill>
                  <a:srgbClr val="E7F2FA"/>
                </a:solidFill>
                <a:latin typeface="Montserrat"/>
                <a:ea typeface="Montserrat"/>
                <a:cs typeface="Montserrat"/>
                <a:sym typeface="Montserrat"/>
              </a:rPr>
              <a:t>Las he</a:t>
            </a:r>
            <a:r>
              <a:rPr lang="en-US" sz="2299" spc="-156">
                <a:solidFill>
                  <a:srgbClr val="E7F2FA"/>
                </a:solidFill>
                <a:latin typeface="Montserrat"/>
                <a:ea typeface="Montserrat"/>
                <a:cs typeface="Montserrat"/>
                <a:sym typeface="Montserrat"/>
              </a:rPr>
              <a:t>rramientas de semgrep, trivy, zap se ejecutan mediante un contenedor Docker</a:t>
            </a:r>
          </a:p>
          <a:p>
            <a:pPr algn="l">
              <a:lnSpc>
                <a:spcPts val="3173"/>
              </a:lnSpc>
            </a:pPr>
            <a:r>
              <a:rPr lang="en-US" sz="2299" spc="-156">
                <a:solidFill>
                  <a:srgbClr val="E7F2FA"/>
                </a:solidFill>
                <a:latin typeface="Montserrat"/>
                <a:ea typeface="Montserrat"/>
                <a:cs typeface="Montserrat"/>
                <a:sym typeface="Montserrat"/>
              </a:rPr>
              <a:t>Para utilizar Snyk en el pipeline se descarga el cliente CLI oficial, se le asignan permisos de ejecución y posteriormente se realiza la autenticación mediante un token.</a:t>
            </a:r>
          </a:p>
          <a:p>
            <a:pPr algn="l">
              <a:lnSpc>
                <a:spcPts val="3173"/>
              </a:lnSpc>
            </a:pPr>
          </a:p>
          <a:p>
            <a:pPr algn="l">
              <a:lnSpc>
                <a:spcPts val="3173"/>
              </a:lnSpc>
            </a:pPr>
            <a:r>
              <a:rPr lang="en-US" sz="2299" spc="-156">
                <a:solidFill>
                  <a:srgbClr val="E7F2FA"/>
                </a:solidFill>
                <a:latin typeface="Montserrat"/>
                <a:ea typeface="Montserrat"/>
                <a:cs typeface="Montserrat"/>
                <a:sym typeface="Montserrat"/>
              </a:rPr>
              <a:t>En una máquina virtual se ha instalado DefectDojo mediate docker y se expuso la Api para ser utilizada en el pipeline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131B"/>
        </a:solidFill>
      </p:bgPr>
    </p:bg>
    <p:spTree>
      <p:nvGrpSpPr>
        <p:cNvPr id="1" name=""/>
        <p:cNvGrpSpPr/>
        <p:nvPr/>
      </p:nvGrpSpPr>
      <p:grpSpPr>
        <a:xfrm>
          <a:off x="0" y="0"/>
          <a:ext cx="0" cy="0"/>
          <a:chOff x="0" y="0"/>
          <a:chExt cx="0" cy="0"/>
        </a:xfrm>
      </p:grpSpPr>
      <p:sp>
        <p:nvSpPr>
          <p:cNvPr name="Freeform 2" id="2"/>
          <p:cNvSpPr/>
          <p:nvPr/>
        </p:nvSpPr>
        <p:spPr>
          <a:xfrm flipH="false" flipV="false" rot="0">
            <a:off x="11742872" y="-2063792"/>
            <a:ext cx="16841090" cy="16841090"/>
          </a:xfrm>
          <a:custGeom>
            <a:avLst/>
            <a:gdLst/>
            <a:ahLst/>
            <a:cxnLst/>
            <a:rect r="r" b="b" t="t" l="l"/>
            <a:pathLst>
              <a:path h="16841090" w="16841090">
                <a:moveTo>
                  <a:pt x="0" y="0"/>
                </a:moveTo>
                <a:lnTo>
                  <a:pt x="16841090" y="0"/>
                </a:lnTo>
                <a:lnTo>
                  <a:pt x="16841090" y="16841090"/>
                </a:lnTo>
                <a:lnTo>
                  <a:pt x="0" y="1684109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3909884">
            <a:off x="1366818" y="1567540"/>
            <a:ext cx="14115596" cy="14625633"/>
          </a:xfrm>
          <a:custGeom>
            <a:avLst/>
            <a:gdLst/>
            <a:ahLst/>
            <a:cxnLst/>
            <a:rect r="r" b="b" t="t" l="l"/>
            <a:pathLst>
              <a:path h="14625633" w="14115596">
                <a:moveTo>
                  <a:pt x="14115595" y="0"/>
                </a:moveTo>
                <a:lnTo>
                  <a:pt x="0" y="0"/>
                </a:lnTo>
                <a:lnTo>
                  <a:pt x="0" y="14625633"/>
                </a:lnTo>
                <a:lnTo>
                  <a:pt x="14115595" y="14625633"/>
                </a:lnTo>
                <a:lnTo>
                  <a:pt x="14115595" y="0"/>
                </a:lnTo>
                <a:close/>
              </a:path>
            </a:pathLst>
          </a:custGeom>
          <a:blipFill>
            <a:blip r:embed="rId4">
              <a:alphaModFix amt="32999"/>
              <a:extLst>
                <a:ext uri="{96DAC541-7B7A-43D3-8B79-37D633B846F1}">
                  <asvg:svgBlip xmlns:asvg="http://schemas.microsoft.com/office/drawing/2016/SVG/main" r:embed="rId5"/>
                </a:ext>
              </a:extLst>
            </a:blip>
            <a:stretch>
              <a:fillRect l="0" t="0" r="-1445" b="0"/>
            </a:stretch>
          </a:blipFill>
        </p:spPr>
      </p:sp>
      <p:sp>
        <p:nvSpPr>
          <p:cNvPr name="TextBox 4" id="4"/>
          <p:cNvSpPr txBox="true"/>
          <p:nvPr/>
        </p:nvSpPr>
        <p:spPr>
          <a:xfrm rot="0">
            <a:off x="1028700" y="1444942"/>
            <a:ext cx="5228973" cy="848360"/>
          </a:xfrm>
          <a:prstGeom prst="rect">
            <a:avLst/>
          </a:prstGeom>
        </p:spPr>
        <p:txBody>
          <a:bodyPr anchor="t" rtlCol="false" tIns="0" lIns="0" bIns="0" rIns="0">
            <a:spAutoFit/>
          </a:bodyPr>
          <a:lstStyle/>
          <a:p>
            <a:pPr algn="l">
              <a:lnSpc>
                <a:spcPts val="6399"/>
              </a:lnSpc>
            </a:pPr>
            <a:r>
              <a:rPr lang="en-US" sz="6399" i="true" spc="-351">
                <a:solidFill>
                  <a:srgbClr val="E7F2FA"/>
                </a:solidFill>
                <a:latin typeface="Montserrat Italics"/>
                <a:ea typeface="Montserrat Italics"/>
                <a:cs typeface="Montserrat Italics"/>
                <a:sym typeface="Montserrat Italics"/>
              </a:rPr>
              <a:t>PIPELINE</a:t>
            </a:r>
          </a:p>
        </p:txBody>
      </p:sp>
      <p:sp>
        <p:nvSpPr>
          <p:cNvPr name="TextBox 5" id="5"/>
          <p:cNvSpPr txBox="true"/>
          <p:nvPr/>
        </p:nvSpPr>
        <p:spPr>
          <a:xfrm rot="0">
            <a:off x="1028700" y="2007279"/>
            <a:ext cx="12758142" cy="92371545"/>
          </a:xfrm>
          <a:prstGeom prst="rect">
            <a:avLst/>
          </a:prstGeom>
        </p:spPr>
        <p:txBody>
          <a:bodyPr anchor="t" rtlCol="false" tIns="0" lIns="0" bIns="0" rIns="0">
            <a:spAutoFit/>
          </a:bodyPr>
          <a:lstStyle/>
          <a:p>
            <a:pPr algn="ctr">
              <a:lnSpc>
                <a:spcPts val="1800"/>
              </a:lnSpc>
              <a:spcBef>
                <a:spcPct val="0"/>
              </a:spcBef>
            </a:pPr>
            <a:r>
              <a:rPr lang="en-US" sz="1800" spc="-98">
                <a:solidFill>
                  <a:srgbClr val="000000"/>
                </a:solidFill>
                <a:latin typeface="Montserrat"/>
                <a:ea typeface="Montserrat"/>
                <a:cs typeface="Montserrat"/>
                <a:sym typeface="Montserrat"/>
              </a:rPr>
              <a:t>pipeline {</a:t>
            </a:r>
          </a:p>
          <a:p>
            <a:pPr algn="ctr">
              <a:lnSpc>
                <a:spcPts val="1800"/>
              </a:lnSpc>
              <a:spcBef>
                <a:spcPct val="0"/>
              </a:spcBef>
            </a:pPr>
            <a:r>
              <a:rPr lang="en-US" sz="1800" spc="-98">
                <a:solidFill>
                  <a:srgbClr val="000000"/>
                </a:solidFill>
                <a:latin typeface="Montserrat"/>
                <a:ea typeface="Montserrat"/>
                <a:cs typeface="Montserrat"/>
                <a:sym typeface="Montserrat"/>
              </a:rPr>
              <a:t>    agent any</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tools {</a:t>
            </a:r>
          </a:p>
          <a:p>
            <a:pPr algn="ctr">
              <a:lnSpc>
                <a:spcPts val="1800"/>
              </a:lnSpc>
              <a:spcBef>
                <a:spcPct val="0"/>
              </a:spcBef>
            </a:pPr>
            <a:r>
              <a:rPr lang="en-US" sz="1800" spc="-98">
                <a:solidFill>
                  <a:srgbClr val="000000"/>
                </a:solidFill>
                <a:latin typeface="Montserrat"/>
                <a:ea typeface="Montserrat"/>
                <a:cs typeface="Montserrat"/>
                <a:sym typeface="Montserrat"/>
              </a:rPr>
              <a:t>        maven 'maven3'</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options {</a:t>
            </a:r>
          </a:p>
          <a:p>
            <a:pPr algn="ctr">
              <a:lnSpc>
                <a:spcPts val="1800"/>
              </a:lnSpc>
              <a:spcBef>
                <a:spcPct val="0"/>
              </a:spcBef>
            </a:pPr>
            <a:r>
              <a:rPr lang="en-US" sz="1800" spc="-98">
                <a:solidFill>
                  <a:srgbClr val="000000"/>
                </a:solidFill>
                <a:latin typeface="Montserrat"/>
                <a:ea typeface="Montserrat"/>
                <a:cs typeface="Montserrat"/>
                <a:sym typeface="Montserrat"/>
              </a:rPr>
              <a:t>        timestamps()</a:t>
            </a:r>
          </a:p>
          <a:p>
            <a:pPr algn="ctr">
              <a:lnSpc>
                <a:spcPts val="1800"/>
              </a:lnSpc>
              <a:spcBef>
                <a:spcPct val="0"/>
              </a:spcBef>
            </a:pPr>
            <a:r>
              <a:rPr lang="en-US" sz="1800" spc="-98">
                <a:solidFill>
                  <a:srgbClr val="000000"/>
                </a:solidFill>
                <a:latin typeface="Montserrat"/>
                <a:ea typeface="Montserrat"/>
                <a:cs typeface="Montserrat"/>
                <a:sym typeface="Montserrat"/>
              </a:rPr>
              <a:t>        disableConcurrentBuilds()</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triggers {</a:t>
            </a:r>
          </a:p>
          <a:p>
            <a:pPr algn="ctr">
              <a:lnSpc>
                <a:spcPts val="1800"/>
              </a:lnSpc>
              <a:spcBef>
                <a:spcPct val="0"/>
              </a:spcBef>
            </a:pPr>
            <a:r>
              <a:rPr lang="en-US" sz="1800" spc="-98">
                <a:solidFill>
                  <a:srgbClr val="000000"/>
                </a:solidFill>
                <a:latin typeface="Montserrat"/>
                <a:ea typeface="Montserrat"/>
                <a:cs typeface="Montserrat"/>
                <a:sym typeface="Montserrat"/>
              </a:rPr>
              <a:t>        githubPush()</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parameters {</a:t>
            </a:r>
          </a:p>
          <a:p>
            <a:pPr algn="ctr">
              <a:lnSpc>
                <a:spcPts val="1800"/>
              </a:lnSpc>
              <a:spcBef>
                <a:spcPct val="0"/>
              </a:spcBef>
            </a:pPr>
            <a:r>
              <a:rPr lang="en-US" sz="1800" spc="-98">
                <a:solidFill>
                  <a:srgbClr val="000000"/>
                </a:solidFill>
                <a:latin typeface="Montserrat"/>
                <a:ea typeface="Montserrat"/>
                <a:cs typeface="Montserrat"/>
                <a:sym typeface="Montserrat"/>
              </a:rPr>
              <a:t>        booleanParam(name: 'ENABLE_DEPLOY', defaultValue: true, description: 'Desplegar a Ubuntu por SSH')</a:t>
            </a:r>
          </a:p>
          <a:p>
            <a:pPr algn="ctr">
              <a:lnSpc>
                <a:spcPts val="1800"/>
              </a:lnSpc>
              <a:spcBef>
                <a:spcPct val="0"/>
              </a:spcBef>
            </a:pPr>
            <a:r>
              <a:rPr lang="en-US" sz="1800" spc="-98">
                <a:solidFill>
                  <a:srgbClr val="000000"/>
                </a:solidFill>
                <a:latin typeface="Montserrat"/>
                <a:ea typeface="Montserrat"/>
                <a:cs typeface="Montserrat"/>
                <a:sym typeface="Montserrat"/>
              </a:rPr>
              <a:t>        booleanParam(name: 'ENABLE_DAST', defaultValue: true, description: 'Ejecutar ZAP contra la app desplegada')</a:t>
            </a:r>
          </a:p>
          <a:p>
            <a:pPr algn="ctr">
              <a:lnSpc>
                <a:spcPts val="1800"/>
              </a:lnSpc>
              <a:spcBef>
                <a:spcPct val="0"/>
              </a:spcBef>
            </a:pPr>
            <a:r>
              <a:rPr lang="en-US" sz="1800" spc="-98">
                <a:solidFill>
                  <a:srgbClr val="000000"/>
                </a:solidFill>
                <a:latin typeface="Montserrat"/>
                <a:ea typeface="Montserrat"/>
                <a:cs typeface="Montserrat"/>
                <a:sym typeface="Montserrat"/>
              </a:rPr>
              <a:t>        booleanParam(name: 'ENABLE_SNYK', defaultValue: true, description: 'Ejecutar Snyk para analisis SCA')</a:t>
            </a:r>
          </a:p>
          <a:p>
            <a:pPr algn="ctr">
              <a:lnSpc>
                <a:spcPts val="1800"/>
              </a:lnSpc>
              <a:spcBef>
                <a:spcPct val="0"/>
              </a:spcBef>
            </a:pPr>
            <a:r>
              <a:rPr lang="en-US" sz="1800" spc="-98">
                <a:solidFill>
                  <a:srgbClr val="000000"/>
                </a:solidFill>
                <a:latin typeface="Montserrat"/>
                <a:ea typeface="Montserrat"/>
                <a:cs typeface="Montserrat"/>
                <a:sym typeface="Montserrat"/>
              </a:rPr>
              <a:t>        booleanParam(name: 'ENABLE_DEFECTDOJO', defaultValue: true, description: 'Subir reportes a DefectDojo')</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environment {</a:t>
            </a:r>
          </a:p>
          <a:p>
            <a:pPr algn="ctr">
              <a:lnSpc>
                <a:spcPts val="1800"/>
              </a:lnSpc>
              <a:spcBef>
                <a:spcPct val="0"/>
              </a:spcBef>
            </a:pPr>
            <a:r>
              <a:rPr lang="en-US" sz="1800" spc="-98">
                <a:solidFill>
                  <a:srgbClr val="000000"/>
                </a:solidFill>
                <a:latin typeface="Montserrat"/>
                <a:ea typeface="Montserrat"/>
                <a:cs typeface="Montserrat"/>
                <a:sym typeface="Montserrat"/>
              </a:rPr>
              <a:t>        GIT_URL     = 'https://github.com/MABO262001/modulofinal.git'</a:t>
            </a:r>
          </a:p>
          <a:p>
            <a:pPr algn="ctr">
              <a:lnSpc>
                <a:spcPts val="1800"/>
              </a:lnSpc>
              <a:spcBef>
                <a:spcPct val="0"/>
              </a:spcBef>
            </a:pPr>
            <a:r>
              <a:rPr lang="en-US" sz="1800" spc="-98">
                <a:solidFill>
                  <a:srgbClr val="000000"/>
                </a:solidFill>
                <a:latin typeface="Montserrat"/>
                <a:ea typeface="Montserrat"/>
                <a:cs typeface="Montserrat"/>
                <a:sym typeface="Montserrat"/>
              </a:rPr>
              <a:t>        GIT_BRANCH  = 'main'</a:t>
            </a:r>
          </a:p>
          <a:p>
            <a:pPr algn="ctr">
              <a:lnSpc>
                <a:spcPts val="1800"/>
              </a:lnSpc>
              <a:spcBef>
                <a:spcPct val="0"/>
              </a:spcBef>
            </a:pPr>
            <a:r>
              <a:rPr lang="en-US" sz="1800" spc="-98">
                <a:solidFill>
                  <a:srgbClr val="000000"/>
                </a:solidFill>
                <a:latin typeface="Montserrat"/>
                <a:ea typeface="Montserrat"/>
                <a:cs typeface="Montserrat"/>
                <a:sym typeface="Montserrat"/>
              </a:rPr>
              <a:t>        VM_IP       = 'host.docker.internal'</a:t>
            </a:r>
          </a:p>
          <a:p>
            <a:pPr algn="ctr">
              <a:lnSpc>
                <a:spcPts val="1800"/>
              </a:lnSpc>
              <a:spcBef>
                <a:spcPct val="0"/>
              </a:spcBef>
            </a:pPr>
            <a:r>
              <a:rPr lang="en-US" sz="1800" spc="-98">
                <a:solidFill>
                  <a:srgbClr val="000000"/>
                </a:solidFill>
                <a:latin typeface="Montserrat"/>
                <a:ea typeface="Montserrat"/>
                <a:cs typeface="Montserrat"/>
                <a:sym typeface="Montserrat"/>
              </a:rPr>
              <a:t>        VM_SSH_PORT = '2222'</a:t>
            </a:r>
          </a:p>
          <a:p>
            <a:pPr algn="ctr">
              <a:lnSpc>
                <a:spcPts val="1800"/>
              </a:lnSpc>
              <a:spcBef>
                <a:spcPct val="0"/>
              </a:spcBef>
            </a:pPr>
            <a:r>
              <a:rPr lang="en-US" sz="1800" spc="-98">
                <a:solidFill>
                  <a:srgbClr val="000000"/>
                </a:solidFill>
                <a:latin typeface="Montserrat"/>
                <a:ea typeface="Montserrat"/>
                <a:cs typeface="Montserrat"/>
                <a:sym typeface="Montserrat"/>
              </a:rPr>
              <a:t>        APP_PATH    = '/tmp'</a:t>
            </a:r>
          </a:p>
          <a:p>
            <a:pPr algn="ctr">
              <a:lnSpc>
                <a:spcPts val="1800"/>
              </a:lnSpc>
              <a:spcBef>
                <a:spcPct val="0"/>
              </a:spcBef>
            </a:pPr>
            <a:r>
              <a:rPr lang="en-US" sz="1800" spc="-98">
                <a:solidFill>
                  <a:srgbClr val="000000"/>
                </a:solidFill>
                <a:latin typeface="Montserrat"/>
                <a:ea typeface="Montserrat"/>
                <a:cs typeface="Montserrat"/>
                <a:sym typeface="Montserrat"/>
              </a:rPr>
              <a:t>        REPORTS_DIR = "${WORKSPACE}/modulofin"</a:t>
            </a:r>
          </a:p>
          <a:p>
            <a:pPr algn="ctr">
              <a:lnSpc>
                <a:spcPts val="1800"/>
              </a:lnSpc>
              <a:spcBef>
                <a:spcPct val="0"/>
              </a:spcBef>
            </a:pPr>
            <a:r>
              <a:rPr lang="en-US" sz="1800" spc="-98">
                <a:solidFill>
                  <a:srgbClr val="000000"/>
                </a:solidFill>
                <a:latin typeface="Montserrat"/>
                <a:ea typeface="Montserrat"/>
                <a:cs typeface="Montserrat"/>
                <a:sym typeface="Montserrat"/>
              </a:rPr>
              <a:t>        IMAGE_NAME  = 'app-segura:latest'</a:t>
            </a:r>
          </a:p>
          <a:p>
            <a:pPr algn="ctr">
              <a:lnSpc>
                <a:spcPts val="1800"/>
              </a:lnSpc>
              <a:spcBef>
                <a:spcPct val="0"/>
              </a:spcBef>
            </a:pPr>
            <a:r>
              <a:rPr lang="en-US" sz="1800" spc="-98">
                <a:solidFill>
                  <a:srgbClr val="000000"/>
                </a:solidFill>
                <a:latin typeface="Montserrat"/>
                <a:ea typeface="Montserrat"/>
                <a:cs typeface="Montserrat"/>
                <a:sym typeface="Montserrat"/>
              </a:rPr>
              <a:t>        APP_PORT    = '8081'</a:t>
            </a:r>
          </a:p>
          <a:p>
            <a:pPr algn="ctr">
              <a:lnSpc>
                <a:spcPts val="1800"/>
              </a:lnSpc>
              <a:spcBef>
                <a:spcPct val="0"/>
              </a:spcBef>
            </a:pPr>
            <a:r>
              <a:rPr lang="en-US" sz="1800" spc="-98">
                <a:solidFill>
                  <a:srgbClr val="000000"/>
                </a:solidFill>
                <a:latin typeface="Montserrat"/>
                <a:ea typeface="Montserrat"/>
                <a:cs typeface="Montserrat"/>
                <a:sym typeface="Montserrat"/>
              </a:rPr>
              <a:t>        APP_HEALTH  = '/health'</a:t>
            </a:r>
          </a:p>
          <a:p>
            <a:pPr algn="ctr">
              <a:lnSpc>
                <a:spcPts val="1800"/>
              </a:lnSpc>
              <a:spcBef>
                <a:spcPct val="0"/>
              </a:spcBef>
            </a:pPr>
            <a:r>
              <a:rPr lang="en-US" sz="1800" spc="-98">
                <a:solidFill>
                  <a:srgbClr val="000000"/>
                </a:solidFill>
                <a:latin typeface="Montserrat"/>
                <a:ea typeface="Montserrat"/>
                <a:cs typeface="Montserrat"/>
                <a:sym typeface="Montserrat"/>
              </a:rPr>
              <a:t>        SSH_OPTS    = '-o StrictHostKeyChecking=no -o UserKnownHostsFile=/dev/null -o BatchMode=yes -o ConnectTimeout=20'</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SNYK_TOKEN         = credentials('snyk-token')</a:t>
            </a:r>
          </a:p>
          <a:p>
            <a:pPr algn="ctr">
              <a:lnSpc>
                <a:spcPts val="1800"/>
              </a:lnSpc>
              <a:spcBef>
                <a:spcPct val="0"/>
              </a:spcBef>
            </a:pPr>
            <a:r>
              <a:rPr lang="en-US" sz="1800" spc="-98">
                <a:solidFill>
                  <a:srgbClr val="000000"/>
                </a:solidFill>
                <a:latin typeface="Montserrat"/>
                <a:ea typeface="Montserrat"/>
                <a:cs typeface="Montserrat"/>
                <a:sym typeface="Montserrat"/>
              </a:rPr>
              <a:t>        DOJO_API_KEY       = credentials('defectdojo-api-key')</a:t>
            </a:r>
          </a:p>
          <a:p>
            <a:pPr algn="ctr">
              <a:lnSpc>
                <a:spcPts val="1800"/>
              </a:lnSpc>
              <a:spcBef>
                <a:spcPct val="0"/>
              </a:spcBef>
            </a:pPr>
            <a:r>
              <a:rPr lang="en-US" sz="1800" spc="-98">
                <a:solidFill>
                  <a:srgbClr val="000000"/>
                </a:solidFill>
                <a:latin typeface="Montserrat"/>
                <a:ea typeface="Montserrat"/>
                <a:cs typeface="Montserrat"/>
                <a:sym typeface="Montserrat"/>
              </a:rPr>
              <a:t>        DOJO_ENGAGEMENT_ID = credentials('defectdojo-engagement-id')</a:t>
            </a:r>
          </a:p>
          <a:p>
            <a:pPr algn="ctr">
              <a:lnSpc>
                <a:spcPts val="1800"/>
              </a:lnSpc>
              <a:spcBef>
                <a:spcPct val="0"/>
              </a:spcBef>
            </a:pPr>
            <a:r>
              <a:rPr lang="en-US" sz="1800" spc="-98">
                <a:solidFill>
                  <a:srgbClr val="000000"/>
                </a:solidFill>
                <a:latin typeface="Montserrat"/>
                <a:ea typeface="Montserrat"/>
                <a:cs typeface="Montserrat"/>
                <a:sym typeface="Montserrat"/>
              </a:rPr>
              <a:t>        DOJO_URL           = 'http://host.docker.internal:9000'</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stages {</a:t>
            </a:r>
          </a:p>
          <a:p>
            <a:pPr algn="ctr">
              <a:lnSpc>
                <a:spcPts val="1800"/>
              </a:lnSpc>
              <a:spcBef>
                <a:spcPct val="0"/>
              </a:spcBef>
            </a:pPr>
            <a:r>
              <a:rPr lang="en-US" sz="1800" spc="-98">
                <a:solidFill>
                  <a:srgbClr val="000000"/>
                </a:solidFill>
                <a:latin typeface="Montserrat"/>
                <a:ea typeface="Montserrat"/>
                <a:cs typeface="Montserrat"/>
                <a:sym typeface="Montserrat"/>
              </a:rPr>
              <a:t>        stage('Verificacion de Entorno') {</a:t>
            </a:r>
          </a:p>
          <a:p>
            <a:pPr algn="ctr">
              <a:lnSpc>
                <a:spcPts val="1800"/>
              </a:lnSpc>
              <a:spcBef>
                <a:spcPct val="0"/>
              </a:spcBef>
            </a:pPr>
            <a:r>
              <a:rPr lang="en-US" sz="1800" spc="-98">
                <a:solidFill>
                  <a:srgbClr val="000000"/>
                </a:solidFill>
                <a:latin typeface="Montserrat"/>
                <a:ea typeface="Montserrat"/>
                <a:cs typeface="Montserrat"/>
                <a:sym typeface="Montserrat"/>
              </a:rPr>
              <a:t>            steps {</a:t>
            </a:r>
          </a:p>
          <a:p>
            <a:pPr algn="ctr">
              <a:lnSpc>
                <a:spcPts val="1800"/>
              </a:lnSpc>
              <a:spcBef>
                <a:spcPct val="0"/>
              </a:spcBef>
            </a:pPr>
            <a:r>
              <a:rPr lang="en-US" sz="1800" spc="-98">
                <a:solidFill>
                  <a:srgbClr val="000000"/>
                </a:solidFill>
                <a:latin typeface="Montserrat"/>
                <a:ea typeface="Montserrat"/>
                <a:cs typeface="Montserrat"/>
                <a:sym typeface="Montserrat"/>
              </a:rPr>
              <a:t>                sh '''</a:t>
            </a:r>
          </a:p>
          <a:p>
            <a:pPr algn="ctr">
              <a:lnSpc>
                <a:spcPts val="1800"/>
              </a:lnSpc>
              <a:spcBef>
                <a:spcPct val="0"/>
              </a:spcBef>
            </a:pPr>
            <a:r>
              <a:rPr lang="en-US" sz="1800" spc="-98">
                <a:solidFill>
                  <a:srgbClr val="000000"/>
                </a:solidFill>
                <a:latin typeface="Montserrat"/>
                <a:ea typeface="Montserrat"/>
                <a:cs typeface="Montserrat"/>
                <a:sym typeface="Montserrat"/>
              </a:rPr>
              <a:t>                    set +e</a:t>
            </a:r>
          </a:p>
          <a:p>
            <a:pPr algn="ctr">
              <a:lnSpc>
                <a:spcPts val="1800"/>
              </a:lnSpc>
              <a:spcBef>
                <a:spcPct val="0"/>
              </a:spcBef>
            </a:pPr>
            <a:r>
              <a:rPr lang="en-US" sz="1800" spc="-98">
                <a:solidFill>
                  <a:srgbClr val="000000"/>
                </a:solidFill>
                <a:latin typeface="Montserrat"/>
                <a:ea typeface="Montserrat"/>
                <a:cs typeface="Montserrat"/>
                <a:sym typeface="Montserrat"/>
              </a:rPr>
              <a:t>                    echo "========== ENTORNO =========="</a:t>
            </a:r>
          </a:p>
          <a:p>
            <a:pPr algn="ctr">
              <a:lnSpc>
                <a:spcPts val="1800"/>
              </a:lnSpc>
              <a:spcBef>
                <a:spcPct val="0"/>
              </a:spcBef>
            </a:pPr>
            <a:r>
              <a:rPr lang="en-US" sz="1800" spc="-98">
                <a:solidFill>
                  <a:srgbClr val="000000"/>
                </a:solidFill>
                <a:latin typeface="Montserrat"/>
                <a:ea typeface="Montserrat"/>
                <a:cs typeface="Montserrat"/>
                <a:sym typeface="Montserrat"/>
              </a:rPr>
              <a:t>                    echo "Workspace: $WORKSPACE"</a:t>
            </a:r>
          </a:p>
          <a:p>
            <a:pPr algn="ctr">
              <a:lnSpc>
                <a:spcPts val="1800"/>
              </a:lnSpc>
              <a:spcBef>
                <a:spcPct val="0"/>
              </a:spcBef>
            </a:pPr>
            <a:r>
              <a:rPr lang="en-US" sz="1800" spc="-98">
                <a:solidFill>
                  <a:srgbClr val="000000"/>
                </a:solidFill>
                <a:latin typeface="Montserrat"/>
                <a:ea typeface="Montserrat"/>
                <a:cs typeface="Montserrat"/>
                <a:sym typeface="Montserrat"/>
              </a:rPr>
              <a:t>                    whoami</a:t>
            </a:r>
          </a:p>
          <a:p>
            <a:pPr algn="ctr">
              <a:lnSpc>
                <a:spcPts val="1800"/>
              </a:lnSpc>
              <a:spcBef>
                <a:spcPct val="0"/>
              </a:spcBef>
            </a:pPr>
            <a:r>
              <a:rPr lang="en-US" sz="1800" spc="-98">
                <a:solidFill>
                  <a:srgbClr val="000000"/>
                </a:solidFill>
                <a:latin typeface="Montserrat"/>
                <a:ea typeface="Montserrat"/>
                <a:cs typeface="Montserrat"/>
                <a:sym typeface="Montserrat"/>
              </a:rPr>
              <a:t>                    uname -a</a:t>
            </a:r>
          </a:p>
          <a:p>
            <a:pPr algn="ctr">
              <a:lnSpc>
                <a:spcPts val="1800"/>
              </a:lnSpc>
              <a:spcBef>
                <a:spcPct val="0"/>
              </a:spcBef>
            </a:pPr>
            <a:r>
              <a:rPr lang="en-US" sz="1800" spc="-98">
                <a:solidFill>
                  <a:srgbClr val="000000"/>
                </a:solidFill>
                <a:latin typeface="Montserrat"/>
                <a:ea typeface="Montserrat"/>
                <a:cs typeface="Montserrat"/>
                <a:sym typeface="Montserrat"/>
              </a:rPr>
              <a:t>                    java -version</a:t>
            </a:r>
          </a:p>
          <a:p>
            <a:pPr algn="ctr">
              <a:lnSpc>
                <a:spcPts val="1800"/>
              </a:lnSpc>
              <a:spcBef>
                <a:spcPct val="0"/>
              </a:spcBef>
            </a:pPr>
            <a:r>
              <a:rPr lang="en-US" sz="1800" spc="-98">
                <a:solidFill>
                  <a:srgbClr val="000000"/>
                </a:solidFill>
                <a:latin typeface="Montserrat"/>
                <a:ea typeface="Montserrat"/>
                <a:cs typeface="Montserrat"/>
                <a:sym typeface="Montserrat"/>
              </a:rPr>
              <a:t>                    git --version</a:t>
            </a:r>
          </a:p>
          <a:p>
            <a:pPr algn="ctr">
              <a:lnSpc>
                <a:spcPts val="1800"/>
              </a:lnSpc>
              <a:spcBef>
                <a:spcPct val="0"/>
              </a:spcBef>
            </a:pPr>
            <a:r>
              <a:rPr lang="en-US" sz="1800" spc="-98">
                <a:solidFill>
                  <a:srgbClr val="000000"/>
                </a:solidFill>
                <a:latin typeface="Montserrat"/>
                <a:ea typeface="Montserrat"/>
                <a:cs typeface="Montserrat"/>
                <a:sym typeface="Montserrat"/>
              </a:rPr>
              <a:t>                    docker --version</a:t>
            </a:r>
          </a:p>
          <a:p>
            <a:pPr algn="ctr">
              <a:lnSpc>
                <a:spcPts val="1800"/>
              </a:lnSpc>
              <a:spcBef>
                <a:spcPct val="0"/>
              </a:spcBef>
            </a:pPr>
            <a:r>
              <a:rPr lang="en-US" sz="1800" spc="-98">
                <a:solidFill>
                  <a:srgbClr val="000000"/>
                </a:solidFill>
                <a:latin typeface="Montserrat"/>
                <a:ea typeface="Montserrat"/>
                <a:cs typeface="Montserrat"/>
                <a:sym typeface="Montserrat"/>
              </a:rPr>
              <a:t>                    docker ps || true</a:t>
            </a:r>
          </a:p>
          <a:p>
            <a:pPr algn="ctr">
              <a:lnSpc>
                <a:spcPts val="1800"/>
              </a:lnSpc>
              <a:spcBef>
                <a:spcPct val="0"/>
              </a:spcBef>
            </a:pPr>
            <a:r>
              <a:rPr lang="en-US" sz="1800" spc="-98">
                <a:solidFill>
                  <a:srgbClr val="000000"/>
                </a:solidFill>
                <a:latin typeface="Montserrat"/>
                <a:ea typeface="Montserrat"/>
                <a:cs typeface="Montserrat"/>
                <a:sym typeface="Montserrat"/>
              </a:rPr>
              <a:t>                    getent hosts host.docker.internal || true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echo "========== PRUEBA DEFECTDOJO =========="</a:t>
            </a:r>
          </a:p>
          <a:p>
            <a:pPr algn="ctr">
              <a:lnSpc>
                <a:spcPts val="1800"/>
              </a:lnSpc>
              <a:spcBef>
                <a:spcPct val="0"/>
              </a:spcBef>
            </a:pPr>
            <a:r>
              <a:rPr lang="en-US" sz="1800" spc="-98">
                <a:solidFill>
                  <a:srgbClr val="000000"/>
                </a:solidFill>
                <a:latin typeface="Montserrat"/>
                <a:ea typeface="Montserrat"/>
                <a:cs typeface="Montserrat"/>
                <a:sym typeface="Montserrat"/>
              </a:rPr>
              <a:t>                    curl -I --max-time 15 "$DOJO_URL" || true</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stage('Descarga de Codigo') {</a:t>
            </a:r>
          </a:p>
          <a:p>
            <a:pPr algn="ctr">
              <a:lnSpc>
                <a:spcPts val="1800"/>
              </a:lnSpc>
              <a:spcBef>
                <a:spcPct val="0"/>
              </a:spcBef>
            </a:pPr>
            <a:r>
              <a:rPr lang="en-US" sz="1800" spc="-98">
                <a:solidFill>
                  <a:srgbClr val="000000"/>
                </a:solidFill>
                <a:latin typeface="Montserrat"/>
                <a:ea typeface="Montserrat"/>
                <a:cs typeface="Montserrat"/>
                <a:sym typeface="Montserrat"/>
              </a:rPr>
              <a:t>            steps {</a:t>
            </a:r>
          </a:p>
          <a:p>
            <a:pPr algn="ctr">
              <a:lnSpc>
                <a:spcPts val="1800"/>
              </a:lnSpc>
              <a:spcBef>
                <a:spcPct val="0"/>
              </a:spcBef>
            </a:pPr>
            <a:r>
              <a:rPr lang="en-US" sz="1800" spc="-98">
                <a:solidFill>
                  <a:srgbClr val="000000"/>
                </a:solidFill>
                <a:latin typeface="Montserrat"/>
                <a:ea typeface="Montserrat"/>
                <a:cs typeface="Montserrat"/>
                <a:sym typeface="Montserrat"/>
              </a:rPr>
              <a:t>                deleteDir()</a:t>
            </a:r>
          </a:p>
          <a:p>
            <a:pPr algn="ctr">
              <a:lnSpc>
                <a:spcPts val="1800"/>
              </a:lnSpc>
              <a:spcBef>
                <a:spcPct val="0"/>
              </a:spcBef>
            </a:pPr>
            <a:r>
              <a:rPr lang="en-US" sz="1800" spc="-98">
                <a:solidFill>
                  <a:srgbClr val="000000"/>
                </a:solidFill>
                <a:latin typeface="Montserrat"/>
                <a:ea typeface="Montserrat"/>
                <a:cs typeface="Montserrat"/>
                <a:sym typeface="Montserrat"/>
              </a:rPr>
              <a:t>                git branch: "${env.GIT_BRANCH}", url: "${env.GIT_URL}"</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stage('Preparar Reportes') {</a:t>
            </a:r>
          </a:p>
          <a:p>
            <a:pPr algn="ctr">
              <a:lnSpc>
                <a:spcPts val="1800"/>
              </a:lnSpc>
              <a:spcBef>
                <a:spcPct val="0"/>
              </a:spcBef>
            </a:pPr>
            <a:r>
              <a:rPr lang="en-US" sz="1800" spc="-98">
                <a:solidFill>
                  <a:srgbClr val="000000"/>
                </a:solidFill>
                <a:latin typeface="Montserrat"/>
                <a:ea typeface="Montserrat"/>
                <a:cs typeface="Montserrat"/>
                <a:sym typeface="Montserrat"/>
              </a:rPr>
              <a:t>            steps {</a:t>
            </a:r>
          </a:p>
          <a:p>
            <a:pPr algn="ctr">
              <a:lnSpc>
                <a:spcPts val="1800"/>
              </a:lnSpc>
              <a:spcBef>
                <a:spcPct val="0"/>
              </a:spcBef>
            </a:pPr>
            <a:r>
              <a:rPr lang="en-US" sz="1800" spc="-98">
                <a:solidFill>
                  <a:srgbClr val="000000"/>
                </a:solidFill>
                <a:latin typeface="Montserrat"/>
                <a:ea typeface="Montserrat"/>
                <a:cs typeface="Montserrat"/>
                <a:sym typeface="Montserrat"/>
              </a:rPr>
              <a:t>                sh '''</a:t>
            </a:r>
          </a:p>
          <a:p>
            <a:pPr algn="ctr">
              <a:lnSpc>
                <a:spcPts val="1800"/>
              </a:lnSpc>
              <a:spcBef>
                <a:spcPct val="0"/>
              </a:spcBef>
            </a:pPr>
            <a:r>
              <a:rPr lang="en-US" sz="1800" spc="-98">
                <a:solidFill>
                  <a:srgbClr val="000000"/>
                </a:solidFill>
                <a:latin typeface="Montserrat"/>
                <a:ea typeface="Montserrat"/>
                <a:cs typeface="Montserrat"/>
                <a:sym typeface="Montserrat"/>
              </a:rPr>
              <a:t>                    set -e</a:t>
            </a:r>
          </a:p>
          <a:p>
            <a:pPr algn="ctr">
              <a:lnSpc>
                <a:spcPts val="1800"/>
              </a:lnSpc>
              <a:spcBef>
                <a:spcPct val="0"/>
              </a:spcBef>
            </a:pPr>
            <a:r>
              <a:rPr lang="en-US" sz="1800" spc="-98">
                <a:solidFill>
                  <a:srgbClr val="000000"/>
                </a:solidFill>
                <a:latin typeface="Montserrat"/>
                <a:ea typeface="Montserrat"/>
                <a:cs typeface="Montserrat"/>
                <a:sym typeface="Montserrat"/>
              </a:rPr>
              <a:t>                    rm -rf "$REPORTS_DIR"</a:t>
            </a:r>
          </a:p>
          <a:p>
            <a:pPr algn="ctr">
              <a:lnSpc>
                <a:spcPts val="1800"/>
              </a:lnSpc>
              <a:spcBef>
                <a:spcPct val="0"/>
              </a:spcBef>
            </a:pPr>
            <a:r>
              <a:rPr lang="en-US" sz="1800" spc="-98">
                <a:solidFill>
                  <a:srgbClr val="000000"/>
                </a:solidFill>
                <a:latin typeface="Montserrat"/>
                <a:ea typeface="Montserrat"/>
                <a:cs typeface="Montserrat"/>
                <a:sym typeface="Montserrat"/>
              </a:rPr>
              <a:t>                    mkdir -p "$REPORTS_DIR"</a:t>
            </a:r>
          </a:p>
          <a:p>
            <a:pPr algn="ctr">
              <a:lnSpc>
                <a:spcPts val="1800"/>
              </a:lnSpc>
              <a:spcBef>
                <a:spcPct val="0"/>
              </a:spcBef>
            </a:pPr>
            <a:r>
              <a:rPr lang="en-US" sz="1800" spc="-98">
                <a:solidFill>
                  <a:srgbClr val="000000"/>
                </a:solidFill>
                <a:latin typeface="Montserrat"/>
                <a:ea typeface="Montserrat"/>
                <a:cs typeface="Montserrat"/>
                <a:sym typeface="Montserrat"/>
              </a:rPr>
              <a:t>                    chmod -R 777 "$REPORTS_DIR"</a:t>
            </a:r>
          </a:p>
          <a:p>
            <a:pPr algn="ctr">
              <a:lnSpc>
                <a:spcPts val="1800"/>
              </a:lnSpc>
              <a:spcBef>
                <a:spcPct val="0"/>
              </a:spcBef>
            </a:pPr>
            <a:r>
              <a:rPr lang="en-US" sz="1800" spc="-98">
                <a:solidFill>
                  <a:srgbClr val="000000"/>
                </a:solidFill>
                <a:latin typeface="Montserrat"/>
                <a:ea typeface="Montserrat"/>
                <a:cs typeface="Montserrat"/>
                <a:sym typeface="Montserrat"/>
              </a:rPr>
              <a:t>                    ls -lah "$REPORTS_DIR"</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stage('SAST - Semgrep') {</a:t>
            </a:r>
          </a:p>
          <a:p>
            <a:pPr algn="ctr">
              <a:lnSpc>
                <a:spcPts val="1800"/>
              </a:lnSpc>
              <a:spcBef>
                <a:spcPct val="0"/>
              </a:spcBef>
            </a:pPr>
            <a:r>
              <a:rPr lang="en-US" sz="1800" spc="-98">
                <a:solidFill>
                  <a:srgbClr val="000000"/>
                </a:solidFill>
                <a:latin typeface="Montserrat"/>
                <a:ea typeface="Montserrat"/>
                <a:cs typeface="Montserrat"/>
                <a:sym typeface="Montserrat"/>
              </a:rPr>
              <a:t>            steps {</a:t>
            </a:r>
          </a:p>
          <a:p>
            <a:pPr algn="ctr">
              <a:lnSpc>
                <a:spcPts val="1800"/>
              </a:lnSpc>
              <a:spcBef>
                <a:spcPct val="0"/>
              </a:spcBef>
            </a:pPr>
            <a:r>
              <a:rPr lang="en-US" sz="1800" spc="-98">
                <a:solidFill>
                  <a:srgbClr val="000000"/>
                </a:solidFill>
                <a:latin typeface="Montserrat"/>
                <a:ea typeface="Montserrat"/>
                <a:cs typeface="Montserrat"/>
                <a:sym typeface="Montserrat"/>
              </a:rPr>
              <a:t>                sh '''</a:t>
            </a:r>
          </a:p>
          <a:p>
            <a:pPr algn="ctr">
              <a:lnSpc>
                <a:spcPts val="1800"/>
              </a:lnSpc>
              <a:spcBef>
                <a:spcPct val="0"/>
              </a:spcBef>
            </a:pPr>
            <a:r>
              <a:rPr lang="en-US" sz="1800" spc="-98">
                <a:solidFill>
                  <a:srgbClr val="000000"/>
                </a:solidFill>
                <a:latin typeface="Montserrat"/>
                <a:ea typeface="Montserrat"/>
                <a:cs typeface="Montserrat"/>
                <a:sym typeface="Montserrat"/>
              </a:rPr>
              <a:t>                    set +e</a:t>
            </a:r>
          </a:p>
          <a:p>
            <a:pPr algn="ctr">
              <a:lnSpc>
                <a:spcPts val="1800"/>
              </a:lnSpc>
              <a:spcBef>
                <a:spcPct val="0"/>
              </a:spcBef>
            </a:pPr>
            <a:r>
              <a:rPr lang="en-US" sz="1800" spc="-98">
                <a:solidFill>
                  <a:srgbClr val="000000"/>
                </a:solidFill>
                <a:latin typeface="Montserrat"/>
                <a:ea typeface="Montserrat"/>
                <a:cs typeface="Montserrat"/>
                <a:sym typeface="Montserrat"/>
              </a:rPr>
              <a:t>                    docker rm -f semgrep_scan &gt;/dev/null 2&gt;&amp;1 || true</a:t>
            </a:r>
          </a:p>
          <a:p>
            <a:pPr algn="ctr">
              <a:lnSpc>
                <a:spcPts val="1800"/>
              </a:lnSpc>
              <a:spcBef>
                <a:spcPct val="0"/>
              </a:spcBef>
            </a:pPr>
            <a:r>
              <a:rPr lang="en-US" sz="1800" spc="-98">
                <a:solidFill>
                  <a:srgbClr val="000000"/>
                </a:solidFill>
                <a:latin typeface="Montserrat"/>
                <a:ea typeface="Montserrat"/>
                <a:cs typeface="Montserrat"/>
                <a:sym typeface="Montserrat"/>
              </a:rPr>
              <a:t>                    rm -f "$REPORTS_DIR/semgrep_report.json" || true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docker run --name semgrep_scan \</a:t>
            </a:r>
          </a:p>
          <a:p>
            <a:pPr algn="ctr">
              <a:lnSpc>
                <a:spcPts val="1800"/>
              </a:lnSpc>
              <a:spcBef>
                <a:spcPct val="0"/>
              </a:spcBef>
            </a:pPr>
            <a:r>
              <a:rPr lang="en-US" sz="1800" spc="-98">
                <a:solidFill>
                  <a:srgbClr val="000000"/>
                </a:solidFill>
                <a:latin typeface="Montserrat"/>
                <a:ea typeface="Montserrat"/>
                <a:cs typeface="Montserrat"/>
                <a:sym typeface="Montserrat"/>
              </a:rPr>
              <a:t>                      -u 0:0 \</a:t>
            </a:r>
          </a:p>
          <a:p>
            <a:pPr algn="ctr">
              <a:lnSpc>
                <a:spcPts val="1800"/>
              </a:lnSpc>
              <a:spcBef>
                <a:spcPct val="0"/>
              </a:spcBef>
            </a:pPr>
            <a:r>
              <a:rPr lang="en-US" sz="1800" spc="-98">
                <a:solidFill>
                  <a:srgbClr val="000000"/>
                </a:solidFill>
                <a:latin typeface="Montserrat"/>
                <a:ea typeface="Montserrat"/>
                <a:cs typeface="Montserrat"/>
                <a:sym typeface="Montserrat"/>
              </a:rPr>
              <a:t>                      -v "$WORKSPACE:/src" \</a:t>
            </a:r>
          </a:p>
          <a:p>
            <a:pPr algn="ctr">
              <a:lnSpc>
                <a:spcPts val="1800"/>
              </a:lnSpc>
              <a:spcBef>
                <a:spcPct val="0"/>
              </a:spcBef>
            </a:pPr>
            <a:r>
              <a:rPr lang="en-US" sz="1800" spc="-98">
                <a:solidFill>
                  <a:srgbClr val="000000"/>
                </a:solidFill>
                <a:latin typeface="Montserrat"/>
                <a:ea typeface="Montserrat"/>
                <a:cs typeface="Montserrat"/>
                <a:sym typeface="Montserrat"/>
              </a:rPr>
              <a:t>                      -w /src \</a:t>
            </a:r>
          </a:p>
          <a:p>
            <a:pPr algn="ctr">
              <a:lnSpc>
                <a:spcPts val="1800"/>
              </a:lnSpc>
              <a:spcBef>
                <a:spcPct val="0"/>
              </a:spcBef>
            </a:pPr>
            <a:r>
              <a:rPr lang="en-US" sz="1800" spc="-98">
                <a:solidFill>
                  <a:srgbClr val="000000"/>
                </a:solidFill>
                <a:latin typeface="Montserrat"/>
                <a:ea typeface="Montserrat"/>
                <a:cs typeface="Montserrat"/>
                <a:sym typeface="Montserrat"/>
              </a:rPr>
              <a:t>                      returntocorp/semgrep \</a:t>
            </a:r>
          </a:p>
          <a:p>
            <a:pPr algn="ctr">
              <a:lnSpc>
                <a:spcPts val="1800"/>
              </a:lnSpc>
              <a:spcBef>
                <a:spcPct val="0"/>
              </a:spcBef>
            </a:pPr>
            <a:r>
              <a:rPr lang="en-US" sz="1800" spc="-98">
                <a:solidFill>
                  <a:srgbClr val="000000"/>
                </a:solidFill>
                <a:latin typeface="Montserrat"/>
                <a:ea typeface="Montserrat"/>
                <a:cs typeface="Montserrat"/>
                <a:sym typeface="Montserrat"/>
              </a:rPr>
              <a:t>                      sh -c 'semgrep --config auto . --json --output /tmp/semgrep_report.json'</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SEMGREP_EXIT=$?</a:t>
            </a:r>
          </a:p>
          <a:p>
            <a:pPr algn="ctr">
              <a:lnSpc>
                <a:spcPts val="1800"/>
              </a:lnSpc>
              <a:spcBef>
                <a:spcPct val="0"/>
              </a:spcBef>
            </a:pPr>
            <a:r>
              <a:rPr lang="en-US" sz="1800" spc="-98">
                <a:solidFill>
                  <a:srgbClr val="000000"/>
                </a:solidFill>
                <a:latin typeface="Montserrat"/>
                <a:ea typeface="Montserrat"/>
                <a:cs typeface="Montserrat"/>
                <a:sym typeface="Montserrat"/>
              </a:rPr>
              <a:t>                    echo "Semgrep exit code: $SEMGREP_EXIT"</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docker cp semgrep_scan:/tmp/semgrep_report.json "$REPORTS_DIR/semgrep_report.json" || true</a:t>
            </a:r>
          </a:p>
          <a:p>
            <a:pPr algn="ctr">
              <a:lnSpc>
                <a:spcPts val="1800"/>
              </a:lnSpc>
              <a:spcBef>
                <a:spcPct val="0"/>
              </a:spcBef>
            </a:pPr>
            <a:r>
              <a:rPr lang="en-US" sz="1800" spc="-98">
                <a:solidFill>
                  <a:srgbClr val="000000"/>
                </a:solidFill>
                <a:latin typeface="Montserrat"/>
                <a:ea typeface="Montserrat"/>
                <a:cs typeface="Montserrat"/>
                <a:sym typeface="Montserrat"/>
              </a:rPr>
              <a:t>                    docker rm -f semgrep_scan &gt;/dev/null 2&gt;&amp;1 || true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echo "Contenido tras Semgrep:"</a:t>
            </a:r>
          </a:p>
          <a:p>
            <a:pPr algn="ctr">
              <a:lnSpc>
                <a:spcPts val="1800"/>
              </a:lnSpc>
              <a:spcBef>
                <a:spcPct val="0"/>
              </a:spcBef>
            </a:pPr>
            <a:r>
              <a:rPr lang="en-US" sz="1800" spc="-98">
                <a:solidFill>
                  <a:srgbClr val="000000"/>
                </a:solidFill>
                <a:latin typeface="Montserrat"/>
                <a:ea typeface="Montserrat"/>
                <a:cs typeface="Montserrat"/>
                <a:sym typeface="Montserrat"/>
              </a:rPr>
              <a:t>                    ls -lah "$REPORTS_DIR" || true</a:t>
            </a:r>
          </a:p>
          <a:p>
            <a:pPr algn="ctr">
              <a:lnSpc>
                <a:spcPts val="1800"/>
              </a:lnSpc>
              <a:spcBef>
                <a:spcPct val="0"/>
              </a:spcBef>
            </a:pPr>
            <a:r>
              <a:rPr lang="en-US" sz="1800" spc="-98">
                <a:solidFill>
                  <a:srgbClr val="000000"/>
                </a:solidFill>
                <a:latin typeface="Montserrat"/>
                <a:ea typeface="Montserrat"/>
                <a:cs typeface="Montserrat"/>
                <a:sym typeface="Montserrat"/>
              </a:rPr>
              <a:t>                    exit 0</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stage('Compilacion') {</a:t>
            </a:r>
          </a:p>
          <a:p>
            <a:pPr algn="ctr">
              <a:lnSpc>
                <a:spcPts val="1800"/>
              </a:lnSpc>
              <a:spcBef>
                <a:spcPct val="0"/>
              </a:spcBef>
            </a:pPr>
            <a:r>
              <a:rPr lang="en-US" sz="1800" spc="-98">
                <a:solidFill>
                  <a:srgbClr val="000000"/>
                </a:solidFill>
                <a:latin typeface="Montserrat"/>
                <a:ea typeface="Montserrat"/>
                <a:cs typeface="Montserrat"/>
                <a:sym typeface="Montserrat"/>
              </a:rPr>
              <a:t>            steps {</a:t>
            </a:r>
          </a:p>
          <a:p>
            <a:pPr algn="ctr">
              <a:lnSpc>
                <a:spcPts val="1800"/>
              </a:lnSpc>
              <a:spcBef>
                <a:spcPct val="0"/>
              </a:spcBef>
            </a:pPr>
            <a:r>
              <a:rPr lang="en-US" sz="1800" spc="-98">
                <a:solidFill>
                  <a:srgbClr val="000000"/>
                </a:solidFill>
                <a:latin typeface="Montserrat"/>
                <a:ea typeface="Montserrat"/>
                <a:cs typeface="Montserrat"/>
                <a:sym typeface="Montserrat"/>
              </a:rPr>
              <a:t>                sh '''</a:t>
            </a:r>
          </a:p>
          <a:p>
            <a:pPr algn="ctr">
              <a:lnSpc>
                <a:spcPts val="1800"/>
              </a:lnSpc>
              <a:spcBef>
                <a:spcPct val="0"/>
              </a:spcBef>
            </a:pPr>
            <a:r>
              <a:rPr lang="en-US" sz="1800" spc="-98">
                <a:solidFill>
                  <a:srgbClr val="000000"/>
                </a:solidFill>
                <a:latin typeface="Montserrat"/>
                <a:ea typeface="Montserrat"/>
                <a:cs typeface="Montserrat"/>
                <a:sym typeface="Montserrat"/>
              </a:rPr>
              <a:t>                    set -e</a:t>
            </a:r>
          </a:p>
          <a:p>
            <a:pPr algn="ctr">
              <a:lnSpc>
                <a:spcPts val="1800"/>
              </a:lnSpc>
              <a:spcBef>
                <a:spcPct val="0"/>
              </a:spcBef>
            </a:pPr>
            <a:r>
              <a:rPr lang="en-US" sz="1800" spc="-98">
                <a:solidFill>
                  <a:srgbClr val="000000"/>
                </a:solidFill>
                <a:latin typeface="Montserrat"/>
                <a:ea typeface="Montserrat"/>
                <a:cs typeface="Montserrat"/>
                <a:sym typeface="Montserrat"/>
              </a:rPr>
              <a:t>                    mvn -B clean package -DskipTests</a:t>
            </a:r>
          </a:p>
          <a:p>
            <a:pPr algn="ctr">
              <a:lnSpc>
                <a:spcPts val="1800"/>
              </a:lnSpc>
              <a:spcBef>
                <a:spcPct val="0"/>
              </a:spcBef>
            </a:pPr>
            <a:r>
              <a:rPr lang="en-US" sz="1800" spc="-98">
                <a:solidFill>
                  <a:srgbClr val="000000"/>
                </a:solidFill>
                <a:latin typeface="Montserrat"/>
                <a:ea typeface="Montserrat"/>
                <a:cs typeface="Montserrat"/>
                <a:sym typeface="Montserrat"/>
              </a:rPr>
              <a:t>                    ls -lah target</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stage('Docker Build') {</a:t>
            </a:r>
          </a:p>
          <a:p>
            <a:pPr algn="ctr">
              <a:lnSpc>
                <a:spcPts val="1800"/>
              </a:lnSpc>
              <a:spcBef>
                <a:spcPct val="0"/>
              </a:spcBef>
            </a:pPr>
            <a:r>
              <a:rPr lang="en-US" sz="1800" spc="-98">
                <a:solidFill>
                  <a:srgbClr val="000000"/>
                </a:solidFill>
                <a:latin typeface="Montserrat"/>
                <a:ea typeface="Montserrat"/>
                <a:cs typeface="Montserrat"/>
                <a:sym typeface="Montserrat"/>
              </a:rPr>
              <a:t>            steps {</a:t>
            </a:r>
          </a:p>
          <a:p>
            <a:pPr algn="ctr">
              <a:lnSpc>
                <a:spcPts val="1800"/>
              </a:lnSpc>
              <a:spcBef>
                <a:spcPct val="0"/>
              </a:spcBef>
            </a:pPr>
            <a:r>
              <a:rPr lang="en-US" sz="1800" spc="-98">
                <a:solidFill>
                  <a:srgbClr val="000000"/>
                </a:solidFill>
                <a:latin typeface="Montserrat"/>
                <a:ea typeface="Montserrat"/>
                <a:cs typeface="Montserrat"/>
                <a:sym typeface="Montserrat"/>
              </a:rPr>
              <a:t>                sh '''</a:t>
            </a:r>
          </a:p>
          <a:p>
            <a:pPr algn="ctr">
              <a:lnSpc>
                <a:spcPts val="1800"/>
              </a:lnSpc>
              <a:spcBef>
                <a:spcPct val="0"/>
              </a:spcBef>
            </a:pPr>
            <a:r>
              <a:rPr lang="en-US" sz="1800" spc="-98">
                <a:solidFill>
                  <a:srgbClr val="000000"/>
                </a:solidFill>
                <a:latin typeface="Montserrat"/>
                <a:ea typeface="Montserrat"/>
                <a:cs typeface="Montserrat"/>
                <a:sym typeface="Montserrat"/>
              </a:rPr>
              <a:t>                    set -e</a:t>
            </a:r>
          </a:p>
          <a:p>
            <a:pPr algn="ctr">
              <a:lnSpc>
                <a:spcPts val="1800"/>
              </a:lnSpc>
              <a:spcBef>
                <a:spcPct val="0"/>
              </a:spcBef>
            </a:pPr>
            <a:r>
              <a:rPr lang="en-US" sz="1800" spc="-98">
                <a:solidFill>
                  <a:srgbClr val="000000"/>
                </a:solidFill>
                <a:latin typeface="Montserrat"/>
                <a:ea typeface="Montserrat"/>
                <a:cs typeface="Montserrat"/>
                <a:sym typeface="Montserrat"/>
              </a:rPr>
              <a:t>                    docker build -t "$IMAGE_NAME"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stage('Container Scan - Trivy') {</a:t>
            </a:r>
          </a:p>
          <a:p>
            <a:pPr algn="ctr">
              <a:lnSpc>
                <a:spcPts val="1800"/>
              </a:lnSpc>
              <a:spcBef>
                <a:spcPct val="0"/>
              </a:spcBef>
            </a:pPr>
            <a:r>
              <a:rPr lang="en-US" sz="1800" spc="-98">
                <a:solidFill>
                  <a:srgbClr val="000000"/>
                </a:solidFill>
                <a:latin typeface="Montserrat"/>
                <a:ea typeface="Montserrat"/>
                <a:cs typeface="Montserrat"/>
                <a:sym typeface="Montserrat"/>
              </a:rPr>
              <a:t>            steps {</a:t>
            </a:r>
          </a:p>
          <a:p>
            <a:pPr algn="ctr">
              <a:lnSpc>
                <a:spcPts val="1800"/>
              </a:lnSpc>
              <a:spcBef>
                <a:spcPct val="0"/>
              </a:spcBef>
            </a:pPr>
            <a:r>
              <a:rPr lang="en-US" sz="1800" spc="-98">
                <a:solidFill>
                  <a:srgbClr val="000000"/>
                </a:solidFill>
                <a:latin typeface="Montserrat"/>
                <a:ea typeface="Montserrat"/>
                <a:cs typeface="Montserrat"/>
                <a:sym typeface="Montserrat"/>
              </a:rPr>
              <a:t>                sh '''</a:t>
            </a:r>
          </a:p>
          <a:p>
            <a:pPr algn="ctr">
              <a:lnSpc>
                <a:spcPts val="1800"/>
              </a:lnSpc>
              <a:spcBef>
                <a:spcPct val="0"/>
              </a:spcBef>
            </a:pPr>
            <a:r>
              <a:rPr lang="en-US" sz="1800" spc="-98">
                <a:solidFill>
                  <a:srgbClr val="000000"/>
                </a:solidFill>
                <a:latin typeface="Montserrat"/>
                <a:ea typeface="Montserrat"/>
                <a:cs typeface="Montserrat"/>
                <a:sym typeface="Montserrat"/>
              </a:rPr>
              <a:t>                    set +e</a:t>
            </a:r>
          </a:p>
          <a:p>
            <a:pPr algn="ctr">
              <a:lnSpc>
                <a:spcPts val="1800"/>
              </a:lnSpc>
              <a:spcBef>
                <a:spcPct val="0"/>
              </a:spcBef>
            </a:pPr>
            <a:r>
              <a:rPr lang="en-US" sz="1800" spc="-98">
                <a:solidFill>
                  <a:srgbClr val="000000"/>
                </a:solidFill>
                <a:latin typeface="Montserrat"/>
                <a:ea typeface="Montserrat"/>
                <a:cs typeface="Montserrat"/>
                <a:sym typeface="Montserrat"/>
              </a:rPr>
              <a:t>                    docker rm -f trivy_scan &gt;/dev/null 2&gt;&amp;1 || true</a:t>
            </a:r>
          </a:p>
          <a:p>
            <a:pPr algn="ctr">
              <a:lnSpc>
                <a:spcPts val="1800"/>
              </a:lnSpc>
              <a:spcBef>
                <a:spcPct val="0"/>
              </a:spcBef>
            </a:pPr>
            <a:r>
              <a:rPr lang="en-US" sz="1800" spc="-98">
                <a:solidFill>
                  <a:srgbClr val="000000"/>
                </a:solidFill>
                <a:latin typeface="Montserrat"/>
                <a:ea typeface="Montserrat"/>
                <a:cs typeface="Montserrat"/>
                <a:sym typeface="Montserrat"/>
              </a:rPr>
              <a:t>                    rm -f "$REPORTS_DIR/trivy_report.json" || true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docker run --name trivy_scan \</a:t>
            </a:r>
          </a:p>
          <a:p>
            <a:pPr algn="ctr">
              <a:lnSpc>
                <a:spcPts val="1800"/>
              </a:lnSpc>
              <a:spcBef>
                <a:spcPct val="0"/>
              </a:spcBef>
            </a:pPr>
            <a:r>
              <a:rPr lang="en-US" sz="1800" spc="-98">
                <a:solidFill>
                  <a:srgbClr val="000000"/>
                </a:solidFill>
                <a:latin typeface="Montserrat"/>
                <a:ea typeface="Montserrat"/>
                <a:cs typeface="Montserrat"/>
                <a:sym typeface="Montserrat"/>
              </a:rPr>
              <a:t>                      -u 0:0 \</a:t>
            </a:r>
          </a:p>
          <a:p>
            <a:pPr algn="ctr">
              <a:lnSpc>
                <a:spcPts val="1800"/>
              </a:lnSpc>
              <a:spcBef>
                <a:spcPct val="0"/>
              </a:spcBef>
            </a:pPr>
            <a:r>
              <a:rPr lang="en-US" sz="1800" spc="-98">
                <a:solidFill>
                  <a:srgbClr val="000000"/>
                </a:solidFill>
                <a:latin typeface="Montserrat"/>
                <a:ea typeface="Montserrat"/>
                <a:cs typeface="Montserrat"/>
                <a:sym typeface="Montserrat"/>
              </a:rPr>
              <a:t>                      -v /var/run/docker.sock:/var/run/docker.sock \</a:t>
            </a:r>
          </a:p>
          <a:p>
            <a:pPr algn="ctr">
              <a:lnSpc>
                <a:spcPts val="1800"/>
              </a:lnSpc>
              <a:spcBef>
                <a:spcPct val="0"/>
              </a:spcBef>
            </a:pPr>
            <a:r>
              <a:rPr lang="en-US" sz="1800" spc="-98">
                <a:solidFill>
                  <a:srgbClr val="000000"/>
                </a:solidFill>
                <a:latin typeface="Montserrat"/>
                <a:ea typeface="Montserrat"/>
                <a:cs typeface="Montserrat"/>
                <a:sym typeface="Montserrat"/>
              </a:rPr>
              <a:t>                      aquasec/trivy:latest image \</a:t>
            </a:r>
          </a:p>
          <a:p>
            <a:pPr algn="ctr">
              <a:lnSpc>
                <a:spcPts val="1800"/>
              </a:lnSpc>
              <a:spcBef>
                <a:spcPct val="0"/>
              </a:spcBef>
            </a:pPr>
            <a:r>
              <a:rPr lang="en-US" sz="1800" spc="-98">
                <a:solidFill>
                  <a:srgbClr val="000000"/>
                </a:solidFill>
                <a:latin typeface="Montserrat"/>
                <a:ea typeface="Montserrat"/>
                <a:cs typeface="Montserrat"/>
                <a:sym typeface="Montserrat"/>
              </a:rPr>
              <a:t>                      --timeout 15m \</a:t>
            </a:r>
          </a:p>
          <a:p>
            <a:pPr algn="ctr">
              <a:lnSpc>
                <a:spcPts val="1800"/>
              </a:lnSpc>
              <a:spcBef>
                <a:spcPct val="0"/>
              </a:spcBef>
            </a:pPr>
            <a:r>
              <a:rPr lang="en-US" sz="1800" spc="-98">
                <a:solidFill>
                  <a:srgbClr val="000000"/>
                </a:solidFill>
                <a:latin typeface="Montserrat"/>
                <a:ea typeface="Montserrat"/>
                <a:cs typeface="Montserrat"/>
                <a:sym typeface="Montserrat"/>
              </a:rPr>
              <a:t>                      --format json \</a:t>
            </a:r>
          </a:p>
          <a:p>
            <a:pPr algn="ctr">
              <a:lnSpc>
                <a:spcPts val="1800"/>
              </a:lnSpc>
              <a:spcBef>
                <a:spcPct val="0"/>
              </a:spcBef>
            </a:pPr>
            <a:r>
              <a:rPr lang="en-US" sz="1800" spc="-98">
                <a:solidFill>
                  <a:srgbClr val="000000"/>
                </a:solidFill>
                <a:latin typeface="Montserrat"/>
                <a:ea typeface="Montserrat"/>
                <a:cs typeface="Montserrat"/>
                <a:sym typeface="Montserrat"/>
              </a:rPr>
              <a:t>                      --output /tmp/trivy_report.json \</a:t>
            </a:r>
          </a:p>
          <a:p>
            <a:pPr algn="ctr">
              <a:lnSpc>
                <a:spcPts val="1800"/>
              </a:lnSpc>
              <a:spcBef>
                <a:spcPct val="0"/>
              </a:spcBef>
            </a:pPr>
            <a:r>
              <a:rPr lang="en-US" sz="1800" spc="-98">
                <a:solidFill>
                  <a:srgbClr val="000000"/>
                </a:solidFill>
                <a:latin typeface="Montserrat"/>
                <a:ea typeface="Montserrat"/>
                <a:cs typeface="Montserrat"/>
                <a:sym typeface="Montserrat"/>
              </a:rPr>
              <a:t>                      "$IMAGE_NAME"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TRIVY_EXIT=$?</a:t>
            </a:r>
          </a:p>
          <a:p>
            <a:pPr algn="ctr">
              <a:lnSpc>
                <a:spcPts val="1800"/>
              </a:lnSpc>
              <a:spcBef>
                <a:spcPct val="0"/>
              </a:spcBef>
            </a:pPr>
            <a:r>
              <a:rPr lang="en-US" sz="1800" spc="-98">
                <a:solidFill>
                  <a:srgbClr val="000000"/>
                </a:solidFill>
                <a:latin typeface="Montserrat"/>
                <a:ea typeface="Montserrat"/>
                <a:cs typeface="Montserrat"/>
                <a:sym typeface="Montserrat"/>
              </a:rPr>
              <a:t>                    echo "Trivy exit code: $TRIVY_EXIT"</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docker cp trivy_scan:/tmp/trivy_report.json "$REPORTS_DIR/trivy_report.json" || true</a:t>
            </a:r>
          </a:p>
          <a:p>
            <a:pPr algn="ctr">
              <a:lnSpc>
                <a:spcPts val="1800"/>
              </a:lnSpc>
              <a:spcBef>
                <a:spcPct val="0"/>
              </a:spcBef>
            </a:pPr>
            <a:r>
              <a:rPr lang="en-US" sz="1800" spc="-98">
                <a:solidFill>
                  <a:srgbClr val="000000"/>
                </a:solidFill>
                <a:latin typeface="Montserrat"/>
                <a:ea typeface="Montserrat"/>
                <a:cs typeface="Montserrat"/>
                <a:sym typeface="Montserrat"/>
              </a:rPr>
              <a:t>                    docker rm -f trivy_scan &gt;/dev/null 2&gt;&amp;1 || true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echo "Contenido tras Trivy:"</a:t>
            </a:r>
          </a:p>
          <a:p>
            <a:pPr algn="ctr">
              <a:lnSpc>
                <a:spcPts val="1800"/>
              </a:lnSpc>
              <a:spcBef>
                <a:spcPct val="0"/>
              </a:spcBef>
            </a:pPr>
            <a:r>
              <a:rPr lang="en-US" sz="1800" spc="-98">
                <a:solidFill>
                  <a:srgbClr val="000000"/>
                </a:solidFill>
                <a:latin typeface="Montserrat"/>
                <a:ea typeface="Montserrat"/>
                <a:cs typeface="Montserrat"/>
                <a:sym typeface="Montserrat"/>
              </a:rPr>
              <a:t>                    ls -lah "$REPORTS_DIR" || true</a:t>
            </a:r>
          </a:p>
          <a:p>
            <a:pPr algn="ctr">
              <a:lnSpc>
                <a:spcPts val="1800"/>
              </a:lnSpc>
              <a:spcBef>
                <a:spcPct val="0"/>
              </a:spcBef>
            </a:pPr>
            <a:r>
              <a:rPr lang="en-US" sz="1800" spc="-98">
                <a:solidFill>
                  <a:srgbClr val="000000"/>
                </a:solidFill>
                <a:latin typeface="Montserrat"/>
                <a:ea typeface="Montserrat"/>
                <a:cs typeface="Montserrat"/>
                <a:sym typeface="Montserrat"/>
              </a:rPr>
              <a:t>                    exit 0</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stage('SCA - Snyk') {</a:t>
            </a:r>
          </a:p>
          <a:p>
            <a:pPr algn="ctr">
              <a:lnSpc>
                <a:spcPts val="1800"/>
              </a:lnSpc>
              <a:spcBef>
                <a:spcPct val="0"/>
              </a:spcBef>
            </a:pPr>
            <a:r>
              <a:rPr lang="en-US" sz="1800" spc="-98">
                <a:solidFill>
                  <a:srgbClr val="000000"/>
                </a:solidFill>
                <a:latin typeface="Montserrat"/>
                <a:ea typeface="Montserrat"/>
                <a:cs typeface="Montserrat"/>
                <a:sym typeface="Montserrat"/>
              </a:rPr>
              <a:t>            when {</a:t>
            </a:r>
          </a:p>
          <a:p>
            <a:pPr algn="ctr">
              <a:lnSpc>
                <a:spcPts val="1800"/>
              </a:lnSpc>
              <a:spcBef>
                <a:spcPct val="0"/>
              </a:spcBef>
            </a:pPr>
            <a:r>
              <a:rPr lang="en-US" sz="1800" spc="-98">
                <a:solidFill>
                  <a:srgbClr val="000000"/>
                </a:solidFill>
                <a:latin typeface="Montserrat"/>
                <a:ea typeface="Montserrat"/>
                <a:cs typeface="Montserrat"/>
                <a:sym typeface="Montserrat"/>
              </a:rPr>
              <a:t>                expression { params.ENABLE_SNYK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steps {</a:t>
            </a:r>
          </a:p>
          <a:p>
            <a:pPr algn="ctr">
              <a:lnSpc>
                <a:spcPts val="1800"/>
              </a:lnSpc>
              <a:spcBef>
                <a:spcPct val="0"/>
              </a:spcBef>
            </a:pPr>
            <a:r>
              <a:rPr lang="en-US" sz="1800" spc="-98">
                <a:solidFill>
                  <a:srgbClr val="000000"/>
                </a:solidFill>
                <a:latin typeface="Montserrat"/>
                <a:ea typeface="Montserrat"/>
                <a:cs typeface="Montserrat"/>
                <a:sym typeface="Montserrat"/>
              </a:rPr>
              <a:t>                sh '''</a:t>
            </a:r>
          </a:p>
          <a:p>
            <a:pPr algn="ctr">
              <a:lnSpc>
                <a:spcPts val="1800"/>
              </a:lnSpc>
              <a:spcBef>
                <a:spcPct val="0"/>
              </a:spcBef>
            </a:pPr>
            <a:r>
              <a:rPr lang="en-US" sz="1800" spc="-98">
                <a:solidFill>
                  <a:srgbClr val="000000"/>
                </a:solidFill>
                <a:latin typeface="Montserrat"/>
                <a:ea typeface="Montserrat"/>
                <a:cs typeface="Montserrat"/>
                <a:sym typeface="Montserrat"/>
              </a:rPr>
              <a:t>                    set +e</a:t>
            </a:r>
          </a:p>
          <a:p>
            <a:pPr algn="ctr">
              <a:lnSpc>
                <a:spcPts val="1800"/>
              </a:lnSpc>
              <a:spcBef>
                <a:spcPct val="0"/>
              </a:spcBef>
            </a:pPr>
            <a:r>
              <a:rPr lang="en-US" sz="1800" spc="-98">
                <a:solidFill>
                  <a:srgbClr val="000000"/>
                </a:solidFill>
                <a:latin typeface="Montserrat"/>
                <a:ea typeface="Montserrat"/>
                <a:cs typeface="Montserrat"/>
                <a:sym typeface="Montserrat"/>
              </a:rPr>
              <a:t>                    rm -f snyk snyk_report.json "$REPORTS_DIR/snyk_report.json" || true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curl -sL https://static.snyk.io/cli/latest/snyk-linux -o snyk</a:t>
            </a:r>
          </a:p>
          <a:p>
            <a:pPr algn="ctr">
              <a:lnSpc>
                <a:spcPts val="1800"/>
              </a:lnSpc>
              <a:spcBef>
                <a:spcPct val="0"/>
              </a:spcBef>
            </a:pPr>
            <a:r>
              <a:rPr lang="en-US" sz="1800" spc="-98">
                <a:solidFill>
                  <a:srgbClr val="000000"/>
                </a:solidFill>
                <a:latin typeface="Montserrat"/>
                <a:ea typeface="Montserrat"/>
                <a:cs typeface="Montserrat"/>
                <a:sym typeface="Montserrat"/>
              </a:rPr>
              <a:t>                    chmod +x snyk</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./snyk auth "$SNYK_TOKEN"</a:t>
            </a:r>
          </a:p>
          <a:p>
            <a:pPr algn="ctr">
              <a:lnSpc>
                <a:spcPts val="1800"/>
              </a:lnSpc>
              <a:spcBef>
                <a:spcPct val="0"/>
              </a:spcBef>
            </a:pPr>
            <a:r>
              <a:rPr lang="en-US" sz="1800" spc="-98">
                <a:solidFill>
                  <a:srgbClr val="000000"/>
                </a:solidFill>
                <a:latin typeface="Montserrat"/>
                <a:ea typeface="Montserrat"/>
                <a:cs typeface="Montserrat"/>
                <a:sym typeface="Montserrat"/>
              </a:rPr>
              <a:t>                    ./snyk test --file=pom.xml --json &gt; snyk_report.json</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SNYK_EXIT=$?</a:t>
            </a:r>
          </a:p>
          <a:p>
            <a:pPr algn="ctr">
              <a:lnSpc>
                <a:spcPts val="1800"/>
              </a:lnSpc>
              <a:spcBef>
                <a:spcPct val="0"/>
              </a:spcBef>
            </a:pPr>
            <a:r>
              <a:rPr lang="en-US" sz="1800" spc="-98">
                <a:solidFill>
                  <a:srgbClr val="000000"/>
                </a:solidFill>
                <a:latin typeface="Montserrat"/>
                <a:ea typeface="Montserrat"/>
                <a:cs typeface="Montserrat"/>
                <a:sym typeface="Montserrat"/>
              </a:rPr>
              <a:t>                    echo "Snyk exit code: $SNYK_EXIT"</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cp snyk_report.json "$REPORTS_DIR/snyk_report.json" || true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echo "Contenido tras Snyk:"</a:t>
            </a:r>
          </a:p>
          <a:p>
            <a:pPr algn="ctr">
              <a:lnSpc>
                <a:spcPts val="1800"/>
              </a:lnSpc>
              <a:spcBef>
                <a:spcPct val="0"/>
              </a:spcBef>
            </a:pPr>
            <a:r>
              <a:rPr lang="en-US" sz="1800" spc="-98">
                <a:solidFill>
                  <a:srgbClr val="000000"/>
                </a:solidFill>
                <a:latin typeface="Montserrat"/>
                <a:ea typeface="Montserrat"/>
                <a:cs typeface="Montserrat"/>
                <a:sym typeface="Montserrat"/>
              </a:rPr>
              <a:t>                    ls -lah "$REPORTS_DIR" || true</a:t>
            </a:r>
          </a:p>
          <a:p>
            <a:pPr algn="ctr">
              <a:lnSpc>
                <a:spcPts val="1800"/>
              </a:lnSpc>
              <a:spcBef>
                <a:spcPct val="0"/>
              </a:spcBef>
            </a:pPr>
            <a:r>
              <a:rPr lang="en-US" sz="1800" spc="-98">
                <a:solidFill>
                  <a:srgbClr val="000000"/>
                </a:solidFill>
                <a:latin typeface="Montserrat"/>
                <a:ea typeface="Montserrat"/>
                <a:cs typeface="Montserrat"/>
                <a:sym typeface="Montserrat"/>
              </a:rPr>
              <a:t>                    exit 0</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stage('Despliegue') {</a:t>
            </a:r>
          </a:p>
          <a:p>
            <a:pPr algn="ctr">
              <a:lnSpc>
                <a:spcPts val="1800"/>
              </a:lnSpc>
              <a:spcBef>
                <a:spcPct val="0"/>
              </a:spcBef>
            </a:pPr>
            <a:r>
              <a:rPr lang="en-US" sz="1800" spc="-98">
                <a:solidFill>
                  <a:srgbClr val="000000"/>
                </a:solidFill>
                <a:latin typeface="Montserrat"/>
                <a:ea typeface="Montserrat"/>
                <a:cs typeface="Montserrat"/>
                <a:sym typeface="Montserrat"/>
              </a:rPr>
              <a:t>            when {</a:t>
            </a:r>
          </a:p>
          <a:p>
            <a:pPr algn="ctr">
              <a:lnSpc>
                <a:spcPts val="1800"/>
              </a:lnSpc>
              <a:spcBef>
                <a:spcPct val="0"/>
              </a:spcBef>
            </a:pPr>
            <a:r>
              <a:rPr lang="en-US" sz="1800" spc="-98">
                <a:solidFill>
                  <a:srgbClr val="000000"/>
                </a:solidFill>
                <a:latin typeface="Montserrat"/>
                <a:ea typeface="Montserrat"/>
                <a:cs typeface="Montserrat"/>
                <a:sym typeface="Montserrat"/>
              </a:rPr>
              <a:t>                expression { params.ENABLE_DEPLOY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steps {</a:t>
            </a:r>
          </a:p>
          <a:p>
            <a:pPr algn="ctr">
              <a:lnSpc>
                <a:spcPts val="1800"/>
              </a:lnSpc>
              <a:spcBef>
                <a:spcPct val="0"/>
              </a:spcBef>
            </a:pPr>
            <a:r>
              <a:rPr lang="en-US" sz="1800" spc="-98">
                <a:solidFill>
                  <a:srgbClr val="000000"/>
                </a:solidFill>
                <a:latin typeface="Montserrat"/>
                <a:ea typeface="Montserrat"/>
                <a:cs typeface="Montserrat"/>
                <a:sym typeface="Montserrat"/>
              </a:rPr>
              <a:t>                withCredentials([</a:t>
            </a:r>
          </a:p>
          <a:p>
            <a:pPr algn="ctr">
              <a:lnSpc>
                <a:spcPts val="1800"/>
              </a:lnSpc>
              <a:spcBef>
                <a:spcPct val="0"/>
              </a:spcBef>
            </a:pPr>
            <a:r>
              <a:rPr lang="en-US" sz="1800" spc="-98">
                <a:solidFill>
                  <a:srgbClr val="000000"/>
                </a:solidFill>
                <a:latin typeface="Montserrat"/>
                <a:ea typeface="Montserrat"/>
                <a:cs typeface="Montserrat"/>
                <a:sym typeface="Montserrat"/>
              </a:rPr>
              <a:t>                    sshUserPrivateKey(</a:t>
            </a:r>
          </a:p>
          <a:p>
            <a:pPr algn="ctr">
              <a:lnSpc>
                <a:spcPts val="1800"/>
              </a:lnSpc>
              <a:spcBef>
                <a:spcPct val="0"/>
              </a:spcBef>
            </a:pPr>
            <a:r>
              <a:rPr lang="en-US" sz="1800" spc="-98">
                <a:solidFill>
                  <a:srgbClr val="000000"/>
                </a:solidFill>
                <a:latin typeface="Montserrat"/>
                <a:ea typeface="Montserrat"/>
                <a:cs typeface="Montserrat"/>
                <a:sym typeface="Montserrat"/>
              </a:rPr>
              <a:t>                        credentialsId: 'vm-access',</a:t>
            </a:r>
          </a:p>
          <a:p>
            <a:pPr algn="ctr">
              <a:lnSpc>
                <a:spcPts val="1800"/>
              </a:lnSpc>
              <a:spcBef>
                <a:spcPct val="0"/>
              </a:spcBef>
            </a:pPr>
            <a:r>
              <a:rPr lang="en-US" sz="1800" spc="-98">
                <a:solidFill>
                  <a:srgbClr val="000000"/>
                </a:solidFill>
                <a:latin typeface="Montserrat"/>
                <a:ea typeface="Montserrat"/>
                <a:cs typeface="Montserrat"/>
                <a:sym typeface="Montserrat"/>
              </a:rPr>
              <a:t>                        keyFileVariable: 'SSH_KEY',</a:t>
            </a:r>
          </a:p>
          <a:p>
            <a:pPr algn="ctr">
              <a:lnSpc>
                <a:spcPts val="1800"/>
              </a:lnSpc>
              <a:spcBef>
                <a:spcPct val="0"/>
              </a:spcBef>
            </a:pPr>
            <a:r>
              <a:rPr lang="en-US" sz="1800" spc="-98">
                <a:solidFill>
                  <a:srgbClr val="000000"/>
                </a:solidFill>
                <a:latin typeface="Montserrat"/>
                <a:ea typeface="Montserrat"/>
                <a:cs typeface="Montserrat"/>
                <a:sym typeface="Montserrat"/>
              </a:rPr>
              <a:t>                        usernameVariable: 'SSH_USER'</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 {</a:t>
            </a:r>
          </a:p>
          <a:p>
            <a:pPr algn="ctr">
              <a:lnSpc>
                <a:spcPts val="1800"/>
              </a:lnSpc>
              <a:spcBef>
                <a:spcPct val="0"/>
              </a:spcBef>
            </a:pPr>
            <a:r>
              <a:rPr lang="en-US" sz="1800" spc="-98">
                <a:solidFill>
                  <a:srgbClr val="000000"/>
                </a:solidFill>
                <a:latin typeface="Montserrat"/>
                <a:ea typeface="Montserrat"/>
                <a:cs typeface="Montserrat"/>
                <a:sym typeface="Montserrat"/>
              </a:rPr>
              <a:t>                    sh '''</a:t>
            </a:r>
          </a:p>
          <a:p>
            <a:pPr algn="ctr">
              <a:lnSpc>
                <a:spcPts val="1800"/>
              </a:lnSpc>
              <a:spcBef>
                <a:spcPct val="0"/>
              </a:spcBef>
            </a:pPr>
            <a:r>
              <a:rPr lang="en-US" sz="1800" spc="-98">
                <a:solidFill>
                  <a:srgbClr val="000000"/>
                </a:solidFill>
                <a:latin typeface="Montserrat"/>
                <a:ea typeface="Montserrat"/>
                <a:cs typeface="Montserrat"/>
                <a:sym typeface="Montserrat"/>
              </a:rPr>
              <a:t>                        set -euxo pipefail</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echo "========== PRUEBA SSH =========="</a:t>
            </a:r>
          </a:p>
          <a:p>
            <a:pPr algn="ctr">
              <a:lnSpc>
                <a:spcPts val="1800"/>
              </a:lnSpc>
              <a:spcBef>
                <a:spcPct val="0"/>
              </a:spcBef>
            </a:pPr>
            <a:r>
              <a:rPr lang="en-US" sz="1800" spc="-98">
                <a:solidFill>
                  <a:srgbClr val="000000"/>
                </a:solidFill>
                <a:latin typeface="Montserrat"/>
                <a:ea typeface="Montserrat"/>
                <a:cs typeface="Montserrat"/>
                <a:sym typeface="Montserrat"/>
              </a:rPr>
              <a:t>                        ssh $SSH_OPTS -p "$VM_SSH_PORT" -i "$SSH_KEY" \</a:t>
            </a:r>
          </a:p>
          <a:p>
            <a:pPr algn="ctr">
              <a:lnSpc>
                <a:spcPts val="1800"/>
              </a:lnSpc>
              <a:spcBef>
                <a:spcPct val="0"/>
              </a:spcBef>
            </a:pPr>
            <a:r>
              <a:rPr lang="en-US" sz="1800" spc="-98">
                <a:solidFill>
                  <a:srgbClr val="000000"/>
                </a:solidFill>
                <a:latin typeface="Montserrat"/>
                <a:ea typeface="Montserrat"/>
                <a:cs typeface="Montserrat"/>
                <a:sym typeface="Montserrat"/>
              </a:rPr>
              <a:t><![CDATA[                          "$SSH_USER@$VM_IP" 'echo CONEXION_OK && whoami && hostname && java -version']]></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echo "========== DETENER APP ANTERIOR =========="</a:t>
            </a:r>
          </a:p>
          <a:p>
            <a:pPr algn="ctr">
              <a:lnSpc>
                <a:spcPts val="1800"/>
              </a:lnSpc>
              <a:spcBef>
                <a:spcPct val="0"/>
              </a:spcBef>
            </a:pPr>
            <a:r>
              <a:rPr lang="en-US" sz="1800" spc="-98">
                <a:solidFill>
                  <a:srgbClr val="000000"/>
                </a:solidFill>
                <a:latin typeface="Montserrat"/>
                <a:ea typeface="Montserrat"/>
                <a:cs typeface="Montserrat"/>
                <a:sym typeface="Montserrat"/>
              </a:rPr>
              <a:t>                        ssh $SSH_OPTS -p "$VM_SSH_PORT" -i "$SSH_KEY" \</a:t>
            </a:r>
          </a:p>
          <a:p>
            <a:pPr algn="ctr">
              <a:lnSpc>
                <a:spcPts val="1800"/>
              </a:lnSpc>
              <a:spcBef>
                <a:spcPct val="0"/>
              </a:spcBef>
            </a:pPr>
            <a:r>
              <a:rPr lang="en-US" sz="1800" spc="-98">
                <a:solidFill>
                  <a:srgbClr val="000000"/>
                </a:solidFill>
                <a:latin typeface="Montserrat"/>
                <a:ea typeface="Montserrat"/>
                <a:cs typeface="Montserrat"/>
                <a:sym typeface="Montserrat"/>
              </a:rPr>
              <a:t>                          "$SSH_USER@$VM_IP" "</a:t>
            </a:r>
          </a:p>
          <a:p>
            <a:pPr algn="ctr">
              <a:lnSpc>
                <a:spcPts val="1800"/>
              </a:lnSpc>
              <a:spcBef>
                <a:spcPct val="0"/>
              </a:spcBef>
            </a:pPr>
            <a:r>
              <a:rPr lang="en-US" sz="1800" spc="-98">
                <a:solidFill>
                  <a:srgbClr val="000000"/>
                </a:solidFill>
                <a:latin typeface="Montserrat"/>
                <a:ea typeface="Montserrat"/>
                <a:cs typeface="Montserrat"/>
                <a:sym typeface="Montserrat"/>
              </a:rPr>
              <a:t>                            fuser -k ${APP_PORT}/tcp || true</a:t>
            </a:r>
          </a:p>
          <a:p>
            <a:pPr algn="ctr">
              <a:lnSpc>
                <a:spcPts val="1800"/>
              </a:lnSpc>
              <a:spcBef>
                <a:spcPct val="0"/>
              </a:spcBef>
            </a:pPr>
            <a:r>
              <a:rPr lang="en-US" sz="1800" spc="-98">
                <a:solidFill>
                  <a:srgbClr val="000000"/>
                </a:solidFill>
                <a:latin typeface="Montserrat"/>
                <a:ea typeface="Montserrat"/>
                <a:cs typeface="Montserrat"/>
                <a:sym typeface="Montserrat"/>
              </a:rPr>
              <a:t>                            sleep 3</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echo "========== COPIAR JAR =========="</a:t>
            </a:r>
          </a:p>
          <a:p>
            <a:pPr algn="ctr">
              <a:lnSpc>
                <a:spcPts val="1800"/>
              </a:lnSpc>
              <a:spcBef>
                <a:spcPct val="0"/>
              </a:spcBef>
            </a:pPr>
            <a:r>
              <a:rPr lang="en-US" sz="1800" spc="-98">
                <a:solidFill>
                  <a:srgbClr val="000000"/>
                </a:solidFill>
                <a:latin typeface="Montserrat"/>
                <a:ea typeface="Montserrat"/>
                <a:cs typeface="Montserrat"/>
                <a:sym typeface="Montserrat"/>
              </a:rPr>
              <a:t>                        scp $SSH_OPTS -P "$VM_SSH_PORT" -i "$SSH_KEY" \</a:t>
            </a:r>
          </a:p>
          <a:p>
            <a:pPr algn="ctr">
              <a:lnSpc>
                <a:spcPts val="1800"/>
              </a:lnSpc>
              <a:spcBef>
                <a:spcPct val="0"/>
              </a:spcBef>
            </a:pPr>
            <a:r>
              <a:rPr lang="en-US" sz="1800" spc="-98">
                <a:solidFill>
                  <a:srgbClr val="000000"/>
                </a:solidFill>
                <a:latin typeface="Montserrat"/>
                <a:ea typeface="Montserrat"/>
                <a:cs typeface="Montserrat"/>
                <a:sym typeface="Montserrat"/>
              </a:rPr>
              <a:t>                          target/*.jar \</a:t>
            </a:r>
          </a:p>
          <a:p>
            <a:pPr algn="ctr">
              <a:lnSpc>
                <a:spcPts val="1800"/>
              </a:lnSpc>
              <a:spcBef>
                <a:spcPct val="0"/>
              </a:spcBef>
            </a:pPr>
            <a:r>
              <a:rPr lang="en-US" sz="1800" spc="-98">
                <a:solidFill>
                  <a:srgbClr val="000000"/>
                </a:solidFill>
                <a:latin typeface="Montserrat"/>
                <a:ea typeface="Montserrat"/>
                <a:cs typeface="Montserrat"/>
                <a:sym typeface="Montserrat"/>
              </a:rPr>
              <a:t>                          "$SSH_USER@$VM_IP:$APP_PATH/app.jar"</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echo "========== ARRANCAR APP =========="</a:t>
            </a:r>
          </a:p>
          <a:p>
            <a:pPr algn="ctr">
              <a:lnSpc>
                <a:spcPts val="1800"/>
              </a:lnSpc>
              <a:spcBef>
                <a:spcPct val="0"/>
              </a:spcBef>
            </a:pPr>
            <a:r>
              <a:rPr lang="en-US" sz="1800" spc="-98">
                <a:solidFill>
                  <a:srgbClr val="000000"/>
                </a:solidFill>
                <a:latin typeface="Montserrat"/>
                <a:ea typeface="Montserrat"/>
                <a:cs typeface="Montserrat"/>
                <a:sym typeface="Montserrat"/>
              </a:rPr>
              <a:t>                        ssh $SSH_OPTS -p "$VM_SSH_PORT" -i "$SSH_KEY" \</a:t>
            </a:r>
          </a:p>
          <a:p>
            <a:pPr algn="ctr">
              <a:lnSpc>
                <a:spcPts val="1800"/>
              </a:lnSpc>
              <a:spcBef>
                <a:spcPct val="0"/>
              </a:spcBef>
            </a:pPr>
            <a:r>
              <a:rPr lang="en-US" sz="1800" spc="-98">
                <a:solidFill>
                  <a:srgbClr val="000000"/>
                </a:solidFill>
                <a:latin typeface="Montserrat"/>
                <a:ea typeface="Montserrat"/>
                <a:cs typeface="Montserrat"/>
                <a:sym typeface="Montserrat"/>
              </a:rPr>
              <a:t>                          "$SSH_USER@$VM_IP" "</a:t>
            </a:r>
          </a:p>
          <a:p>
            <a:pPr algn="ctr">
              <a:lnSpc>
                <a:spcPts val="1800"/>
              </a:lnSpc>
              <a:spcBef>
                <a:spcPct val="0"/>
              </a:spcBef>
            </a:pPr>
            <a:r>
              <a:rPr lang="en-US" sz="1800" spc="-98">
                <a:solidFill>
                  <a:srgbClr val="000000"/>
                </a:solidFill>
                <a:latin typeface="Montserrat"/>
                <a:ea typeface="Montserrat"/>
                <a:cs typeface="Montserrat"/>
                <a:sym typeface="Montserrat"/>
              </a:rPr>
              <a:t>                            nohup java -jar $APP_PATH/app.jar --server.port=${APP_PORT} &gt; /tmp/app.log 2&gt;&amp;1 &amp;</a:t>
            </a:r>
          </a:p>
          <a:p>
            <a:pPr algn="ctr">
              <a:lnSpc>
                <a:spcPts val="1800"/>
              </a:lnSpc>
              <a:spcBef>
                <a:spcPct val="0"/>
              </a:spcBef>
            </a:pPr>
            <a:r>
              <a:rPr lang="en-US" sz="1800" spc="-98">
                <a:solidFill>
                  <a:srgbClr val="000000"/>
                </a:solidFill>
                <a:latin typeface="Montserrat"/>
                <a:ea typeface="Montserrat"/>
                <a:cs typeface="Montserrat"/>
                <a:sym typeface="Montserrat"/>
              </a:rPr>
              <a:t>                            echo \\$! &gt; /tmp/app.pid</a:t>
            </a:r>
          </a:p>
          <a:p>
            <a:pPr algn="ctr">
              <a:lnSpc>
                <a:spcPts val="1800"/>
              </a:lnSpc>
              <a:spcBef>
                <a:spcPct val="0"/>
              </a:spcBef>
            </a:pPr>
            <a:r>
              <a:rPr lang="en-US" sz="1800" spc="-98">
                <a:solidFill>
                  <a:srgbClr val="000000"/>
                </a:solidFill>
                <a:latin typeface="Montserrat"/>
                <a:ea typeface="Montserrat"/>
                <a:cs typeface="Montserrat"/>
                <a:sym typeface="Montserrat"/>
              </a:rPr>
              <a:t>                            sleep 2</a:t>
            </a:r>
          </a:p>
          <a:p>
            <a:pPr algn="ctr">
              <a:lnSpc>
                <a:spcPts val="1800"/>
              </a:lnSpc>
              <a:spcBef>
                <a:spcPct val="0"/>
              </a:spcBef>
            </a:pPr>
            <a:r>
              <a:rPr lang="en-US" sz="1800" spc="-98">
                <a:solidFill>
                  <a:srgbClr val="000000"/>
                </a:solidFill>
                <a:latin typeface="Montserrat"/>
                <a:ea typeface="Montserrat"/>
                <a:cs typeface="Montserrat"/>
                <a:sym typeface="Montserrat"/>
              </a:rPr>
              <a:t>                            echo 'PID actual:'</a:t>
            </a:r>
          </a:p>
          <a:p>
            <a:pPr algn="ctr">
              <a:lnSpc>
                <a:spcPts val="1800"/>
              </a:lnSpc>
              <a:spcBef>
                <a:spcPct val="0"/>
              </a:spcBef>
            </a:pPr>
            <a:r>
              <a:rPr lang="en-US" sz="1800" spc="-98">
                <a:solidFill>
                  <a:srgbClr val="000000"/>
                </a:solidFill>
                <a:latin typeface="Montserrat"/>
                <a:ea typeface="Montserrat"/>
                <a:cs typeface="Montserrat"/>
                <a:sym typeface="Montserrat"/>
              </a:rPr>
              <a:t>                            cat /tmp/app.pid || true</a:t>
            </a:r>
          </a:p>
          <a:p>
            <a:pPr algn="ctr">
              <a:lnSpc>
                <a:spcPts val="1800"/>
              </a:lnSpc>
              <a:spcBef>
                <a:spcPct val="0"/>
              </a:spcBef>
            </a:pPr>
            <a:r>
              <a:rPr lang="en-US" sz="1800" spc="-98">
                <a:solidFill>
                  <a:srgbClr val="000000"/>
                </a:solidFill>
                <a:latin typeface="Montserrat"/>
                <a:ea typeface="Montserrat"/>
                <a:cs typeface="Montserrat"/>
                <a:sym typeface="Montserrat"/>
              </a:rPr>
              <a:t>                            ps -ef | grep app.jar | grep -v grep || true</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echo "========== VALIDAR ARRANQUE EN VM =========="</a:t>
            </a:r>
          </a:p>
          <a:p>
            <a:pPr algn="ctr">
              <a:lnSpc>
                <a:spcPts val="1800"/>
              </a:lnSpc>
              <a:spcBef>
                <a:spcPct val="0"/>
              </a:spcBef>
            </a:pPr>
            <a:r>
              <a:rPr lang="en-US" sz="1800" spc="-98">
                <a:solidFill>
                  <a:srgbClr val="000000"/>
                </a:solidFill>
                <a:latin typeface="Montserrat"/>
                <a:ea typeface="Montserrat"/>
                <a:cs typeface="Montserrat"/>
                <a:sym typeface="Montserrat"/>
              </a:rPr>
              <a:t>                        ssh $SSH_OPTS -p "$VM_SSH_PORT" -i "$SSH_KEY" \</a:t>
            </a:r>
          </a:p>
          <a:p>
            <a:pPr algn="ctr">
              <a:lnSpc>
                <a:spcPts val="1800"/>
              </a:lnSpc>
              <a:spcBef>
                <a:spcPct val="0"/>
              </a:spcBef>
            </a:pPr>
            <a:r>
              <a:rPr lang="en-US" sz="1800" spc="-98">
                <a:solidFill>
                  <a:srgbClr val="000000"/>
                </a:solidFill>
                <a:latin typeface="Montserrat"/>
                <a:ea typeface="Montserrat"/>
                <a:cs typeface="Montserrat"/>
                <a:sym typeface="Montserrat"/>
              </a:rPr>
              <a:t>                          "$SSH_USER@$VM_IP" "</a:t>
            </a:r>
          </a:p>
          <a:p>
            <a:pPr algn="ctr">
              <a:lnSpc>
                <a:spcPts val="1800"/>
              </a:lnSpc>
              <a:spcBef>
                <a:spcPct val="0"/>
              </a:spcBef>
            </a:pPr>
            <a:r>
              <a:rPr lang="en-US" sz="1800" spc="-98">
                <a:solidFill>
                  <a:srgbClr val="000000"/>
                </a:solidFill>
                <a:latin typeface="Montserrat"/>
                <a:ea typeface="Montserrat"/>
                <a:cs typeface="Montserrat"/>
                <a:sym typeface="Montserrat"/>
              </a:rPr>
              <a:t>                            for i in \\$(seq 1 18); do</a:t>
            </a:r>
          </a:p>
          <a:p>
            <a:pPr algn="ctr">
              <a:lnSpc>
                <a:spcPts val="1800"/>
              </a:lnSpc>
              <a:spcBef>
                <a:spcPct val="0"/>
              </a:spcBef>
            </a:pPr>
            <a:r>
              <a:rPr lang="en-US" sz="1800" spc="-98">
                <a:solidFill>
                  <a:srgbClr val="000000"/>
                </a:solidFill>
                <a:latin typeface="Montserrat"/>
                <a:ea typeface="Montserrat"/>
                <a:cs typeface="Montserrat"/>
                <a:sym typeface="Montserrat"/>
              </a:rPr>
              <a:t>                              echo '=============================='</a:t>
            </a:r>
          </a:p>
          <a:p>
            <a:pPr algn="ctr">
              <a:lnSpc>
                <a:spcPts val="1800"/>
              </a:lnSpc>
              <a:spcBef>
                <a:spcPct val="0"/>
              </a:spcBef>
            </a:pPr>
            <a:r>
              <a:rPr lang="en-US" sz="1800" spc="-98">
                <a:solidFill>
                  <a:srgbClr val="000000"/>
                </a:solidFill>
                <a:latin typeface="Montserrat"/>
                <a:ea typeface="Montserrat"/>
                <a:cs typeface="Montserrat"/>
                <a:sym typeface="Montserrat"/>
              </a:rPr>
              <a:t>                              echo 'Intento de health #' \\$i</a:t>
            </a:r>
          </a:p>
          <a:p>
            <a:pPr algn="ctr">
              <a:lnSpc>
                <a:spcPts val="1800"/>
              </a:lnSpc>
              <a:spcBef>
                <a:spcPct val="0"/>
              </a:spcBef>
            </a:pPr>
            <a:r>
              <a:rPr lang="en-US" sz="1800" spc="-98">
                <a:solidFill>
                  <a:srgbClr val="000000"/>
                </a:solidFill>
                <a:latin typeface="Montserrat"/>
                <a:ea typeface="Montserrat"/>
                <a:cs typeface="Montserrat"/>
                <a:sym typeface="Montserrat"/>
              </a:rPr>
              <a:t>                              echo '---- PROCESO ----'</a:t>
            </a:r>
          </a:p>
          <a:p>
            <a:pPr algn="ctr">
              <a:lnSpc>
                <a:spcPts val="1800"/>
              </a:lnSpc>
              <a:spcBef>
                <a:spcPct val="0"/>
              </a:spcBef>
            </a:pPr>
            <a:r>
              <a:rPr lang="en-US" sz="1800" spc="-98">
                <a:solidFill>
                  <a:srgbClr val="000000"/>
                </a:solidFill>
                <a:latin typeface="Montserrat"/>
                <a:ea typeface="Montserrat"/>
                <a:cs typeface="Montserrat"/>
                <a:sym typeface="Montserrat"/>
              </a:rPr>
              <a:t>                              ps -ef | grep app.jar | grep -v grep || true</a:t>
            </a:r>
          </a:p>
          <a:p>
            <a:pPr algn="ctr">
              <a:lnSpc>
                <a:spcPts val="1800"/>
              </a:lnSpc>
              <a:spcBef>
                <a:spcPct val="0"/>
              </a:spcBef>
            </a:pPr>
            <a:r>
              <a:rPr lang="en-US" sz="1800" spc="-98">
                <a:solidFill>
                  <a:srgbClr val="000000"/>
                </a:solidFill>
                <a:latin typeface="Montserrat"/>
                <a:ea typeface="Montserrat"/>
                <a:cs typeface="Montserrat"/>
                <a:sym typeface="Montserrat"/>
              </a:rPr>
              <a:t>                              echo '---- PUERTO ----'</a:t>
            </a:r>
          </a:p>
          <a:p>
            <a:pPr algn="ctr">
              <a:lnSpc>
                <a:spcPts val="1800"/>
              </a:lnSpc>
              <a:spcBef>
                <a:spcPct val="0"/>
              </a:spcBef>
            </a:pPr>
            <a:r>
              <a:rPr lang="en-US" sz="1800" spc="-98">
                <a:solidFill>
                  <a:srgbClr val="000000"/>
                </a:solidFill>
                <a:latin typeface="Montserrat"/>
                <a:ea typeface="Montserrat"/>
                <a:cs typeface="Montserrat"/>
                <a:sym typeface="Montserrat"/>
              </a:rPr>
              <a:t>                              ss -ltn | grep :${APP_PORT} || true</a:t>
            </a:r>
          </a:p>
          <a:p>
            <a:pPr algn="ctr">
              <a:lnSpc>
                <a:spcPts val="1800"/>
              </a:lnSpc>
              <a:spcBef>
                <a:spcPct val="0"/>
              </a:spcBef>
            </a:pPr>
            <a:r>
              <a:rPr lang="en-US" sz="1800" spc="-98">
                <a:solidFill>
                  <a:srgbClr val="000000"/>
                </a:solidFill>
                <a:latin typeface="Montserrat"/>
                <a:ea typeface="Montserrat"/>
                <a:cs typeface="Montserrat"/>
                <a:sym typeface="Montserrat"/>
              </a:rPr>
              <a:t>                              echo '---- HEALTH ----'</a:t>
            </a:r>
          </a:p>
          <a:p>
            <a:pPr algn="ctr">
              <a:lnSpc>
                <a:spcPts val="1800"/>
              </a:lnSpc>
              <a:spcBef>
                <a:spcPct val="0"/>
              </a:spcBef>
            </a:pPr>
            <a:r>
              <a:rPr lang="en-US" sz="1800" spc="-98">
                <a:solidFill>
                  <a:srgbClr val="000000"/>
                </a:solidFill>
                <a:latin typeface="Montserrat"/>
                <a:ea typeface="Montserrat"/>
                <a:cs typeface="Montserrat"/>
                <a:sym typeface="Montserrat"/>
              </a:rPr>
              <a:t>                              curl -fsS http://127.0.0.1:${APP_PORT}${APP_HEALTH} &amp;&amp; exit 0</a:t>
            </a:r>
          </a:p>
          <a:p>
            <a:pPr algn="ctr">
              <a:lnSpc>
                <a:spcPts val="1800"/>
              </a:lnSpc>
              <a:spcBef>
                <a:spcPct val="0"/>
              </a:spcBef>
            </a:pPr>
            <a:r>
              <a:rPr lang="en-US" sz="1800" spc="-98">
                <a:solidFill>
                  <a:srgbClr val="000000"/>
                </a:solidFill>
                <a:latin typeface="Montserrat"/>
                <a:ea typeface="Montserrat"/>
                <a:cs typeface="Montserrat"/>
                <a:sym typeface="Montserrat"/>
              </a:rPr>
              <a:t>                              sleep 5</a:t>
            </a:r>
          </a:p>
          <a:p>
            <a:pPr algn="ctr">
              <a:lnSpc>
                <a:spcPts val="1800"/>
              </a:lnSpc>
              <a:spcBef>
                <a:spcPct val="0"/>
              </a:spcBef>
            </a:pPr>
            <a:r>
              <a:rPr lang="en-US" sz="1800" spc="-98">
                <a:solidFill>
                  <a:srgbClr val="000000"/>
                </a:solidFill>
                <a:latin typeface="Montserrat"/>
                <a:ea typeface="Montserrat"/>
                <a:cs typeface="Montserrat"/>
                <a:sym typeface="Montserrat"/>
              </a:rPr>
              <a:t>                            done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echo '=============================='</a:t>
            </a:r>
          </a:p>
          <a:p>
            <a:pPr algn="ctr">
              <a:lnSpc>
                <a:spcPts val="1800"/>
              </a:lnSpc>
              <a:spcBef>
                <a:spcPct val="0"/>
              </a:spcBef>
            </a:pPr>
            <a:r>
              <a:rPr lang="en-US" sz="1800" spc="-98">
                <a:solidFill>
                  <a:srgbClr val="000000"/>
                </a:solidFill>
                <a:latin typeface="Montserrat"/>
                <a:ea typeface="Montserrat"/>
                <a:cs typeface="Montserrat"/>
                <a:sym typeface="Montserrat"/>
              </a:rPr>
              <a:t>                            echo 'FALLO: la aplicacion no respondio al health dentro del tiempo esperado'</a:t>
            </a:r>
          </a:p>
          <a:p>
            <a:pPr algn="ctr">
              <a:lnSpc>
                <a:spcPts val="1800"/>
              </a:lnSpc>
              <a:spcBef>
                <a:spcPct val="0"/>
              </a:spcBef>
            </a:pPr>
            <a:r>
              <a:rPr lang="en-US" sz="1800" spc="-98">
                <a:solidFill>
                  <a:srgbClr val="000000"/>
                </a:solidFill>
                <a:latin typeface="Montserrat"/>
                <a:ea typeface="Montserrat"/>
                <a:cs typeface="Montserrat"/>
                <a:sym typeface="Montserrat"/>
              </a:rPr>
              <a:t>                            echo '---- JAR ----'</a:t>
            </a:r>
          </a:p>
          <a:p>
            <a:pPr algn="ctr">
              <a:lnSpc>
                <a:spcPts val="1800"/>
              </a:lnSpc>
              <a:spcBef>
                <a:spcPct val="0"/>
              </a:spcBef>
            </a:pPr>
            <a:r>
              <a:rPr lang="en-US" sz="1800" spc="-98">
                <a:solidFill>
                  <a:srgbClr val="000000"/>
                </a:solidFill>
                <a:latin typeface="Montserrat"/>
                <a:ea typeface="Montserrat"/>
                <a:cs typeface="Montserrat"/>
                <a:sym typeface="Montserrat"/>
              </a:rPr>
              <a:t>                            ls -l $APP_PATH/app.jar || true</a:t>
            </a:r>
          </a:p>
          <a:p>
            <a:pPr algn="ctr">
              <a:lnSpc>
                <a:spcPts val="1800"/>
              </a:lnSpc>
              <a:spcBef>
                <a:spcPct val="0"/>
              </a:spcBef>
            </a:pPr>
            <a:r>
              <a:rPr lang="en-US" sz="1800" spc="-98">
                <a:solidFill>
                  <a:srgbClr val="000000"/>
                </a:solidFill>
                <a:latin typeface="Montserrat"/>
                <a:ea typeface="Montserrat"/>
                <a:cs typeface="Montserrat"/>
                <a:sym typeface="Montserrat"/>
              </a:rPr>
              <a:t>                            echo '---- PUERTO ----'</a:t>
            </a:r>
          </a:p>
          <a:p>
            <a:pPr algn="ctr">
              <a:lnSpc>
                <a:spcPts val="1800"/>
              </a:lnSpc>
              <a:spcBef>
                <a:spcPct val="0"/>
              </a:spcBef>
            </a:pPr>
            <a:r>
              <a:rPr lang="en-US" sz="1800" spc="-98">
                <a:solidFill>
                  <a:srgbClr val="000000"/>
                </a:solidFill>
                <a:latin typeface="Montserrat"/>
                <a:ea typeface="Montserrat"/>
                <a:cs typeface="Montserrat"/>
                <a:sym typeface="Montserrat"/>
              </a:rPr>
              <a:t>                            ss -tulpn | grep ${APP_PORT} || true</a:t>
            </a:r>
          </a:p>
          <a:p>
            <a:pPr algn="ctr">
              <a:lnSpc>
                <a:spcPts val="1800"/>
              </a:lnSpc>
              <a:spcBef>
                <a:spcPct val="0"/>
              </a:spcBef>
            </a:pPr>
            <a:r>
              <a:rPr lang="en-US" sz="1800" spc="-98">
                <a:solidFill>
                  <a:srgbClr val="000000"/>
                </a:solidFill>
                <a:latin typeface="Montserrat"/>
                <a:ea typeface="Montserrat"/>
                <a:cs typeface="Montserrat"/>
                <a:sym typeface="Montserrat"/>
              </a:rPr>
              <a:t>                            echo '---- PROCESO ----'</a:t>
            </a:r>
          </a:p>
          <a:p>
            <a:pPr algn="ctr">
              <a:lnSpc>
                <a:spcPts val="1800"/>
              </a:lnSpc>
              <a:spcBef>
                <a:spcPct val="0"/>
              </a:spcBef>
            </a:pPr>
            <a:r>
              <a:rPr lang="en-US" sz="1800" spc="-98">
                <a:solidFill>
                  <a:srgbClr val="000000"/>
                </a:solidFill>
                <a:latin typeface="Montserrat"/>
                <a:ea typeface="Montserrat"/>
                <a:cs typeface="Montserrat"/>
                <a:sym typeface="Montserrat"/>
              </a:rPr>
              <a:t>                            ps -ef | grep app.jar | grep -v grep || true</a:t>
            </a:r>
          </a:p>
          <a:p>
            <a:pPr algn="ctr">
              <a:lnSpc>
                <a:spcPts val="1800"/>
              </a:lnSpc>
              <a:spcBef>
                <a:spcPct val="0"/>
              </a:spcBef>
            </a:pPr>
            <a:r>
              <a:rPr lang="en-US" sz="1800" spc="-98">
                <a:solidFill>
                  <a:srgbClr val="000000"/>
                </a:solidFill>
                <a:latin typeface="Montserrat"/>
                <a:ea typeface="Montserrat"/>
                <a:cs typeface="Montserrat"/>
                <a:sym typeface="Montserrat"/>
              </a:rPr>
              <a:t>                            echo '---- LOG ----'</a:t>
            </a:r>
          </a:p>
          <a:p>
            <a:pPr algn="ctr">
              <a:lnSpc>
                <a:spcPts val="1800"/>
              </a:lnSpc>
              <a:spcBef>
                <a:spcPct val="0"/>
              </a:spcBef>
            </a:pPr>
            <a:r>
              <a:rPr lang="en-US" sz="1800" spc="-98">
                <a:solidFill>
                  <a:srgbClr val="000000"/>
                </a:solidFill>
                <a:latin typeface="Montserrat"/>
                <a:ea typeface="Montserrat"/>
                <a:cs typeface="Montserrat"/>
                <a:sym typeface="Montserrat"/>
              </a:rPr>
              <a:t>                            tail -n 100 /tmp/app.log || true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exit 1</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stage('Validar Acceso desde Jenkins') {</a:t>
            </a:r>
          </a:p>
          <a:p>
            <a:pPr algn="ctr">
              <a:lnSpc>
                <a:spcPts val="1800"/>
              </a:lnSpc>
              <a:spcBef>
                <a:spcPct val="0"/>
              </a:spcBef>
            </a:pPr>
            <a:r>
              <a:rPr lang="en-US" sz="1800" spc="-98">
                <a:solidFill>
                  <a:srgbClr val="000000"/>
                </a:solidFill>
                <a:latin typeface="Montserrat"/>
                <a:ea typeface="Montserrat"/>
                <a:cs typeface="Montserrat"/>
                <a:sym typeface="Montserrat"/>
              </a:rPr>
              <a:t>            when {</a:t>
            </a:r>
          </a:p>
          <a:p>
            <a:pPr algn="ctr">
              <a:lnSpc>
                <a:spcPts val="1800"/>
              </a:lnSpc>
              <a:spcBef>
                <a:spcPct val="0"/>
              </a:spcBef>
            </a:pPr>
            <a:r>
              <a:rPr lang="en-US" sz="1800" spc="-98">
                <a:solidFill>
                  <a:srgbClr val="000000"/>
                </a:solidFill>
                <a:latin typeface="Montserrat"/>
                <a:ea typeface="Montserrat"/>
                <a:cs typeface="Montserrat"/>
                <a:sym typeface="Montserrat"/>
              </a:rPr>
              <a:t>                expression { params.ENABLE_DEPLOY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steps {</a:t>
            </a:r>
          </a:p>
          <a:p>
            <a:pPr algn="ctr">
              <a:lnSpc>
                <a:spcPts val="1800"/>
              </a:lnSpc>
              <a:spcBef>
                <a:spcPct val="0"/>
              </a:spcBef>
            </a:pPr>
            <a:r>
              <a:rPr lang="en-US" sz="1800" spc="-98">
                <a:solidFill>
                  <a:srgbClr val="000000"/>
                </a:solidFill>
                <a:latin typeface="Montserrat"/>
                <a:ea typeface="Montserrat"/>
                <a:cs typeface="Montserrat"/>
                <a:sym typeface="Montserrat"/>
              </a:rPr>
              <a:t>                sh '''</a:t>
            </a:r>
          </a:p>
          <a:p>
            <a:pPr algn="ctr">
              <a:lnSpc>
                <a:spcPts val="1800"/>
              </a:lnSpc>
              <a:spcBef>
                <a:spcPct val="0"/>
              </a:spcBef>
            </a:pPr>
            <a:r>
              <a:rPr lang="en-US" sz="1800" spc="-98">
                <a:solidFill>
                  <a:srgbClr val="000000"/>
                </a:solidFill>
                <a:latin typeface="Montserrat"/>
                <a:ea typeface="Montserrat"/>
                <a:cs typeface="Montserrat"/>
                <a:sym typeface="Montserrat"/>
              </a:rPr>
              <a:t>                    set -eux</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echo "========== HEALTH DESDE JENKINS =========="</a:t>
            </a:r>
          </a:p>
          <a:p>
            <a:pPr algn="ctr">
              <a:lnSpc>
                <a:spcPts val="1800"/>
              </a:lnSpc>
              <a:spcBef>
                <a:spcPct val="0"/>
              </a:spcBef>
            </a:pPr>
            <a:r>
              <a:rPr lang="en-US" sz="1800" spc="-98">
                <a:solidFill>
                  <a:srgbClr val="000000"/>
                </a:solidFill>
                <a:latin typeface="Montserrat"/>
                <a:ea typeface="Montserrat"/>
                <a:cs typeface="Montserrat"/>
                <a:sym typeface="Montserrat"/>
              </a:rPr>
              <a:t>                    for i in $(seq 1 12); do</a:t>
            </a:r>
          </a:p>
          <a:p>
            <a:pPr algn="ctr">
              <a:lnSpc>
                <a:spcPts val="1800"/>
              </a:lnSpc>
              <a:spcBef>
                <a:spcPct val="0"/>
              </a:spcBef>
            </a:pPr>
            <a:r>
              <a:rPr lang="en-US" sz="1800" spc="-98">
                <a:solidFill>
                  <a:srgbClr val="000000"/>
                </a:solidFill>
                <a:latin typeface="Montserrat"/>
                <a:ea typeface="Montserrat"/>
                <a:cs typeface="Montserrat"/>
                <a:sym typeface="Montserrat"/>
              </a:rPr>
              <a:t>                      echo "Intento $i desde Jenkins"</a:t>
            </a:r>
          </a:p>
          <a:p>
            <a:pPr algn="ctr">
              <a:lnSpc>
                <a:spcPts val="1800"/>
              </a:lnSpc>
              <a:spcBef>
                <a:spcPct val="0"/>
              </a:spcBef>
            </a:pPr>
            <a:r>
              <a:rPr lang="en-US" sz="1800" spc="-98">
                <a:solidFill>
                  <a:srgbClr val="000000"/>
                </a:solidFill>
                <a:latin typeface="Montserrat"/>
                <a:ea typeface="Montserrat"/>
                <a:cs typeface="Montserrat"/>
                <a:sym typeface="Montserrat"/>
              </a:rPr>
              <a:t>                      curl -v --max-time 10 "http://host.docker.internal:${APP_PORT}${APP_HEALTH}" &amp;&amp; exit 0</a:t>
            </a:r>
          </a:p>
          <a:p>
            <a:pPr algn="ctr">
              <a:lnSpc>
                <a:spcPts val="1800"/>
              </a:lnSpc>
              <a:spcBef>
                <a:spcPct val="0"/>
              </a:spcBef>
            </a:pPr>
            <a:r>
              <a:rPr lang="en-US" sz="1800" spc="-98">
                <a:solidFill>
                  <a:srgbClr val="000000"/>
                </a:solidFill>
                <a:latin typeface="Montserrat"/>
                <a:ea typeface="Montserrat"/>
                <a:cs typeface="Montserrat"/>
                <a:sym typeface="Montserrat"/>
              </a:rPr>
              <a:t>                      sleep 5</a:t>
            </a:r>
          </a:p>
          <a:p>
            <a:pPr algn="ctr">
              <a:lnSpc>
                <a:spcPts val="1800"/>
              </a:lnSpc>
              <a:spcBef>
                <a:spcPct val="0"/>
              </a:spcBef>
            </a:pPr>
            <a:r>
              <a:rPr lang="en-US" sz="1800" spc="-98">
                <a:solidFill>
                  <a:srgbClr val="000000"/>
                </a:solidFill>
                <a:latin typeface="Montserrat"/>
                <a:ea typeface="Montserrat"/>
                <a:cs typeface="Montserrat"/>
                <a:sym typeface="Montserrat"/>
              </a:rPr>
              <a:t>                    done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echo "FALLO: Jenkins no pudo acceder al health de la aplicacion"</a:t>
            </a:r>
          </a:p>
          <a:p>
            <a:pPr algn="ctr">
              <a:lnSpc>
                <a:spcPts val="1800"/>
              </a:lnSpc>
              <a:spcBef>
                <a:spcPct val="0"/>
              </a:spcBef>
            </a:pPr>
            <a:r>
              <a:rPr lang="en-US" sz="1800" spc="-98">
                <a:solidFill>
                  <a:srgbClr val="000000"/>
                </a:solidFill>
                <a:latin typeface="Montserrat"/>
                <a:ea typeface="Montserrat"/>
                <a:cs typeface="Montserrat"/>
                <a:sym typeface="Montserrat"/>
              </a:rPr>
              <a:t>                    exit 1</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stage('DAST - OWASP ZAP') {</a:t>
            </a:r>
          </a:p>
          <a:p>
            <a:pPr algn="ctr">
              <a:lnSpc>
                <a:spcPts val="1800"/>
              </a:lnSpc>
              <a:spcBef>
                <a:spcPct val="0"/>
              </a:spcBef>
            </a:pPr>
            <a:r>
              <a:rPr lang="en-US" sz="1800" spc="-98">
                <a:solidFill>
                  <a:srgbClr val="000000"/>
                </a:solidFill>
                <a:latin typeface="Montserrat"/>
                <a:ea typeface="Montserrat"/>
                <a:cs typeface="Montserrat"/>
                <a:sym typeface="Montserrat"/>
              </a:rPr>
              <a:t>            when {</a:t>
            </a:r>
          </a:p>
          <a:p>
            <a:pPr algn="ctr">
              <a:lnSpc>
                <a:spcPts val="1800"/>
              </a:lnSpc>
              <a:spcBef>
                <a:spcPct val="0"/>
              </a:spcBef>
            </a:pPr>
            <a:r>
              <a:rPr lang="en-US" sz="1800" spc="-98">
                <a:solidFill>
                  <a:srgbClr val="000000"/>
                </a:solidFill>
                <a:latin typeface="Montserrat"/>
                <a:ea typeface="Montserrat"/>
                <a:cs typeface="Montserrat"/>
                <a:sym typeface="Montserrat"/>
              </a:rPr>
              <a:t>                allOf {</a:t>
            </a:r>
          </a:p>
          <a:p>
            <a:pPr algn="ctr">
              <a:lnSpc>
                <a:spcPts val="1800"/>
              </a:lnSpc>
              <a:spcBef>
                <a:spcPct val="0"/>
              </a:spcBef>
            </a:pPr>
            <a:r>
              <a:rPr lang="en-US" sz="1800" spc="-98">
                <a:solidFill>
                  <a:srgbClr val="000000"/>
                </a:solidFill>
                <a:latin typeface="Montserrat"/>
                <a:ea typeface="Montserrat"/>
                <a:cs typeface="Montserrat"/>
                <a:sym typeface="Montserrat"/>
              </a:rPr>
              <a:t>                    expression { params.ENABLE_DEPLOY }</a:t>
            </a:r>
          </a:p>
          <a:p>
            <a:pPr algn="ctr">
              <a:lnSpc>
                <a:spcPts val="1800"/>
              </a:lnSpc>
              <a:spcBef>
                <a:spcPct val="0"/>
              </a:spcBef>
            </a:pPr>
            <a:r>
              <a:rPr lang="en-US" sz="1800" spc="-98">
                <a:solidFill>
                  <a:srgbClr val="000000"/>
                </a:solidFill>
                <a:latin typeface="Montserrat"/>
                <a:ea typeface="Montserrat"/>
                <a:cs typeface="Montserrat"/>
                <a:sym typeface="Montserrat"/>
              </a:rPr>
              <a:t>                    expression { params.ENABLE_DAST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steps {</a:t>
            </a:r>
          </a:p>
          <a:p>
            <a:pPr algn="ctr">
              <a:lnSpc>
                <a:spcPts val="1800"/>
              </a:lnSpc>
              <a:spcBef>
                <a:spcPct val="0"/>
              </a:spcBef>
            </a:pPr>
            <a:r>
              <a:rPr lang="en-US" sz="1800" spc="-98">
                <a:solidFill>
                  <a:srgbClr val="000000"/>
                </a:solidFill>
                <a:latin typeface="Montserrat"/>
                <a:ea typeface="Montserrat"/>
                <a:cs typeface="Montserrat"/>
                <a:sym typeface="Montserrat"/>
              </a:rPr>
              <a:t>                sh '''</a:t>
            </a:r>
          </a:p>
          <a:p>
            <a:pPr algn="ctr">
              <a:lnSpc>
                <a:spcPts val="1800"/>
              </a:lnSpc>
              <a:spcBef>
                <a:spcPct val="0"/>
              </a:spcBef>
            </a:pPr>
            <a:r>
              <a:rPr lang="en-US" sz="1800" spc="-98">
                <a:solidFill>
                  <a:srgbClr val="000000"/>
                </a:solidFill>
                <a:latin typeface="Montserrat"/>
                <a:ea typeface="Montserrat"/>
                <a:cs typeface="Montserrat"/>
                <a:sym typeface="Montserrat"/>
              </a:rPr>
              <a:t>                    set +e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docker rm -f zap_scan zap_export &gt;/dev/null 2&gt;&amp;1 || true</a:t>
            </a:r>
          </a:p>
          <a:p>
            <a:pPr algn="ctr">
              <a:lnSpc>
                <a:spcPts val="1800"/>
              </a:lnSpc>
              <a:spcBef>
                <a:spcPct val="0"/>
              </a:spcBef>
            </a:pPr>
            <a:r>
              <a:rPr lang="en-US" sz="1800" spc="-98">
                <a:solidFill>
                  <a:srgbClr val="000000"/>
                </a:solidFill>
                <a:latin typeface="Montserrat"/>
                <a:ea typeface="Montserrat"/>
                <a:cs typeface="Montserrat"/>
                <a:sym typeface="Montserrat"/>
              </a:rPr>
              <a:t>                    docker volume rm zap_reports &gt;/dev/null 2&gt;&amp;1 || true</a:t>
            </a:r>
          </a:p>
          <a:p>
            <a:pPr algn="ctr">
              <a:lnSpc>
                <a:spcPts val="1800"/>
              </a:lnSpc>
              <a:spcBef>
                <a:spcPct val="0"/>
              </a:spcBef>
            </a:pPr>
            <a:r>
              <a:rPr lang="en-US" sz="1800" spc="-98">
                <a:solidFill>
                  <a:srgbClr val="000000"/>
                </a:solidFill>
                <a:latin typeface="Montserrat"/>
                <a:ea typeface="Montserrat"/>
                <a:cs typeface="Montserrat"/>
                <a:sym typeface="Montserrat"/>
              </a:rPr>
              <a:t>                    rm -f "$REPORTS_DIR/zap_report.json" "$REPORTS_DIR/zap_report.html" || true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docker volume create zap_reports</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docker run --name zap_scan \</a:t>
            </a:r>
          </a:p>
          <a:p>
            <a:pPr algn="ctr">
              <a:lnSpc>
                <a:spcPts val="1800"/>
              </a:lnSpc>
              <a:spcBef>
                <a:spcPct val="0"/>
              </a:spcBef>
            </a:pPr>
            <a:r>
              <a:rPr lang="en-US" sz="1800" spc="-98">
                <a:solidFill>
                  <a:srgbClr val="000000"/>
                </a:solidFill>
                <a:latin typeface="Montserrat"/>
                <a:ea typeface="Montserrat"/>
                <a:cs typeface="Montserrat"/>
                <a:sym typeface="Montserrat"/>
              </a:rPr>
              <a:t>                      -u 0:0 \</a:t>
            </a:r>
          </a:p>
          <a:p>
            <a:pPr algn="ctr">
              <a:lnSpc>
                <a:spcPts val="1800"/>
              </a:lnSpc>
              <a:spcBef>
                <a:spcPct val="0"/>
              </a:spcBef>
            </a:pPr>
            <a:r>
              <a:rPr lang="en-US" sz="1800" spc="-98">
                <a:solidFill>
                  <a:srgbClr val="000000"/>
                </a:solidFill>
                <a:latin typeface="Montserrat"/>
                <a:ea typeface="Montserrat"/>
                <a:cs typeface="Montserrat"/>
                <a:sym typeface="Montserrat"/>
              </a:rPr>
              <a:t>                      -v zap_reports:/zap/wrk \</a:t>
            </a:r>
          </a:p>
          <a:p>
            <a:pPr algn="ctr">
              <a:lnSpc>
                <a:spcPts val="1800"/>
              </a:lnSpc>
              <a:spcBef>
                <a:spcPct val="0"/>
              </a:spcBef>
            </a:pPr>
            <a:r>
              <a:rPr lang="en-US" sz="1800" spc="-98">
                <a:solidFill>
                  <a:srgbClr val="000000"/>
                </a:solidFill>
                <a:latin typeface="Montserrat"/>
                <a:ea typeface="Montserrat"/>
                <a:cs typeface="Montserrat"/>
                <a:sym typeface="Montserrat"/>
              </a:rPr>
              <a:t>                      ghcr.io/zaproxy/zaproxy:stable \</a:t>
            </a:r>
          </a:p>
          <a:p>
            <a:pPr algn="ctr">
              <a:lnSpc>
                <a:spcPts val="1800"/>
              </a:lnSpc>
              <a:spcBef>
                <a:spcPct val="0"/>
              </a:spcBef>
            </a:pPr>
            <a:r>
              <a:rPr lang="en-US" sz="1800" spc="-98">
                <a:solidFill>
                  <a:srgbClr val="000000"/>
                </a:solidFill>
                <a:latin typeface="Montserrat"/>
                <a:ea typeface="Montserrat"/>
                <a:cs typeface="Montserrat"/>
                <a:sym typeface="Montserrat"/>
              </a:rPr>
              <a:t>                      zap-baseline.py \</a:t>
            </a:r>
          </a:p>
          <a:p>
            <a:pPr algn="ctr">
              <a:lnSpc>
                <a:spcPts val="1800"/>
              </a:lnSpc>
              <a:spcBef>
                <a:spcPct val="0"/>
              </a:spcBef>
            </a:pPr>
            <a:r>
              <a:rPr lang="en-US" sz="1800" spc="-98">
                <a:solidFill>
                  <a:srgbClr val="000000"/>
                </a:solidFill>
                <a:latin typeface="Montserrat"/>
                <a:ea typeface="Montserrat"/>
                <a:cs typeface="Montserrat"/>
                <a:sym typeface="Montserrat"/>
              </a:rPr>
              <a:t>                      -t "http://host.docker.internal:${APP_PORT}${APP_HEALTH}" \</a:t>
            </a:r>
          </a:p>
          <a:p>
            <a:pPr algn="ctr">
              <a:lnSpc>
                <a:spcPts val="1800"/>
              </a:lnSpc>
              <a:spcBef>
                <a:spcPct val="0"/>
              </a:spcBef>
            </a:pPr>
            <a:r>
              <a:rPr lang="en-US" sz="1800" spc="-98">
                <a:solidFill>
                  <a:srgbClr val="000000"/>
                </a:solidFill>
                <a:latin typeface="Montserrat"/>
                <a:ea typeface="Montserrat"/>
                <a:cs typeface="Montserrat"/>
                <a:sym typeface="Montserrat"/>
              </a:rPr>
              <a:t>                      -J zap_report.json \</a:t>
            </a:r>
          </a:p>
          <a:p>
            <a:pPr algn="ctr">
              <a:lnSpc>
                <a:spcPts val="1800"/>
              </a:lnSpc>
              <a:spcBef>
                <a:spcPct val="0"/>
              </a:spcBef>
            </a:pPr>
            <a:r>
              <a:rPr lang="en-US" sz="1800" spc="-98">
                <a:solidFill>
                  <a:srgbClr val="000000"/>
                </a:solidFill>
                <a:latin typeface="Montserrat"/>
                <a:ea typeface="Montserrat"/>
                <a:cs typeface="Montserrat"/>
                <a:sym typeface="Montserrat"/>
              </a:rPr>
              <a:t>                      -r zap_report.html</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ZAP_EXIT=$?</a:t>
            </a:r>
          </a:p>
          <a:p>
            <a:pPr algn="ctr">
              <a:lnSpc>
                <a:spcPts val="1800"/>
              </a:lnSpc>
              <a:spcBef>
                <a:spcPct val="0"/>
              </a:spcBef>
            </a:pPr>
            <a:r>
              <a:rPr lang="en-US" sz="1800" spc="-98">
                <a:solidFill>
                  <a:srgbClr val="000000"/>
                </a:solidFill>
                <a:latin typeface="Montserrat"/>
                <a:ea typeface="Montserrat"/>
                <a:cs typeface="Montserrat"/>
                <a:sym typeface="Montserrat"/>
              </a:rPr>
              <a:t>                    echo "ZAP exit code: $ZAP_EXIT"</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docker create --name zap_export -v zap_reports:/from alpine:3.20 sh &gt;/dev/null</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docker cp zap_export:/from/zap_report.json "$REPORTS_DIR/zap_report.json" || true</a:t>
            </a:r>
          </a:p>
          <a:p>
            <a:pPr algn="ctr">
              <a:lnSpc>
                <a:spcPts val="1800"/>
              </a:lnSpc>
              <a:spcBef>
                <a:spcPct val="0"/>
              </a:spcBef>
            </a:pPr>
            <a:r>
              <a:rPr lang="en-US" sz="1800" spc="-98">
                <a:solidFill>
                  <a:srgbClr val="000000"/>
                </a:solidFill>
                <a:latin typeface="Montserrat"/>
                <a:ea typeface="Montserrat"/>
                <a:cs typeface="Montserrat"/>
                <a:sym typeface="Montserrat"/>
              </a:rPr>
              <a:t>                    docker cp zap_export:/from/zap_report.html "$REPORTS_DIR/zap_report.html" || true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docker start zap_export &gt;/dev/null 2&gt;&amp;1 || true</a:t>
            </a:r>
          </a:p>
          <a:p>
            <a:pPr algn="ctr">
              <a:lnSpc>
                <a:spcPts val="1800"/>
              </a:lnSpc>
              <a:spcBef>
                <a:spcPct val="0"/>
              </a:spcBef>
            </a:pPr>
            <a:r>
              <a:rPr lang="en-US" sz="1800" spc="-98">
                <a:solidFill>
                  <a:srgbClr val="000000"/>
                </a:solidFill>
                <a:latin typeface="Montserrat"/>
                <a:ea typeface="Montserrat"/>
                <a:cs typeface="Montserrat"/>
                <a:sym typeface="Montserrat"/>
              </a:rPr>
              <a:t>                    docker exec zap_export sh -c 'ls -lah /from || true' || true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docker rm -f zap_scan zap_export &gt;/dev/null 2&gt;&amp;1 || true</a:t>
            </a:r>
          </a:p>
          <a:p>
            <a:pPr algn="ctr">
              <a:lnSpc>
                <a:spcPts val="1800"/>
              </a:lnSpc>
              <a:spcBef>
                <a:spcPct val="0"/>
              </a:spcBef>
            </a:pPr>
            <a:r>
              <a:rPr lang="en-US" sz="1800" spc="-98">
                <a:solidFill>
                  <a:srgbClr val="000000"/>
                </a:solidFill>
                <a:latin typeface="Montserrat"/>
                <a:ea typeface="Montserrat"/>
                <a:cs typeface="Montserrat"/>
                <a:sym typeface="Montserrat"/>
              </a:rPr>
              <a:t>                    docker volume rm zap_reports &gt;/dev/null 2&gt;&amp;1 || true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ls -lah "$REPORTS_DIR" || true</a:t>
            </a:r>
          </a:p>
          <a:p>
            <a:pPr algn="ctr">
              <a:lnSpc>
                <a:spcPts val="1800"/>
              </a:lnSpc>
              <a:spcBef>
                <a:spcPct val="0"/>
              </a:spcBef>
            </a:pPr>
            <a:r>
              <a:rPr lang="en-US" sz="1800" spc="-98">
                <a:solidFill>
                  <a:srgbClr val="000000"/>
                </a:solidFill>
                <a:latin typeface="Montserrat"/>
                <a:ea typeface="Montserrat"/>
                <a:cs typeface="Montserrat"/>
                <a:sym typeface="Montserrat"/>
              </a:rPr>
              <a:t>                    exit 0</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stage('Subir a DefectDojo') {</a:t>
            </a:r>
          </a:p>
          <a:p>
            <a:pPr algn="ctr">
              <a:lnSpc>
                <a:spcPts val="1800"/>
              </a:lnSpc>
              <a:spcBef>
                <a:spcPct val="0"/>
              </a:spcBef>
            </a:pPr>
            <a:r>
              <a:rPr lang="en-US" sz="1800" spc="-98">
                <a:solidFill>
                  <a:srgbClr val="000000"/>
                </a:solidFill>
                <a:latin typeface="Montserrat"/>
                <a:ea typeface="Montserrat"/>
                <a:cs typeface="Montserrat"/>
                <a:sym typeface="Montserrat"/>
              </a:rPr>
              <a:t>            when {</a:t>
            </a:r>
          </a:p>
          <a:p>
            <a:pPr algn="ctr">
              <a:lnSpc>
                <a:spcPts val="1800"/>
              </a:lnSpc>
              <a:spcBef>
                <a:spcPct val="0"/>
              </a:spcBef>
            </a:pPr>
            <a:r>
              <a:rPr lang="en-US" sz="1800" spc="-98">
                <a:solidFill>
                  <a:srgbClr val="000000"/>
                </a:solidFill>
                <a:latin typeface="Montserrat"/>
                <a:ea typeface="Montserrat"/>
                <a:cs typeface="Montserrat"/>
                <a:sym typeface="Montserrat"/>
              </a:rPr>
              <a:t>                expression { params.ENABLE_DEFECTDOJO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steps {</a:t>
            </a:r>
          </a:p>
          <a:p>
            <a:pPr algn="ctr">
              <a:lnSpc>
                <a:spcPts val="1800"/>
              </a:lnSpc>
              <a:spcBef>
                <a:spcPct val="0"/>
              </a:spcBef>
            </a:pPr>
            <a:r>
              <a:rPr lang="en-US" sz="1800" spc="-98">
                <a:solidFill>
                  <a:srgbClr val="000000"/>
                </a:solidFill>
                <a:latin typeface="Montserrat"/>
                <a:ea typeface="Montserrat"/>
                <a:cs typeface="Montserrat"/>
                <a:sym typeface="Montserrat"/>
              </a:rPr>
              <a:t>                sh '''</a:t>
            </a:r>
          </a:p>
          <a:p>
            <a:pPr algn="ctr">
              <a:lnSpc>
                <a:spcPts val="1800"/>
              </a:lnSpc>
              <a:spcBef>
                <a:spcPct val="0"/>
              </a:spcBef>
            </a:pPr>
            <a:r>
              <a:rPr lang="en-US" sz="1800" spc="-98">
                <a:solidFill>
                  <a:srgbClr val="000000"/>
                </a:solidFill>
                <a:latin typeface="Montserrat"/>
                <a:ea typeface="Montserrat"/>
                <a:cs typeface="Montserrat"/>
                <a:sym typeface="Montserrat"/>
              </a:rPr>
              <a:t>                    set +e</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curl -sS -H "Authorization: Token $DOJO_API_KEY" \</a:t>
            </a:r>
          </a:p>
          <a:p>
            <a:pPr algn="ctr">
              <a:lnSpc>
                <a:spcPts val="1800"/>
              </a:lnSpc>
              <a:spcBef>
                <a:spcPct val="0"/>
              </a:spcBef>
            </a:pPr>
            <a:r>
              <a:rPr lang="en-US" sz="1800" spc="-98">
                <a:solidFill>
                  <a:srgbClr val="000000"/>
                </a:solidFill>
                <a:latin typeface="Montserrat"/>
                <a:ea typeface="Montserrat"/>
                <a:cs typeface="Montserrat"/>
                <a:sym typeface="Montserrat"/>
              </a:rPr>
              <a:t>                      "$DOJO_URL/api/v2/products/" | head -c 500 || true</a:t>
            </a:r>
          </a:p>
          <a:p>
            <a:pPr algn="ctr">
              <a:lnSpc>
                <a:spcPts val="1800"/>
              </a:lnSpc>
              <a:spcBef>
                <a:spcPct val="0"/>
              </a:spcBef>
            </a:pPr>
            <a:r>
              <a:rPr lang="en-US" sz="1800" spc="-98">
                <a:solidFill>
                  <a:srgbClr val="000000"/>
                </a:solidFill>
                <a:latin typeface="Montserrat"/>
                <a:ea typeface="Montserrat"/>
                <a:cs typeface="Montserrat"/>
                <a:sym typeface="Montserrat"/>
              </a:rPr>
              <a:t>                    echo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if [ -f "$REPORTS_DIR/semgrep_report.json" ]; then</a:t>
            </a:r>
          </a:p>
          <a:p>
            <a:pPr algn="ctr">
              <a:lnSpc>
                <a:spcPts val="1800"/>
              </a:lnSpc>
              <a:spcBef>
                <a:spcPct val="0"/>
              </a:spcBef>
            </a:pPr>
            <a:r>
              <a:rPr lang="en-US" sz="1800" spc="-98">
                <a:solidFill>
                  <a:srgbClr val="000000"/>
                </a:solidFill>
                <a:latin typeface="Montserrat"/>
                <a:ea typeface="Montserrat"/>
                <a:cs typeface="Montserrat"/>
                <a:sym typeface="Montserrat"/>
              </a:rPr>
              <a:t>                      curl -sS -X POST "$DOJO_URL/api/v2/import-scan/" \</a:t>
            </a:r>
          </a:p>
          <a:p>
            <a:pPr algn="ctr">
              <a:lnSpc>
                <a:spcPts val="1800"/>
              </a:lnSpc>
              <a:spcBef>
                <a:spcPct val="0"/>
              </a:spcBef>
            </a:pPr>
            <a:r>
              <a:rPr lang="en-US" sz="1800" spc="-98">
                <a:solidFill>
                  <a:srgbClr val="000000"/>
                </a:solidFill>
                <a:latin typeface="Montserrat"/>
                <a:ea typeface="Montserrat"/>
                <a:cs typeface="Montserrat"/>
                <a:sym typeface="Montserrat"/>
              </a:rPr>
              <a:t>                        -H "Authorization: Token $DOJO_API_KEY" \</a:t>
            </a:r>
          </a:p>
          <a:p>
            <a:pPr algn="ctr">
              <a:lnSpc>
                <a:spcPts val="1800"/>
              </a:lnSpc>
              <a:spcBef>
                <a:spcPct val="0"/>
              </a:spcBef>
            </a:pPr>
            <a:r>
              <a:rPr lang="en-US" sz="1800" spc="-98">
                <a:solidFill>
                  <a:srgbClr val="000000"/>
                </a:solidFill>
                <a:latin typeface="Montserrat"/>
                <a:ea typeface="Montserrat"/>
                <a:cs typeface="Montserrat"/>
                <a:sym typeface="Montserrat"/>
              </a:rPr>
              <a:t>                        -F "scan_type=Semgrep JSON Report" \</a:t>
            </a:r>
          </a:p>
          <a:p>
            <a:pPr algn="ctr">
              <a:lnSpc>
                <a:spcPts val="1800"/>
              </a:lnSpc>
              <a:spcBef>
                <a:spcPct val="0"/>
              </a:spcBef>
            </a:pPr>
            <a:r>
              <a:rPr lang="en-US" sz="1800" spc="-98">
                <a:solidFill>
                  <a:srgbClr val="000000"/>
                </a:solidFill>
                <a:latin typeface="Montserrat"/>
                <a:ea typeface="Montserrat"/>
                <a:cs typeface="Montserrat"/>
                <a:sym typeface="Montserrat"/>
              </a:rPr>
              <a:t>                        -F "file=@$REPORTS_DIR/semgrep_report.json" \</a:t>
            </a:r>
          </a:p>
          <a:p>
            <a:pPr algn="ctr">
              <a:lnSpc>
                <a:spcPts val="1800"/>
              </a:lnSpc>
              <a:spcBef>
                <a:spcPct val="0"/>
              </a:spcBef>
            </a:pPr>
            <a:r>
              <a:rPr lang="en-US" sz="1800" spc="-98">
                <a:solidFill>
                  <a:srgbClr val="000000"/>
                </a:solidFill>
                <a:latin typeface="Montserrat"/>
                <a:ea typeface="Montserrat"/>
                <a:cs typeface="Montserrat"/>
                <a:sym typeface="Montserrat"/>
              </a:rPr>
              <a:t>                        -F "engagement=$DOJO_ENGAGEMENT_ID" \</a:t>
            </a:r>
          </a:p>
          <a:p>
            <a:pPr algn="ctr">
              <a:lnSpc>
                <a:spcPts val="1800"/>
              </a:lnSpc>
              <a:spcBef>
                <a:spcPct val="0"/>
              </a:spcBef>
            </a:pPr>
            <a:r>
              <a:rPr lang="en-US" sz="1800" spc="-98">
                <a:solidFill>
                  <a:srgbClr val="000000"/>
                </a:solidFill>
                <a:latin typeface="Montserrat"/>
                <a:ea typeface="Montserrat"/>
                <a:cs typeface="Montserrat"/>
                <a:sym typeface="Montserrat"/>
              </a:rPr>
              <a:t>                        -F "active=true" \</a:t>
            </a:r>
          </a:p>
          <a:p>
            <a:pPr algn="ctr">
              <a:lnSpc>
                <a:spcPts val="1800"/>
              </a:lnSpc>
              <a:spcBef>
                <a:spcPct val="0"/>
              </a:spcBef>
            </a:pPr>
            <a:r>
              <a:rPr lang="en-US" sz="1800" spc="-98">
                <a:solidFill>
                  <a:srgbClr val="000000"/>
                </a:solidFill>
                <a:latin typeface="Montserrat"/>
                <a:ea typeface="Montserrat"/>
                <a:cs typeface="Montserrat"/>
                <a:sym typeface="Montserrat"/>
              </a:rPr>
              <a:t>                        -F "verified=true" \</a:t>
            </a:r>
          </a:p>
          <a:p>
            <a:pPr algn="ctr">
              <a:lnSpc>
                <a:spcPts val="1800"/>
              </a:lnSpc>
              <a:spcBef>
                <a:spcPct val="0"/>
              </a:spcBef>
            </a:pPr>
            <a:r>
              <a:rPr lang="en-US" sz="1800" spc="-98">
                <a:solidFill>
                  <a:srgbClr val="000000"/>
                </a:solidFill>
                <a:latin typeface="Montserrat"/>
                <a:ea typeface="Montserrat"/>
                <a:cs typeface="Montserrat"/>
                <a:sym typeface="Montserrat"/>
              </a:rPr>
              <a:t>                        -F "close_old_findings=false"</a:t>
            </a:r>
          </a:p>
          <a:p>
            <a:pPr algn="ctr">
              <a:lnSpc>
                <a:spcPts val="1800"/>
              </a:lnSpc>
              <a:spcBef>
                <a:spcPct val="0"/>
              </a:spcBef>
            </a:pPr>
            <a:r>
              <a:rPr lang="en-US" sz="1800" spc="-98">
                <a:solidFill>
                  <a:srgbClr val="000000"/>
                </a:solidFill>
                <a:latin typeface="Montserrat"/>
                <a:ea typeface="Montserrat"/>
                <a:cs typeface="Montserrat"/>
                <a:sym typeface="Montserrat"/>
              </a:rPr>
              <a:t>                      echo ""</a:t>
            </a:r>
          </a:p>
          <a:p>
            <a:pPr algn="ctr">
              <a:lnSpc>
                <a:spcPts val="1800"/>
              </a:lnSpc>
              <a:spcBef>
                <a:spcPct val="0"/>
              </a:spcBef>
            </a:pPr>
            <a:r>
              <a:rPr lang="en-US" sz="1800" spc="-98">
                <a:solidFill>
                  <a:srgbClr val="000000"/>
                </a:solidFill>
                <a:latin typeface="Montserrat"/>
                <a:ea typeface="Montserrat"/>
                <a:cs typeface="Montserrat"/>
                <a:sym typeface="Montserrat"/>
              </a:rPr>
              <a:t>                    fi</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if [ -f "$REPORTS_DIR/trivy_report.json" ]; then</a:t>
            </a:r>
          </a:p>
          <a:p>
            <a:pPr algn="ctr">
              <a:lnSpc>
                <a:spcPts val="1800"/>
              </a:lnSpc>
              <a:spcBef>
                <a:spcPct val="0"/>
              </a:spcBef>
            </a:pPr>
            <a:r>
              <a:rPr lang="en-US" sz="1800" spc="-98">
                <a:solidFill>
                  <a:srgbClr val="000000"/>
                </a:solidFill>
                <a:latin typeface="Montserrat"/>
                <a:ea typeface="Montserrat"/>
                <a:cs typeface="Montserrat"/>
                <a:sym typeface="Montserrat"/>
              </a:rPr>
              <a:t>                      curl -sS -X POST "$DOJO_URL/api/v2/import-scan/" \</a:t>
            </a:r>
          </a:p>
          <a:p>
            <a:pPr algn="ctr">
              <a:lnSpc>
                <a:spcPts val="1800"/>
              </a:lnSpc>
              <a:spcBef>
                <a:spcPct val="0"/>
              </a:spcBef>
            </a:pPr>
            <a:r>
              <a:rPr lang="en-US" sz="1800" spc="-98">
                <a:solidFill>
                  <a:srgbClr val="000000"/>
                </a:solidFill>
                <a:latin typeface="Montserrat"/>
                <a:ea typeface="Montserrat"/>
                <a:cs typeface="Montserrat"/>
                <a:sym typeface="Montserrat"/>
              </a:rPr>
              <a:t>                        -H "Authorization: Token $DOJO_API_KEY" \</a:t>
            </a:r>
          </a:p>
          <a:p>
            <a:pPr algn="ctr">
              <a:lnSpc>
                <a:spcPts val="1800"/>
              </a:lnSpc>
              <a:spcBef>
                <a:spcPct val="0"/>
              </a:spcBef>
            </a:pPr>
            <a:r>
              <a:rPr lang="en-US" sz="1800" spc="-98">
                <a:solidFill>
                  <a:srgbClr val="000000"/>
                </a:solidFill>
                <a:latin typeface="Montserrat"/>
                <a:ea typeface="Montserrat"/>
                <a:cs typeface="Montserrat"/>
                <a:sym typeface="Montserrat"/>
              </a:rPr>
              <a:t>                        -F "scan_type=Trivy Scan" \</a:t>
            </a:r>
          </a:p>
          <a:p>
            <a:pPr algn="ctr">
              <a:lnSpc>
                <a:spcPts val="1800"/>
              </a:lnSpc>
              <a:spcBef>
                <a:spcPct val="0"/>
              </a:spcBef>
            </a:pPr>
            <a:r>
              <a:rPr lang="en-US" sz="1800" spc="-98">
                <a:solidFill>
                  <a:srgbClr val="000000"/>
                </a:solidFill>
                <a:latin typeface="Montserrat"/>
                <a:ea typeface="Montserrat"/>
                <a:cs typeface="Montserrat"/>
                <a:sym typeface="Montserrat"/>
              </a:rPr>
              <a:t>                        -F "file=@$REPORTS_DIR/trivy_report.json" \</a:t>
            </a:r>
          </a:p>
          <a:p>
            <a:pPr algn="ctr">
              <a:lnSpc>
                <a:spcPts val="1800"/>
              </a:lnSpc>
              <a:spcBef>
                <a:spcPct val="0"/>
              </a:spcBef>
            </a:pPr>
            <a:r>
              <a:rPr lang="en-US" sz="1800" spc="-98">
                <a:solidFill>
                  <a:srgbClr val="000000"/>
                </a:solidFill>
                <a:latin typeface="Montserrat"/>
                <a:ea typeface="Montserrat"/>
                <a:cs typeface="Montserrat"/>
                <a:sym typeface="Montserrat"/>
              </a:rPr>
              <a:t>                        -F "engagement=$DOJO_ENGAGEMENT_ID" \</a:t>
            </a:r>
          </a:p>
          <a:p>
            <a:pPr algn="ctr">
              <a:lnSpc>
                <a:spcPts val="1800"/>
              </a:lnSpc>
              <a:spcBef>
                <a:spcPct val="0"/>
              </a:spcBef>
            </a:pPr>
            <a:r>
              <a:rPr lang="en-US" sz="1800" spc="-98">
                <a:solidFill>
                  <a:srgbClr val="000000"/>
                </a:solidFill>
                <a:latin typeface="Montserrat"/>
                <a:ea typeface="Montserrat"/>
                <a:cs typeface="Montserrat"/>
                <a:sym typeface="Montserrat"/>
              </a:rPr>
              <a:t>                        -F "active=true" \</a:t>
            </a:r>
          </a:p>
          <a:p>
            <a:pPr algn="ctr">
              <a:lnSpc>
                <a:spcPts val="1800"/>
              </a:lnSpc>
              <a:spcBef>
                <a:spcPct val="0"/>
              </a:spcBef>
            </a:pPr>
            <a:r>
              <a:rPr lang="en-US" sz="1800" spc="-98">
                <a:solidFill>
                  <a:srgbClr val="000000"/>
                </a:solidFill>
                <a:latin typeface="Montserrat"/>
                <a:ea typeface="Montserrat"/>
                <a:cs typeface="Montserrat"/>
                <a:sym typeface="Montserrat"/>
              </a:rPr>
              <a:t>                        -F "verified=true" \</a:t>
            </a:r>
          </a:p>
          <a:p>
            <a:pPr algn="ctr">
              <a:lnSpc>
                <a:spcPts val="1800"/>
              </a:lnSpc>
              <a:spcBef>
                <a:spcPct val="0"/>
              </a:spcBef>
            </a:pPr>
            <a:r>
              <a:rPr lang="en-US" sz="1800" spc="-98">
                <a:solidFill>
                  <a:srgbClr val="000000"/>
                </a:solidFill>
                <a:latin typeface="Montserrat"/>
                <a:ea typeface="Montserrat"/>
                <a:cs typeface="Montserrat"/>
                <a:sym typeface="Montserrat"/>
              </a:rPr>
              <a:t>                        -F "close_old_findings=false"</a:t>
            </a:r>
          </a:p>
          <a:p>
            <a:pPr algn="ctr">
              <a:lnSpc>
                <a:spcPts val="1800"/>
              </a:lnSpc>
              <a:spcBef>
                <a:spcPct val="0"/>
              </a:spcBef>
            </a:pPr>
            <a:r>
              <a:rPr lang="en-US" sz="1800" spc="-98">
                <a:solidFill>
                  <a:srgbClr val="000000"/>
                </a:solidFill>
                <a:latin typeface="Montserrat"/>
                <a:ea typeface="Montserrat"/>
                <a:cs typeface="Montserrat"/>
                <a:sym typeface="Montserrat"/>
              </a:rPr>
              <a:t>                      echo ""</a:t>
            </a:r>
          </a:p>
          <a:p>
            <a:pPr algn="ctr">
              <a:lnSpc>
                <a:spcPts val="1800"/>
              </a:lnSpc>
              <a:spcBef>
                <a:spcPct val="0"/>
              </a:spcBef>
            </a:pPr>
            <a:r>
              <a:rPr lang="en-US" sz="1800" spc="-98">
                <a:solidFill>
                  <a:srgbClr val="000000"/>
                </a:solidFill>
                <a:latin typeface="Montserrat"/>
                <a:ea typeface="Montserrat"/>
                <a:cs typeface="Montserrat"/>
                <a:sym typeface="Montserrat"/>
              </a:rPr>
              <a:t>                    fi</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if [ -f "$REPORTS_DIR/zap_report.json" ]; then</a:t>
            </a:r>
          </a:p>
          <a:p>
            <a:pPr algn="ctr">
              <a:lnSpc>
                <a:spcPts val="1800"/>
              </a:lnSpc>
              <a:spcBef>
                <a:spcPct val="0"/>
              </a:spcBef>
            </a:pPr>
            <a:r>
              <a:rPr lang="en-US" sz="1800" spc="-98">
                <a:solidFill>
                  <a:srgbClr val="000000"/>
                </a:solidFill>
                <a:latin typeface="Montserrat"/>
                <a:ea typeface="Montserrat"/>
                <a:cs typeface="Montserrat"/>
                <a:sym typeface="Montserrat"/>
              </a:rPr>
              <a:t>                      curl -sS -X POST "$DOJO_URL/api/v2/import-scan/" \</a:t>
            </a:r>
          </a:p>
          <a:p>
            <a:pPr algn="ctr">
              <a:lnSpc>
                <a:spcPts val="1800"/>
              </a:lnSpc>
              <a:spcBef>
                <a:spcPct val="0"/>
              </a:spcBef>
            </a:pPr>
            <a:r>
              <a:rPr lang="en-US" sz="1800" spc="-98">
                <a:solidFill>
                  <a:srgbClr val="000000"/>
                </a:solidFill>
                <a:latin typeface="Montserrat"/>
                <a:ea typeface="Montserrat"/>
                <a:cs typeface="Montserrat"/>
                <a:sym typeface="Montserrat"/>
              </a:rPr>
              <a:t>                        -H "Authorization: Token $DOJO_API_KEY" \</a:t>
            </a:r>
          </a:p>
          <a:p>
            <a:pPr algn="ctr">
              <a:lnSpc>
                <a:spcPts val="1800"/>
              </a:lnSpc>
              <a:spcBef>
                <a:spcPct val="0"/>
              </a:spcBef>
            </a:pPr>
            <a:r>
              <a:rPr lang="en-US" sz="1800" spc="-98">
                <a:solidFill>
                  <a:srgbClr val="000000"/>
                </a:solidFill>
                <a:latin typeface="Montserrat"/>
                <a:ea typeface="Montserrat"/>
                <a:cs typeface="Montserrat"/>
                <a:sym typeface="Montserrat"/>
              </a:rPr>
              <a:t>                        -F "scan_type=ZAP Scan" \</a:t>
            </a:r>
          </a:p>
          <a:p>
            <a:pPr algn="ctr">
              <a:lnSpc>
                <a:spcPts val="1800"/>
              </a:lnSpc>
              <a:spcBef>
                <a:spcPct val="0"/>
              </a:spcBef>
            </a:pPr>
            <a:r>
              <a:rPr lang="en-US" sz="1800" spc="-98">
                <a:solidFill>
                  <a:srgbClr val="000000"/>
                </a:solidFill>
                <a:latin typeface="Montserrat"/>
                <a:ea typeface="Montserrat"/>
                <a:cs typeface="Montserrat"/>
                <a:sym typeface="Montserrat"/>
              </a:rPr>
              <a:t>                        -F "file=@$REPORTS_DIR/zap_report.json" \</a:t>
            </a:r>
          </a:p>
          <a:p>
            <a:pPr algn="ctr">
              <a:lnSpc>
                <a:spcPts val="1800"/>
              </a:lnSpc>
              <a:spcBef>
                <a:spcPct val="0"/>
              </a:spcBef>
            </a:pPr>
            <a:r>
              <a:rPr lang="en-US" sz="1800" spc="-98">
                <a:solidFill>
                  <a:srgbClr val="000000"/>
                </a:solidFill>
                <a:latin typeface="Montserrat"/>
                <a:ea typeface="Montserrat"/>
                <a:cs typeface="Montserrat"/>
                <a:sym typeface="Montserrat"/>
              </a:rPr>
              <a:t>                        -F "engagement=$DOJO_ENGAGEMENT_ID" \</a:t>
            </a:r>
          </a:p>
          <a:p>
            <a:pPr algn="ctr">
              <a:lnSpc>
                <a:spcPts val="1800"/>
              </a:lnSpc>
              <a:spcBef>
                <a:spcPct val="0"/>
              </a:spcBef>
            </a:pPr>
            <a:r>
              <a:rPr lang="en-US" sz="1800" spc="-98">
                <a:solidFill>
                  <a:srgbClr val="000000"/>
                </a:solidFill>
                <a:latin typeface="Montserrat"/>
                <a:ea typeface="Montserrat"/>
                <a:cs typeface="Montserrat"/>
                <a:sym typeface="Montserrat"/>
              </a:rPr>
              <a:t>                        -F "active=true" \</a:t>
            </a:r>
          </a:p>
          <a:p>
            <a:pPr algn="ctr">
              <a:lnSpc>
                <a:spcPts val="1800"/>
              </a:lnSpc>
              <a:spcBef>
                <a:spcPct val="0"/>
              </a:spcBef>
            </a:pPr>
            <a:r>
              <a:rPr lang="en-US" sz="1800" spc="-98">
                <a:solidFill>
                  <a:srgbClr val="000000"/>
                </a:solidFill>
                <a:latin typeface="Montserrat"/>
                <a:ea typeface="Montserrat"/>
                <a:cs typeface="Montserrat"/>
                <a:sym typeface="Montserrat"/>
              </a:rPr>
              <a:t>                        -F "verified=true" \</a:t>
            </a:r>
          </a:p>
          <a:p>
            <a:pPr algn="ctr">
              <a:lnSpc>
                <a:spcPts val="1800"/>
              </a:lnSpc>
              <a:spcBef>
                <a:spcPct val="0"/>
              </a:spcBef>
            </a:pPr>
            <a:r>
              <a:rPr lang="en-US" sz="1800" spc="-98">
                <a:solidFill>
                  <a:srgbClr val="000000"/>
                </a:solidFill>
                <a:latin typeface="Montserrat"/>
                <a:ea typeface="Montserrat"/>
                <a:cs typeface="Montserrat"/>
                <a:sym typeface="Montserrat"/>
              </a:rPr>
              <a:t>                        -F "close_old_findings=false"</a:t>
            </a:r>
          </a:p>
          <a:p>
            <a:pPr algn="ctr">
              <a:lnSpc>
                <a:spcPts val="1800"/>
              </a:lnSpc>
              <a:spcBef>
                <a:spcPct val="0"/>
              </a:spcBef>
            </a:pPr>
            <a:r>
              <a:rPr lang="en-US" sz="1800" spc="-98">
                <a:solidFill>
                  <a:srgbClr val="000000"/>
                </a:solidFill>
                <a:latin typeface="Montserrat"/>
                <a:ea typeface="Montserrat"/>
                <a:cs typeface="Montserrat"/>
                <a:sym typeface="Montserrat"/>
              </a:rPr>
              <a:t>                      echo ""</a:t>
            </a:r>
          </a:p>
          <a:p>
            <a:pPr algn="ctr">
              <a:lnSpc>
                <a:spcPts val="1800"/>
              </a:lnSpc>
              <a:spcBef>
                <a:spcPct val="0"/>
              </a:spcBef>
            </a:pPr>
            <a:r>
              <a:rPr lang="en-US" sz="1800" spc="-98">
                <a:solidFill>
                  <a:srgbClr val="000000"/>
                </a:solidFill>
                <a:latin typeface="Montserrat"/>
                <a:ea typeface="Montserrat"/>
                <a:cs typeface="Montserrat"/>
                <a:sym typeface="Montserrat"/>
              </a:rPr>
              <a:t>                    fi</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if [ -f "$REPORTS_DIR/snyk_report.json" ]; then</a:t>
            </a:r>
          </a:p>
          <a:p>
            <a:pPr algn="ctr">
              <a:lnSpc>
                <a:spcPts val="1800"/>
              </a:lnSpc>
              <a:spcBef>
                <a:spcPct val="0"/>
              </a:spcBef>
            </a:pPr>
            <a:r>
              <a:rPr lang="en-US" sz="1800" spc="-98">
                <a:solidFill>
                  <a:srgbClr val="000000"/>
                </a:solidFill>
                <a:latin typeface="Montserrat"/>
                <a:ea typeface="Montserrat"/>
                <a:cs typeface="Montserrat"/>
                <a:sym typeface="Montserrat"/>
              </a:rPr>
              <a:t>                      curl -sS -X POST "$DOJO_URL/api/v2/import-scan/" \</a:t>
            </a:r>
          </a:p>
          <a:p>
            <a:pPr algn="ctr">
              <a:lnSpc>
                <a:spcPts val="1800"/>
              </a:lnSpc>
              <a:spcBef>
                <a:spcPct val="0"/>
              </a:spcBef>
            </a:pPr>
            <a:r>
              <a:rPr lang="en-US" sz="1800" spc="-98">
                <a:solidFill>
                  <a:srgbClr val="000000"/>
                </a:solidFill>
                <a:latin typeface="Montserrat"/>
                <a:ea typeface="Montserrat"/>
                <a:cs typeface="Montserrat"/>
                <a:sym typeface="Montserrat"/>
              </a:rPr>
              <a:t>                        -H "Authorization: Token $DOJO_API_KEY" \</a:t>
            </a:r>
          </a:p>
          <a:p>
            <a:pPr algn="ctr">
              <a:lnSpc>
                <a:spcPts val="1800"/>
              </a:lnSpc>
              <a:spcBef>
                <a:spcPct val="0"/>
              </a:spcBef>
            </a:pPr>
            <a:r>
              <a:rPr lang="en-US" sz="1800" spc="-98">
                <a:solidFill>
                  <a:srgbClr val="000000"/>
                </a:solidFill>
                <a:latin typeface="Montserrat"/>
                <a:ea typeface="Montserrat"/>
                <a:cs typeface="Montserrat"/>
                <a:sym typeface="Montserrat"/>
              </a:rPr>
              <a:t>                        -F "scan_type=Snyk Scan" \</a:t>
            </a:r>
          </a:p>
          <a:p>
            <a:pPr algn="ctr">
              <a:lnSpc>
                <a:spcPts val="1800"/>
              </a:lnSpc>
              <a:spcBef>
                <a:spcPct val="0"/>
              </a:spcBef>
            </a:pPr>
            <a:r>
              <a:rPr lang="en-US" sz="1800" spc="-98">
                <a:solidFill>
                  <a:srgbClr val="000000"/>
                </a:solidFill>
                <a:latin typeface="Montserrat"/>
                <a:ea typeface="Montserrat"/>
                <a:cs typeface="Montserrat"/>
                <a:sym typeface="Montserrat"/>
              </a:rPr>
              <a:t>                        -F "file=@$REPORTS_DIR/snyk_report.json" \</a:t>
            </a:r>
          </a:p>
          <a:p>
            <a:pPr algn="ctr">
              <a:lnSpc>
                <a:spcPts val="1800"/>
              </a:lnSpc>
              <a:spcBef>
                <a:spcPct val="0"/>
              </a:spcBef>
            </a:pPr>
            <a:r>
              <a:rPr lang="en-US" sz="1800" spc="-98">
                <a:solidFill>
                  <a:srgbClr val="000000"/>
                </a:solidFill>
                <a:latin typeface="Montserrat"/>
                <a:ea typeface="Montserrat"/>
                <a:cs typeface="Montserrat"/>
                <a:sym typeface="Montserrat"/>
              </a:rPr>
              <a:t>                        -F "engagement=$DOJO_ENGAGEMENT_ID" \</a:t>
            </a:r>
          </a:p>
          <a:p>
            <a:pPr algn="ctr">
              <a:lnSpc>
                <a:spcPts val="1800"/>
              </a:lnSpc>
              <a:spcBef>
                <a:spcPct val="0"/>
              </a:spcBef>
            </a:pPr>
            <a:r>
              <a:rPr lang="en-US" sz="1800" spc="-98">
                <a:solidFill>
                  <a:srgbClr val="000000"/>
                </a:solidFill>
                <a:latin typeface="Montserrat"/>
                <a:ea typeface="Montserrat"/>
                <a:cs typeface="Montserrat"/>
                <a:sym typeface="Montserrat"/>
              </a:rPr>
              <a:t>                        -F "active=true" \</a:t>
            </a:r>
          </a:p>
          <a:p>
            <a:pPr algn="ctr">
              <a:lnSpc>
                <a:spcPts val="1800"/>
              </a:lnSpc>
              <a:spcBef>
                <a:spcPct val="0"/>
              </a:spcBef>
            </a:pPr>
            <a:r>
              <a:rPr lang="en-US" sz="1800" spc="-98">
                <a:solidFill>
                  <a:srgbClr val="000000"/>
                </a:solidFill>
                <a:latin typeface="Montserrat"/>
                <a:ea typeface="Montserrat"/>
                <a:cs typeface="Montserrat"/>
                <a:sym typeface="Montserrat"/>
              </a:rPr>
              <a:t>                        -F "verified=true" \</a:t>
            </a:r>
          </a:p>
          <a:p>
            <a:pPr algn="ctr">
              <a:lnSpc>
                <a:spcPts val="1800"/>
              </a:lnSpc>
              <a:spcBef>
                <a:spcPct val="0"/>
              </a:spcBef>
            </a:pPr>
            <a:r>
              <a:rPr lang="en-US" sz="1800" spc="-98">
                <a:solidFill>
                  <a:srgbClr val="000000"/>
                </a:solidFill>
                <a:latin typeface="Montserrat"/>
                <a:ea typeface="Montserrat"/>
                <a:cs typeface="Montserrat"/>
                <a:sym typeface="Montserrat"/>
              </a:rPr>
              <a:t>                        -F "close_old_findings=false"</a:t>
            </a:r>
          </a:p>
          <a:p>
            <a:pPr algn="ctr">
              <a:lnSpc>
                <a:spcPts val="1800"/>
              </a:lnSpc>
              <a:spcBef>
                <a:spcPct val="0"/>
              </a:spcBef>
            </a:pPr>
            <a:r>
              <a:rPr lang="en-US" sz="1800" spc="-98">
                <a:solidFill>
                  <a:srgbClr val="000000"/>
                </a:solidFill>
                <a:latin typeface="Montserrat"/>
                <a:ea typeface="Montserrat"/>
                <a:cs typeface="Montserrat"/>
                <a:sym typeface="Montserrat"/>
              </a:rPr>
              <a:t>                      echo ""</a:t>
            </a:r>
          </a:p>
          <a:p>
            <a:pPr algn="ctr">
              <a:lnSpc>
                <a:spcPts val="1800"/>
              </a:lnSpc>
              <a:spcBef>
                <a:spcPct val="0"/>
              </a:spcBef>
            </a:pPr>
            <a:r>
              <a:rPr lang="en-US" sz="1800" spc="-98">
                <a:solidFill>
                  <a:srgbClr val="000000"/>
                </a:solidFill>
                <a:latin typeface="Montserrat"/>
                <a:ea typeface="Montserrat"/>
                <a:cs typeface="Montserrat"/>
                <a:sym typeface="Montserrat"/>
              </a:rPr>
              <a:t>                    fi</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exit 0</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p>
          <a:p>
            <a:pPr algn="ctr">
              <a:lnSpc>
                <a:spcPts val="1800"/>
              </a:lnSpc>
              <a:spcBef>
                <a:spcPct val="0"/>
              </a:spcBef>
            </a:pPr>
            <a:r>
              <a:rPr lang="en-US" sz="1800" spc="-98">
                <a:solidFill>
                  <a:srgbClr val="000000"/>
                </a:solidFill>
                <a:latin typeface="Montserrat"/>
                <a:ea typeface="Montserrat"/>
                <a:cs typeface="Montserrat"/>
                <a:sym typeface="Montserrat"/>
              </a:rPr>
              <a:t>    post {</a:t>
            </a:r>
          </a:p>
          <a:p>
            <a:pPr algn="ctr">
              <a:lnSpc>
                <a:spcPts val="1800"/>
              </a:lnSpc>
              <a:spcBef>
                <a:spcPct val="0"/>
              </a:spcBef>
            </a:pPr>
            <a:r>
              <a:rPr lang="en-US" sz="1800" spc="-98">
                <a:solidFill>
                  <a:srgbClr val="000000"/>
                </a:solidFill>
                <a:latin typeface="Montserrat"/>
                <a:ea typeface="Montserrat"/>
                <a:cs typeface="Montserrat"/>
                <a:sym typeface="Montserrat"/>
              </a:rPr>
              <a:t>        always {</a:t>
            </a:r>
          </a:p>
          <a:p>
            <a:pPr algn="ctr">
              <a:lnSpc>
                <a:spcPts val="1800"/>
              </a:lnSpc>
              <a:spcBef>
                <a:spcPct val="0"/>
              </a:spcBef>
            </a:pPr>
            <a:r>
              <a:rPr lang="en-US" sz="1800" spc="-98">
                <a:solidFill>
                  <a:srgbClr val="000000"/>
                </a:solidFill>
                <a:latin typeface="Montserrat"/>
                <a:ea typeface="Montserrat"/>
                <a:cs typeface="Montserrat"/>
                <a:sym typeface="Montserrat"/>
              </a:rPr>
              <a:t>            echo 'Archivando reportes en Jenkins...'</a:t>
            </a:r>
          </a:p>
          <a:p>
            <a:pPr algn="ctr">
              <a:lnSpc>
                <a:spcPts val="1800"/>
              </a:lnSpc>
              <a:spcBef>
                <a:spcPct val="0"/>
              </a:spcBef>
            </a:pPr>
            <a:r>
              <a:rPr lang="en-US" sz="1800" spc="-98">
                <a:solidFill>
                  <a:srgbClr val="000000"/>
                </a:solidFill>
                <a:latin typeface="Montserrat"/>
                <a:ea typeface="Montserrat"/>
                <a:cs typeface="Montserrat"/>
                <a:sym typeface="Montserrat"/>
              </a:rPr>
              <a:t>            sh '''</a:t>
            </a:r>
          </a:p>
          <a:p>
            <a:pPr algn="ctr">
              <a:lnSpc>
                <a:spcPts val="1800"/>
              </a:lnSpc>
              <a:spcBef>
                <a:spcPct val="0"/>
              </a:spcBef>
            </a:pPr>
            <a:r>
              <a:rPr lang="en-US" sz="1800" spc="-98">
                <a:solidFill>
                  <a:srgbClr val="000000"/>
                </a:solidFill>
                <a:latin typeface="Montserrat"/>
                <a:ea typeface="Montserrat"/>
                <a:cs typeface="Montserrat"/>
                <a:sym typeface="Montserrat"/>
              </a:rPr>
              <a:t>                echo "========== REPORTS_DIR =========="</a:t>
            </a:r>
          </a:p>
          <a:p>
            <a:pPr algn="ctr">
              <a:lnSpc>
                <a:spcPts val="1800"/>
              </a:lnSpc>
              <a:spcBef>
                <a:spcPct val="0"/>
              </a:spcBef>
            </a:pPr>
            <a:r>
              <a:rPr lang="en-US" sz="1800" spc="-98">
                <a:solidFill>
                  <a:srgbClr val="000000"/>
                </a:solidFill>
                <a:latin typeface="Montserrat"/>
                <a:ea typeface="Montserrat"/>
                <a:cs typeface="Montserrat"/>
                <a:sym typeface="Montserrat"/>
              </a:rPr>
              <a:t>                ls -lah "$REPORTS_DIR" || true</a:t>
            </a:r>
          </a:p>
          <a:p>
            <a:pPr algn="ctr">
              <a:lnSpc>
                <a:spcPts val="1800"/>
              </a:lnSpc>
              <a:spcBef>
                <a:spcPct val="0"/>
              </a:spcBef>
            </a:pPr>
            <a:r>
              <a:rPr lang="en-US" sz="1800" spc="-98">
                <a:solidFill>
                  <a:srgbClr val="000000"/>
                </a:solidFill>
                <a:latin typeface="Montserrat"/>
                <a:ea typeface="Montserrat"/>
                <a:cs typeface="Montserrat"/>
                <a:sym typeface="Montserrat"/>
              </a:rPr>
              <a:t>                echo "========== WORKSPACE =========="</a:t>
            </a:r>
          </a:p>
          <a:p>
            <a:pPr algn="ctr">
              <a:lnSpc>
                <a:spcPts val="1800"/>
              </a:lnSpc>
              <a:spcBef>
                <a:spcPct val="0"/>
              </a:spcBef>
            </a:pPr>
            <a:r>
              <a:rPr lang="en-US" sz="1800" spc="-98">
                <a:solidFill>
                  <a:srgbClr val="000000"/>
                </a:solidFill>
                <a:latin typeface="Montserrat"/>
                <a:ea typeface="Montserrat"/>
                <a:cs typeface="Montserrat"/>
                <a:sym typeface="Montserrat"/>
              </a:rPr>
              <a:t>                ls -lah "$WORKSPACE" || true</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archiveArtifacts artifacts: 'modulofin/**', allowEmptyArchive: true</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    }</a:t>
            </a:r>
          </a:p>
          <a:p>
            <a:pPr algn="ctr">
              <a:lnSpc>
                <a:spcPts val="1800"/>
              </a:lnSpc>
              <a:spcBef>
                <a:spcPct val="0"/>
              </a:spcBef>
            </a:pPr>
            <a:r>
              <a:rPr lang="en-US" sz="1800" spc="-98">
                <a:solidFill>
                  <a:srgbClr val="000000"/>
                </a:solidFill>
                <a:latin typeface="Montserrat"/>
                <a:ea typeface="Montserrat"/>
                <a:cs typeface="Montserrat"/>
                <a:sym typeface="Montserrat"/>
              </a:rPr>
              <a:t>}</a:t>
            </a:r>
          </a:p>
        </p:txBody>
      </p:sp>
      <p:sp>
        <p:nvSpPr>
          <p:cNvPr name="TextBox 6" id="6"/>
          <p:cNvSpPr txBox="true"/>
          <p:nvPr/>
        </p:nvSpPr>
        <p:spPr>
          <a:xfrm rot="0">
            <a:off x="5267344" y="272862"/>
            <a:ext cx="12758142" cy="92371545"/>
          </a:xfrm>
          <a:prstGeom prst="rect">
            <a:avLst/>
          </a:prstGeom>
        </p:spPr>
        <p:txBody>
          <a:bodyPr anchor="t" rtlCol="false" tIns="0" lIns="0" bIns="0" rIns="0">
            <a:spAutoFit/>
          </a:bodyPr>
          <a:lstStyle/>
          <a:p>
            <a:pPr algn="l">
              <a:lnSpc>
                <a:spcPts val="1800"/>
              </a:lnSpc>
              <a:spcBef>
                <a:spcPct val="0"/>
              </a:spcBef>
            </a:pPr>
            <a:r>
              <a:rPr lang="en-US" sz="1800" spc="-98">
                <a:solidFill>
                  <a:srgbClr val="FFFFFF"/>
                </a:solidFill>
                <a:latin typeface="Montserrat"/>
                <a:ea typeface="Montserrat"/>
                <a:cs typeface="Montserrat"/>
                <a:sym typeface="Montserrat"/>
              </a:rPr>
              <a:t>pipeline {</a:t>
            </a:r>
          </a:p>
          <a:p>
            <a:pPr algn="l">
              <a:lnSpc>
                <a:spcPts val="1800"/>
              </a:lnSpc>
              <a:spcBef>
                <a:spcPct val="0"/>
              </a:spcBef>
            </a:pPr>
            <a:r>
              <a:rPr lang="en-US" sz="1800" spc="-98">
                <a:solidFill>
                  <a:srgbClr val="FFFFFF"/>
                </a:solidFill>
                <a:latin typeface="Montserrat"/>
                <a:ea typeface="Montserrat"/>
                <a:cs typeface="Montserrat"/>
                <a:sym typeface="Montserrat"/>
              </a:rPr>
              <a:t>    agent any</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tools {</a:t>
            </a:r>
          </a:p>
          <a:p>
            <a:pPr algn="l">
              <a:lnSpc>
                <a:spcPts val="1800"/>
              </a:lnSpc>
              <a:spcBef>
                <a:spcPct val="0"/>
              </a:spcBef>
            </a:pPr>
            <a:r>
              <a:rPr lang="en-US" sz="1800" spc="-98">
                <a:solidFill>
                  <a:srgbClr val="FFFFFF"/>
                </a:solidFill>
                <a:latin typeface="Montserrat"/>
                <a:ea typeface="Montserrat"/>
                <a:cs typeface="Montserrat"/>
                <a:sym typeface="Montserrat"/>
              </a:rPr>
              <a:t>        maven 'maven3'</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options {</a:t>
            </a:r>
          </a:p>
          <a:p>
            <a:pPr algn="l">
              <a:lnSpc>
                <a:spcPts val="1800"/>
              </a:lnSpc>
              <a:spcBef>
                <a:spcPct val="0"/>
              </a:spcBef>
            </a:pPr>
            <a:r>
              <a:rPr lang="en-US" sz="1800" spc="-98">
                <a:solidFill>
                  <a:srgbClr val="FFFFFF"/>
                </a:solidFill>
                <a:latin typeface="Montserrat"/>
                <a:ea typeface="Montserrat"/>
                <a:cs typeface="Montserrat"/>
                <a:sym typeface="Montserrat"/>
              </a:rPr>
              <a:t>        timestamps()</a:t>
            </a:r>
          </a:p>
          <a:p>
            <a:pPr algn="l">
              <a:lnSpc>
                <a:spcPts val="1800"/>
              </a:lnSpc>
              <a:spcBef>
                <a:spcPct val="0"/>
              </a:spcBef>
            </a:pPr>
            <a:r>
              <a:rPr lang="en-US" sz="1800" spc="-98">
                <a:solidFill>
                  <a:srgbClr val="FFFFFF"/>
                </a:solidFill>
                <a:latin typeface="Montserrat"/>
                <a:ea typeface="Montserrat"/>
                <a:cs typeface="Montserrat"/>
                <a:sym typeface="Montserrat"/>
              </a:rPr>
              <a:t>        disableConcurrentBuilds()</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triggers {</a:t>
            </a:r>
          </a:p>
          <a:p>
            <a:pPr algn="l">
              <a:lnSpc>
                <a:spcPts val="1800"/>
              </a:lnSpc>
              <a:spcBef>
                <a:spcPct val="0"/>
              </a:spcBef>
            </a:pPr>
            <a:r>
              <a:rPr lang="en-US" sz="1800" spc="-98">
                <a:solidFill>
                  <a:srgbClr val="FFFFFF"/>
                </a:solidFill>
                <a:latin typeface="Montserrat"/>
                <a:ea typeface="Montserrat"/>
                <a:cs typeface="Montserrat"/>
                <a:sym typeface="Montserrat"/>
              </a:rPr>
              <a:t>        githubPush()</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parameters {</a:t>
            </a:r>
          </a:p>
          <a:p>
            <a:pPr algn="l">
              <a:lnSpc>
                <a:spcPts val="1800"/>
              </a:lnSpc>
              <a:spcBef>
                <a:spcPct val="0"/>
              </a:spcBef>
            </a:pPr>
            <a:r>
              <a:rPr lang="en-US" sz="1800" spc="-98">
                <a:solidFill>
                  <a:srgbClr val="FFFFFF"/>
                </a:solidFill>
                <a:latin typeface="Montserrat"/>
                <a:ea typeface="Montserrat"/>
                <a:cs typeface="Montserrat"/>
                <a:sym typeface="Montserrat"/>
              </a:rPr>
              <a:t>        booleanParam(name: 'ENABLE_DEPLOY', defaultValue: true, description: 'Desplegar a Ubuntu por SSH')</a:t>
            </a:r>
          </a:p>
          <a:p>
            <a:pPr algn="l">
              <a:lnSpc>
                <a:spcPts val="1800"/>
              </a:lnSpc>
              <a:spcBef>
                <a:spcPct val="0"/>
              </a:spcBef>
            </a:pPr>
            <a:r>
              <a:rPr lang="en-US" sz="1800" spc="-98">
                <a:solidFill>
                  <a:srgbClr val="FFFFFF"/>
                </a:solidFill>
                <a:latin typeface="Montserrat"/>
                <a:ea typeface="Montserrat"/>
                <a:cs typeface="Montserrat"/>
                <a:sym typeface="Montserrat"/>
              </a:rPr>
              <a:t>        booleanParam(name: 'ENABLE_DAST', defaultValue: true, description: 'Ejecutar ZAP contra la app desplegada')</a:t>
            </a:r>
          </a:p>
          <a:p>
            <a:pPr algn="l">
              <a:lnSpc>
                <a:spcPts val="1800"/>
              </a:lnSpc>
              <a:spcBef>
                <a:spcPct val="0"/>
              </a:spcBef>
            </a:pPr>
            <a:r>
              <a:rPr lang="en-US" sz="1800" spc="-98">
                <a:solidFill>
                  <a:srgbClr val="FFFFFF"/>
                </a:solidFill>
                <a:latin typeface="Montserrat"/>
                <a:ea typeface="Montserrat"/>
                <a:cs typeface="Montserrat"/>
                <a:sym typeface="Montserrat"/>
              </a:rPr>
              <a:t>        booleanParam(name: 'ENABLE_SNYK', defaultValue: true, description: 'Ejecutar Snyk para analisis SCA')</a:t>
            </a:r>
          </a:p>
          <a:p>
            <a:pPr algn="l">
              <a:lnSpc>
                <a:spcPts val="1800"/>
              </a:lnSpc>
              <a:spcBef>
                <a:spcPct val="0"/>
              </a:spcBef>
            </a:pPr>
            <a:r>
              <a:rPr lang="en-US" sz="1800" spc="-98">
                <a:solidFill>
                  <a:srgbClr val="FFFFFF"/>
                </a:solidFill>
                <a:latin typeface="Montserrat"/>
                <a:ea typeface="Montserrat"/>
                <a:cs typeface="Montserrat"/>
                <a:sym typeface="Montserrat"/>
              </a:rPr>
              <a:t>        booleanParam(name: 'ENABLE_DEFECTDOJO', defaultValue: true, description: 'Subir reportes a DefectDojo')</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environment {</a:t>
            </a:r>
          </a:p>
          <a:p>
            <a:pPr algn="l">
              <a:lnSpc>
                <a:spcPts val="1800"/>
              </a:lnSpc>
              <a:spcBef>
                <a:spcPct val="0"/>
              </a:spcBef>
            </a:pPr>
            <a:r>
              <a:rPr lang="en-US" sz="1800" spc="-98">
                <a:solidFill>
                  <a:srgbClr val="FFFFFF"/>
                </a:solidFill>
                <a:latin typeface="Montserrat"/>
                <a:ea typeface="Montserrat"/>
                <a:cs typeface="Montserrat"/>
                <a:sym typeface="Montserrat"/>
              </a:rPr>
              <a:t>&lt;        GIT_URL     = 'https://github.com/MABO262001/modulofinal.git'</a:t>
            </a:r>
          </a:p>
          <a:p>
            <a:pPr algn="l">
              <a:lnSpc>
                <a:spcPts val="1800"/>
              </a:lnSpc>
              <a:spcBef>
                <a:spcPct val="0"/>
              </a:spcBef>
            </a:pPr>
            <a:r>
              <a:rPr lang="en-US" sz="1800" spc="-98">
                <a:solidFill>
                  <a:srgbClr val="FFFFFF"/>
                </a:solidFill>
                <a:latin typeface="Montserrat"/>
                <a:ea typeface="Montserrat"/>
                <a:cs typeface="Montserrat"/>
                <a:sym typeface="Montserrat"/>
              </a:rPr>
              <a:t>        GIT_BRANCH  = 'main'</a:t>
            </a:r>
          </a:p>
          <a:p>
            <a:pPr algn="l">
              <a:lnSpc>
                <a:spcPts val="1800"/>
              </a:lnSpc>
              <a:spcBef>
                <a:spcPct val="0"/>
              </a:spcBef>
            </a:pPr>
            <a:r>
              <a:rPr lang="en-US" sz="1800" spc="-98">
                <a:solidFill>
                  <a:srgbClr val="FFFFFF"/>
                </a:solidFill>
                <a:latin typeface="Montserrat"/>
                <a:ea typeface="Montserrat"/>
                <a:cs typeface="Montserrat"/>
                <a:sym typeface="Montserrat"/>
              </a:rPr>
              <a:t>        VM_IP       = 'host.docker.internal'</a:t>
            </a:r>
          </a:p>
          <a:p>
            <a:pPr algn="l">
              <a:lnSpc>
                <a:spcPts val="1800"/>
              </a:lnSpc>
              <a:spcBef>
                <a:spcPct val="0"/>
              </a:spcBef>
            </a:pPr>
            <a:r>
              <a:rPr lang="en-US" sz="1800" spc="-98">
                <a:solidFill>
                  <a:srgbClr val="FFFFFF"/>
                </a:solidFill>
                <a:latin typeface="Montserrat"/>
                <a:ea typeface="Montserrat"/>
                <a:cs typeface="Montserrat"/>
                <a:sym typeface="Montserrat"/>
              </a:rPr>
              <a:t>        VM_SSH_PORT = '2222'</a:t>
            </a:r>
          </a:p>
          <a:p>
            <a:pPr algn="l">
              <a:lnSpc>
                <a:spcPts val="1800"/>
              </a:lnSpc>
              <a:spcBef>
                <a:spcPct val="0"/>
              </a:spcBef>
            </a:pPr>
            <a:r>
              <a:rPr lang="en-US" sz="1800" spc="-98">
                <a:solidFill>
                  <a:srgbClr val="FFFFFF"/>
                </a:solidFill>
                <a:latin typeface="Montserrat"/>
                <a:ea typeface="Montserrat"/>
                <a:cs typeface="Montserrat"/>
                <a:sym typeface="Montserrat"/>
              </a:rPr>
              <a:t>        APP_PATH    = '/tmp'</a:t>
            </a:r>
          </a:p>
          <a:p>
            <a:pPr algn="l">
              <a:lnSpc>
                <a:spcPts val="1800"/>
              </a:lnSpc>
              <a:spcBef>
                <a:spcPct val="0"/>
              </a:spcBef>
            </a:pPr>
            <a:r>
              <a:rPr lang="en-US" sz="1800" spc="-98">
                <a:solidFill>
                  <a:srgbClr val="FFFFFF"/>
                </a:solidFill>
                <a:latin typeface="Montserrat"/>
                <a:ea typeface="Montserrat"/>
                <a:cs typeface="Montserrat"/>
                <a:sym typeface="Montserrat"/>
              </a:rPr>
              <a:t>        REPORTS_DIR = "${WORKSPACE}/modulofin"</a:t>
            </a:r>
          </a:p>
          <a:p>
            <a:pPr algn="l">
              <a:lnSpc>
                <a:spcPts val="1800"/>
              </a:lnSpc>
              <a:spcBef>
                <a:spcPct val="0"/>
              </a:spcBef>
            </a:pPr>
            <a:r>
              <a:rPr lang="en-US" sz="1800" spc="-98">
                <a:solidFill>
                  <a:srgbClr val="FFFFFF"/>
                </a:solidFill>
                <a:latin typeface="Montserrat"/>
                <a:ea typeface="Montserrat"/>
                <a:cs typeface="Montserrat"/>
                <a:sym typeface="Montserrat"/>
              </a:rPr>
              <a:t>        IMAGE_NAME  = 'app-segura:latest'</a:t>
            </a:r>
          </a:p>
          <a:p>
            <a:pPr algn="l">
              <a:lnSpc>
                <a:spcPts val="1800"/>
              </a:lnSpc>
              <a:spcBef>
                <a:spcPct val="0"/>
              </a:spcBef>
            </a:pPr>
            <a:r>
              <a:rPr lang="en-US" sz="1800" spc="-98">
                <a:solidFill>
                  <a:srgbClr val="FFFFFF"/>
                </a:solidFill>
                <a:latin typeface="Montserrat"/>
                <a:ea typeface="Montserrat"/>
                <a:cs typeface="Montserrat"/>
                <a:sym typeface="Montserrat"/>
              </a:rPr>
              <a:t>        APP_PORT    = '8081'</a:t>
            </a:r>
          </a:p>
          <a:p>
            <a:pPr algn="l">
              <a:lnSpc>
                <a:spcPts val="1800"/>
              </a:lnSpc>
              <a:spcBef>
                <a:spcPct val="0"/>
              </a:spcBef>
            </a:pPr>
            <a:r>
              <a:rPr lang="en-US" sz="1800" spc="-98">
                <a:solidFill>
                  <a:srgbClr val="FFFFFF"/>
                </a:solidFill>
                <a:latin typeface="Montserrat"/>
                <a:ea typeface="Montserrat"/>
                <a:cs typeface="Montserrat"/>
                <a:sym typeface="Montserrat"/>
              </a:rPr>
              <a:t>        APP_HEALTH  = '/health'</a:t>
            </a:r>
          </a:p>
          <a:p>
            <a:pPr algn="l">
              <a:lnSpc>
                <a:spcPts val="1800"/>
              </a:lnSpc>
              <a:spcBef>
                <a:spcPct val="0"/>
              </a:spcBef>
            </a:pPr>
            <a:r>
              <a:rPr lang="en-US" sz="1800" spc="-98">
                <a:solidFill>
                  <a:srgbClr val="FFFFFF"/>
                </a:solidFill>
                <a:latin typeface="Montserrat"/>
                <a:ea typeface="Montserrat"/>
                <a:cs typeface="Montserrat"/>
                <a:sym typeface="Montserrat"/>
              </a:rPr>
              <a:t>        SSH_OPTS    = '-o StrictHostKeyChecking=no -o UserKnownHostsFile=/dev/null -o BatchMode=yes -o ConnectTimeout=20'</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SNYK_TOKEN         = credentials('snyk-token')</a:t>
            </a:r>
          </a:p>
          <a:p>
            <a:pPr algn="l">
              <a:lnSpc>
                <a:spcPts val="1800"/>
              </a:lnSpc>
              <a:spcBef>
                <a:spcPct val="0"/>
              </a:spcBef>
            </a:pPr>
            <a:r>
              <a:rPr lang="en-US" sz="1800" spc="-98">
                <a:solidFill>
                  <a:srgbClr val="FFFFFF"/>
                </a:solidFill>
                <a:latin typeface="Montserrat"/>
                <a:ea typeface="Montserrat"/>
                <a:cs typeface="Montserrat"/>
                <a:sym typeface="Montserrat"/>
              </a:rPr>
              <a:t>        DOJO_API_KEY       = credentials('defectdojo-api-key')</a:t>
            </a:r>
          </a:p>
          <a:p>
            <a:pPr algn="l">
              <a:lnSpc>
                <a:spcPts val="1800"/>
              </a:lnSpc>
              <a:spcBef>
                <a:spcPct val="0"/>
              </a:spcBef>
            </a:pPr>
            <a:r>
              <a:rPr lang="en-US" sz="1800" spc="-98">
                <a:solidFill>
                  <a:srgbClr val="FFFFFF"/>
                </a:solidFill>
                <a:latin typeface="Montserrat"/>
                <a:ea typeface="Montserrat"/>
                <a:cs typeface="Montserrat"/>
                <a:sym typeface="Montserrat"/>
              </a:rPr>
              <a:t>        DOJO_ENGAGEMENT_ID = credentials('defectdojo-engagement-id')</a:t>
            </a:r>
          </a:p>
          <a:p>
            <a:pPr algn="l">
              <a:lnSpc>
                <a:spcPts val="1800"/>
              </a:lnSpc>
              <a:spcBef>
                <a:spcPct val="0"/>
              </a:spcBef>
            </a:pPr>
            <a:r>
              <a:rPr lang="en-US" sz="1800" spc="-98">
                <a:solidFill>
                  <a:srgbClr val="FFFFFF"/>
                </a:solidFill>
                <a:latin typeface="Montserrat"/>
                <a:ea typeface="Montserrat"/>
                <a:cs typeface="Montserrat"/>
                <a:sym typeface="Montserrat"/>
              </a:rPr>
              <a:t>        DOJO_URL           = 'http://host.docker.internal:9000'</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stages {</a:t>
            </a:r>
          </a:p>
          <a:p>
            <a:pPr algn="l">
              <a:lnSpc>
                <a:spcPts val="1800"/>
              </a:lnSpc>
              <a:spcBef>
                <a:spcPct val="0"/>
              </a:spcBef>
            </a:pPr>
            <a:r>
              <a:rPr lang="en-US" sz="1800" spc="-98">
                <a:solidFill>
                  <a:srgbClr val="FFFFFF"/>
                </a:solidFill>
                <a:latin typeface="Montserrat"/>
                <a:ea typeface="Montserrat"/>
                <a:cs typeface="Montserrat"/>
                <a:sym typeface="Montserrat"/>
              </a:rPr>
              <a:t>        stage('Verificacion de Entorno') {</a:t>
            </a:r>
          </a:p>
          <a:p>
            <a:pPr algn="l">
              <a:lnSpc>
                <a:spcPts val="1800"/>
              </a:lnSpc>
              <a:spcBef>
                <a:spcPct val="0"/>
              </a:spcBef>
            </a:pPr>
            <a:r>
              <a:rPr lang="en-US" sz="1800" spc="-98">
                <a:solidFill>
                  <a:srgbClr val="FFFFFF"/>
                </a:solidFill>
                <a:latin typeface="Montserrat"/>
                <a:ea typeface="Montserrat"/>
                <a:cs typeface="Montserrat"/>
                <a:sym typeface="Montserrat"/>
              </a:rPr>
              <a:t>            steps {</a:t>
            </a:r>
          </a:p>
          <a:p>
            <a:pPr algn="l">
              <a:lnSpc>
                <a:spcPts val="1800"/>
              </a:lnSpc>
              <a:spcBef>
                <a:spcPct val="0"/>
              </a:spcBef>
            </a:pPr>
            <a:r>
              <a:rPr lang="en-US" sz="1800" spc="-98">
                <a:solidFill>
                  <a:srgbClr val="FFFFFF"/>
                </a:solidFill>
                <a:latin typeface="Montserrat"/>
                <a:ea typeface="Montserrat"/>
                <a:cs typeface="Montserrat"/>
                <a:sym typeface="Montserrat"/>
              </a:rPr>
              <a:t>                sh '''</a:t>
            </a:r>
          </a:p>
          <a:p>
            <a:pPr algn="l">
              <a:lnSpc>
                <a:spcPts val="1800"/>
              </a:lnSpc>
              <a:spcBef>
                <a:spcPct val="0"/>
              </a:spcBef>
            </a:pPr>
            <a:r>
              <a:rPr lang="en-US" sz="1800" spc="-98">
                <a:solidFill>
                  <a:srgbClr val="FFFFFF"/>
                </a:solidFill>
                <a:latin typeface="Montserrat"/>
                <a:ea typeface="Montserrat"/>
                <a:cs typeface="Montserrat"/>
                <a:sym typeface="Montserrat"/>
              </a:rPr>
              <a:t>                    set +e</a:t>
            </a:r>
          </a:p>
          <a:p>
            <a:pPr algn="l">
              <a:lnSpc>
                <a:spcPts val="1800"/>
              </a:lnSpc>
              <a:spcBef>
                <a:spcPct val="0"/>
              </a:spcBef>
            </a:pPr>
            <a:r>
              <a:rPr lang="en-US" sz="1800" spc="-98">
                <a:solidFill>
                  <a:srgbClr val="FFFFFF"/>
                </a:solidFill>
                <a:latin typeface="Montserrat"/>
                <a:ea typeface="Montserrat"/>
                <a:cs typeface="Montserrat"/>
                <a:sym typeface="Montserrat"/>
              </a:rPr>
              <a:t>                    echo "========== ENTORNO =========="</a:t>
            </a:r>
          </a:p>
          <a:p>
            <a:pPr algn="l">
              <a:lnSpc>
                <a:spcPts val="1800"/>
              </a:lnSpc>
              <a:spcBef>
                <a:spcPct val="0"/>
              </a:spcBef>
            </a:pPr>
            <a:r>
              <a:rPr lang="en-US" sz="1800" spc="-98">
                <a:solidFill>
                  <a:srgbClr val="FFFFFF"/>
                </a:solidFill>
                <a:latin typeface="Montserrat"/>
                <a:ea typeface="Montserrat"/>
                <a:cs typeface="Montserrat"/>
                <a:sym typeface="Montserrat"/>
              </a:rPr>
              <a:t>                    echo "Workspace: $WORKSPACE"</a:t>
            </a:r>
          </a:p>
          <a:p>
            <a:pPr algn="l">
              <a:lnSpc>
                <a:spcPts val="1800"/>
              </a:lnSpc>
              <a:spcBef>
                <a:spcPct val="0"/>
              </a:spcBef>
            </a:pPr>
            <a:r>
              <a:rPr lang="en-US" sz="1800" spc="-98">
                <a:solidFill>
                  <a:srgbClr val="FFFFFF"/>
                </a:solidFill>
                <a:latin typeface="Montserrat"/>
                <a:ea typeface="Montserrat"/>
                <a:cs typeface="Montserrat"/>
                <a:sym typeface="Montserrat"/>
              </a:rPr>
              <a:t>                    whoami</a:t>
            </a:r>
          </a:p>
          <a:p>
            <a:pPr algn="l">
              <a:lnSpc>
                <a:spcPts val="1800"/>
              </a:lnSpc>
              <a:spcBef>
                <a:spcPct val="0"/>
              </a:spcBef>
            </a:pPr>
            <a:r>
              <a:rPr lang="en-US" sz="1800" spc="-98">
                <a:solidFill>
                  <a:srgbClr val="FFFFFF"/>
                </a:solidFill>
                <a:latin typeface="Montserrat"/>
                <a:ea typeface="Montserrat"/>
                <a:cs typeface="Montserrat"/>
                <a:sym typeface="Montserrat"/>
              </a:rPr>
              <a:t>                    uname -a</a:t>
            </a:r>
          </a:p>
          <a:p>
            <a:pPr algn="l">
              <a:lnSpc>
                <a:spcPts val="1800"/>
              </a:lnSpc>
              <a:spcBef>
                <a:spcPct val="0"/>
              </a:spcBef>
            </a:pPr>
            <a:r>
              <a:rPr lang="en-US" sz="1800" spc="-98">
                <a:solidFill>
                  <a:srgbClr val="FFFFFF"/>
                </a:solidFill>
                <a:latin typeface="Montserrat"/>
                <a:ea typeface="Montserrat"/>
                <a:cs typeface="Montserrat"/>
                <a:sym typeface="Montserrat"/>
              </a:rPr>
              <a:t>                    java -version</a:t>
            </a:r>
          </a:p>
          <a:p>
            <a:pPr algn="l">
              <a:lnSpc>
                <a:spcPts val="1800"/>
              </a:lnSpc>
              <a:spcBef>
                <a:spcPct val="0"/>
              </a:spcBef>
            </a:pPr>
            <a:r>
              <a:rPr lang="en-US" sz="1800" spc="-98">
                <a:solidFill>
                  <a:srgbClr val="FFFFFF"/>
                </a:solidFill>
                <a:latin typeface="Montserrat"/>
                <a:ea typeface="Montserrat"/>
                <a:cs typeface="Montserrat"/>
                <a:sym typeface="Montserrat"/>
              </a:rPr>
              <a:t>                    git --version</a:t>
            </a:r>
          </a:p>
          <a:p>
            <a:pPr algn="l">
              <a:lnSpc>
                <a:spcPts val="1800"/>
              </a:lnSpc>
              <a:spcBef>
                <a:spcPct val="0"/>
              </a:spcBef>
            </a:pPr>
            <a:r>
              <a:rPr lang="en-US" sz="1800" spc="-98">
                <a:solidFill>
                  <a:srgbClr val="FFFFFF"/>
                </a:solidFill>
                <a:latin typeface="Montserrat"/>
                <a:ea typeface="Montserrat"/>
                <a:cs typeface="Montserrat"/>
                <a:sym typeface="Montserrat"/>
              </a:rPr>
              <a:t>                    docker --version</a:t>
            </a:r>
          </a:p>
          <a:p>
            <a:pPr algn="l">
              <a:lnSpc>
                <a:spcPts val="1800"/>
              </a:lnSpc>
              <a:spcBef>
                <a:spcPct val="0"/>
              </a:spcBef>
            </a:pPr>
            <a:r>
              <a:rPr lang="en-US" sz="1800" spc="-98">
                <a:solidFill>
                  <a:srgbClr val="FFFFFF"/>
                </a:solidFill>
                <a:latin typeface="Montserrat"/>
                <a:ea typeface="Montserrat"/>
                <a:cs typeface="Montserrat"/>
                <a:sym typeface="Montserrat"/>
              </a:rPr>
              <a:t>                    docker ps || true</a:t>
            </a:r>
          </a:p>
          <a:p>
            <a:pPr algn="l">
              <a:lnSpc>
                <a:spcPts val="1800"/>
              </a:lnSpc>
              <a:spcBef>
                <a:spcPct val="0"/>
              </a:spcBef>
            </a:pPr>
            <a:r>
              <a:rPr lang="en-US" sz="1800" spc="-98">
                <a:solidFill>
                  <a:srgbClr val="FFFFFF"/>
                </a:solidFill>
                <a:latin typeface="Montserrat"/>
                <a:ea typeface="Montserrat"/>
                <a:cs typeface="Montserrat"/>
                <a:sym typeface="Montserrat"/>
              </a:rPr>
              <a:t>                    getent hosts host.docker.internal || true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echo "========== PRUEBA DEFECTDOJO =========="</a:t>
            </a:r>
          </a:p>
          <a:p>
            <a:pPr algn="l">
              <a:lnSpc>
                <a:spcPts val="1800"/>
              </a:lnSpc>
              <a:spcBef>
                <a:spcPct val="0"/>
              </a:spcBef>
            </a:pPr>
            <a:r>
              <a:rPr lang="en-US" sz="1800" spc="-98">
                <a:solidFill>
                  <a:srgbClr val="FFFFFF"/>
                </a:solidFill>
                <a:latin typeface="Montserrat"/>
                <a:ea typeface="Montserrat"/>
                <a:cs typeface="Montserrat"/>
                <a:sym typeface="Montserrat"/>
              </a:rPr>
              <a:t>                    curl -I --max-time 15 "$DOJO_URL" || true</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stage('Descarga de Codigo') {</a:t>
            </a:r>
          </a:p>
          <a:p>
            <a:pPr algn="l">
              <a:lnSpc>
                <a:spcPts val="1800"/>
              </a:lnSpc>
              <a:spcBef>
                <a:spcPct val="0"/>
              </a:spcBef>
            </a:pPr>
            <a:r>
              <a:rPr lang="en-US" sz="1800" spc="-98">
                <a:solidFill>
                  <a:srgbClr val="FFFFFF"/>
                </a:solidFill>
                <a:latin typeface="Montserrat"/>
                <a:ea typeface="Montserrat"/>
                <a:cs typeface="Montserrat"/>
                <a:sym typeface="Montserrat"/>
              </a:rPr>
              <a:t>            steps {</a:t>
            </a:r>
          </a:p>
          <a:p>
            <a:pPr algn="l">
              <a:lnSpc>
                <a:spcPts val="1800"/>
              </a:lnSpc>
              <a:spcBef>
                <a:spcPct val="0"/>
              </a:spcBef>
            </a:pPr>
            <a:r>
              <a:rPr lang="en-US" sz="1800" spc="-98">
                <a:solidFill>
                  <a:srgbClr val="FFFFFF"/>
                </a:solidFill>
                <a:latin typeface="Montserrat"/>
                <a:ea typeface="Montserrat"/>
                <a:cs typeface="Montserrat"/>
                <a:sym typeface="Montserrat"/>
              </a:rPr>
              <a:t>                deleteDir()</a:t>
            </a:r>
          </a:p>
          <a:p>
            <a:pPr algn="l">
              <a:lnSpc>
                <a:spcPts val="1800"/>
              </a:lnSpc>
              <a:spcBef>
                <a:spcPct val="0"/>
              </a:spcBef>
            </a:pPr>
            <a:r>
              <a:rPr lang="en-US" sz="1800" spc="-98">
                <a:solidFill>
                  <a:srgbClr val="FFFFFF"/>
                </a:solidFill>
                <a:latin typeface="Montserrat"/>
                <a:ea typeface="Montserrat"/>
                <a:cs typeface="Montserrat"/>
                <a:sym typeface="Montserrat"/>
              </a:rPr>
              <a:t>                git branch: "${env.GIT_BRANCH}", url: "${env.GIT_URL}"</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stage('Preparar Reportes') {</a:t>
            </a:r>
          </a:p>
          <a:p>
            <a:pPr algn="l">
              <a:lnSpc>
                <a:spcPts val="1800"/>
              </a:lnSpc>
              <a:spcBef>
                <a:spcPct val="0"/>
              </a:spcBef>
            </a:pPr>
            <a:r>
              <a:rPr lang="en-US" sz="1800" spc="-98">
                <a:solidFill>
                  <a:srgbClr val="FFFFFF"/>
                </a:solidFill>
                <a:latin typeface="Montserrat"/>
                <a:ea typeface="Montserrat"/>
                <a:cs typeface="Montserrat"/>
                <a:sym typeface="Montserrat"/>
              </a:rPr>
              <a:t>            steps {</a:t>
            </a:r>
          </a:p>
          <a:p>
            <a:pPr algn="l">
              <a:lnSpc>
                <a:spcPts val="1800"/>
              </a:lnSpc>
              <a:spcBef>
                <a:spcPct val="0"/>
              </a:spcBef>
            </a:pPr>
            <a:r>
              <a:rPr lang="en-US" sz="1800" spc="-98">
                <a:solidFill>
                  <a:srgbClr val="FFFFFF"/>
                </a:solidFill>
                <a:latin typeface="Montserrat"/>
                <a:ea typeface="Montserrat"/>
                <a:cs typeface="Montserrat"/>
                <a:sym typeface="Montserrat"/>
              </a:rPr>
              <a:t>                sh '''</a:t>
            </a:r>
          </a:p>
          <a:p>
            <a:pPr algn="l">
              <a:lnSpc>
                <a:spcPts val="1800"/>
              </a:lnSpc>
              <a:spcBef>
                <a:spcPct val="0"/>
              </a:spcBef>
            </a:pPr>
            <a:r>
              <a:rPr lang="en-US" sz="1800" spc="-98">
                <a:solidFill>
                  <a:srgbClr val="FFFFFF"/>
                </a:solidFill>
                <a:latin typeface="Montserrat"/>
                <a:ea typeface="Montserrat"/>
                <a:cs typeface="Montserrat"/>
                <a:sym typeface="Montserrat"/>
              </a:rPr>
              <a:t>                    set -e</a:t>
            </a:r>
          </a:p>
          <a:p>
            <a:pPr algn="l">
              <a:lnSpc>
                <a:spcPts val="1800"/>
              </a:lnSpc>
              <a:spcBef>
                <a:spcPct val="0"/>
              </a:spcBef>
            </a:pPr>
            <a:r>
              <a:rPr lang="en-US" sz="1800" spc="-98">
                <a:solidFill>
                  <a:srgbClr val="FFFFFF"/>
                </a:solidFill>
                <a:latin typeface="Montserrat"/>
                <a:ea typeface="Montserrat"/>
                <a:cs typeface="Montserrat"/>
                <a:sym typeface="Montserrat"/>
              </a:rPr>
              <a:t>                    rm -rf "$REPORTS_DIR"</a:t>
            </a:r>
          </a:p>
          <a:p>
            <a:pPr algn="l">
              <a:lnSpc>
                <a:spcPts val="1800"/>
              </a:lnSpc>
              <a:spcBef>
                <a:spcPct val="0"/>
              </a:spcBef>
            </a:pPr>
            <a:r>
              <a:rPr lang="en-US" sz="1800" spc="-98">
                <a:solidFill>
                  <a:srgbClr val="FFFFFF"/>
                </a:solidFill>
                <a:latin typeface="Montserrat"/>
                <a:ea typeface="Montserrat"/>
                <a:cs typeface="Montserrat"/>
                <a:sym typeface="Montserrat"/>
              </a:rPr>
              <a:t>                    mkdir -p "$REPORTS_DIR"</a:t>
            </a:r>
          </a:p>
          <a:p>
            <a:pPr algn="l">
              <a:lnSpc>
                <a:spcPts val="1800"/>
              </a:lnSpc>
              <a:spcBef>
                <a:spcPct val="0"/>
              </a:spcBef>
            </a:pPr>
            <a:r>
              <a:rPr lang="en-US" sz="1800" spc="-98">
                <a:solidFill>
                  <a:srgbClr val="FFFFFF"/>
                </a:solidFill>
                <a:latin typeface="Montserrat"/>
                <a:ea typeface="Montserrat"/>
                <a:cs typeface="Montserrat"/>
                <a:sym typeface="Montserrat"/>
              </a:rPr>
              <a:t>                    chmod -R 777 "$REPORTS_DIR"</a:t>
            </a:r>
          </a:p>
          <a:p>
            <a:pPr algn="l">
              <a:lnSpc>
                <a:spcPts val="1800"/>
              </a:lnSpc>
              <a:spcBef>
                <a:spcPct val="0"/>
              </a:spcBef>
            </a:pPr>
            <a:r>
              <a:rPr lang="en-US" sz="1800" spc="-98">
                <a:solidFill>
                  <a:srgbClr val="FFFFFF"/>
                </a:solidFill>
                <a:latin typeface="Montserrat"/>
                <a:ea typeface="Montserrat"/>
                <a:cs typeface="Montserrat"/>
                <a:sym typeface="Montserrat"/>
              </a:rPr>
              <a:t>                    ls -lah "$REPORTS_DIR"</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stage('SAST - Semgrep') {</a:t>
            </a:r>
          </a:p>
          <a:p>
            <a:pPr algn="l">
              <a:lnSpc>
                <a:spcPts val="1800"/>
              </a:lnSpc>
              <a:spcBef>
                <a:spcPct val="0"/>
              </a:spcBef>
            </a:pPr>
            <a:r>
              <a:rPr lang="en-US" sz="1800" spc="-98">
                <a:solidFill>
                  <a:srgbClr val="FFFFFF"/>
                </a:solidFill>
                <a:latin typeface="Montserrat"/>
                <a:ea typeface="Montserrat"/>
                <a:cs typeface="Montserrat"/>
                <a:sym typeface="Montserrat"/>
              </a:rPr>
              <a:t>            steps {</a:t>
            </a:r>
          </a:p>
          <a:p>
            <a:pPr algn="l">
              <a:lnSpc>
                <a:spcPts val="1800"/>
              </a:lnSpc>
              <a:spcBef>
                <a:spcPct val="0"/>
              </a:spcBef>
            </a:pPr>
            <a:r>
              <a:rPr lang="en-US" sz="1800" spc="-98">
                <a:solidFill>
                  <a:srgbClr val="FFFFFF"/>
                </a:solidFill>
                <a:latin typeface="Montserrat"/>
                <a:ea typeface="Montserrat"/>
                <a:cs typeface="Montserrat"/>
                <a:sym typeface="Montserrat"/>
              </a:rPr>
              <a:t>                sh '''</a:t>
            </a:r>
          </a:p>
          <a:p>
            <a:pPr algn="l">
              <a:lnSpc>
                <a:spcPts val="1800"/>
              </a:lnSpc>
              <a:spcBef>
                <a:spcPct val="0"/>
              </a:spcBef>
            </a:pPr>
            <a:r>
              <a:rPr lang="en-US" sz="1800" spc="-98">
                <a:solidFill>
                  <a:srgbClr val="FFFFFF"/>
                </a:solidFill>
                <a:latin typeface="Montserrat"/>
                <a:ea typeface="Montserrat"/>
                <a:cs typeface="Montserrat"/>
                <a:sym typeface="Montserrat"/>
              </a:rPr>
              <a:t>                    set +e</a:t>
            </a:r>
          </a:p>
          <a:p>
            <a:pPr algn="l">
              <a:lnSpc>
                <a:spcPts val="1800"/>
              </a:lnSpc>
              <a:spcBef>
                <a:spcPct val="0"/>
              </a:spcBef>
            </a:pPr>
            <a:r>
              <a:rPr lang="en-US" sz="1800" spc="-98">
                <a:solidFill>
                  <a:srgbClr val="FFFFFF"/>
                </a:solidFill>
                <a:latin typeface="Montserrat"/>
                <a:ea typeface="Montserrat"/>
                <a:cs typeface="Montserrat"/>
                <a:sym typeface="Montserrat"/>
              </a:rPr>
              <a:t>                    docker rm -f semgrep_scan &gt;/dev/null 2&gt;&amp;1 || true</a:t>
            </a:r>
          </a:p>
          <a:p>
            <a:pPr algn="l">
              <a:lnSpc>
                <a:spcPts val="1800"/>
              </a:lnSpc>
              <a:spcBef>
                <a:spcPct val="0"/>
              </a:spcBef>
            </a:pPr>
            <a:r>
              <a:rPr lang="en-US" sz="1800" spc="-98">
                <a:solidFill>
                  <a:srgbClr val="FFFFFF"/>
                </a:solidFill>
                <a:latin typeface="Montserrat"/>
                <a:ea typeface="Montserrat"/>
                <a:cs typeface="Montserrat"/>
                <a:sym typeface="Montserrat"/>
              </a:rPr>
              <a:t>                    rm -f "$REPORTS_DIR/semgrep_report.json" || true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docker run --name semgrep_scan \</a:t>
            </a:r>
          </a:p>
          <a:p>
            <a:pPr algn="l">
              <a:lnSpc>
                <a:spcPts val="1800"/>
              </a:lnSpc>
              <a:spcBef>
                <a:spcPct val="0"/>
              </a:spcBef>
            </a:pPr>
            <a:r>
              <a:rPr lang="en-US" sz="1800" spc="-98">
                <a:solidFill>
                  <a:srgbClr val="FFFFFF"/>
                </a:solidFill>
                <a:latin typeface="Montserrat"/>
                <a:ea typeface="Montserrat"/>
                <a:cs typeface="Montserrat"/>
                <a:sym typeface="Montserrat"/>
              </a:rPr>
              <a:t>                      -u 0:0 \</a:t>
            </a:r>
          </a:p>
          <a:p>
            <a:pPr algn="l">
              <a:lnSpc>
                <a:spcPts val="1800"/>
              </a:lnSpc>
              <a:spcBef>
                <a:spcPct val="0"/>
              </a:spcBef>
            </a:pPr>
            <a:r>
              <a:rPr lang="en-US" sz="1800" spc="-98">
                <a:solidFill>
                  <a:srgbClr val="FFFFFF"/>
                </a:solidFill>
                <a:latin typeface="Montserrat"/>
                <a:ea typeface="Montserrat"/>
                <a:cs typeface="Montserrat"/>
                <a:sym typeface="Montserrat"/>
              </a:rPr>
              <a:t>                      -v "$WORKSPACE:/src" \</a:t>
            </a:r>
          </a:p>
          <a:p>
            <a:pPr algn="l">
              <a:lnSpc>
                <a:spcPts val="1800"/>
              </a:lnSpc>
              <a:spcBef>
                <a:spcPct val="0"/>
              </a:spcBef>
            </a:pPr>
            <a:r>
              <a:rPr lang="en-US" sz="1800" spc="-98">
                <a:solidFill>
                  <a:srgbClr val="FFFFFF"/>
                </a:solidFill>
                <a:latin typeface="Montserrat"/>
                <a:ea typeface="Montserrat"/>
                <a:cs typeface="Montserrat"/>
                <a:sym typeface="Montserrat"/>
              </a:rPr>
              <a:t>                      -w /src \</a:t>
            </a:r>
          </a:p>
          <a:p>
            <a:pPr algn="l">
              <a:lnSpc>
                <a:spcPts val="1800"/>
              </a:lnSpc>
              <a:spcBef>
                <a:spcPct val="0"/>
              </a:spcBef>
            </a:pPr>
            <a:r>
              <a:rPr lang="en-US" sz="1800" spc="-98">
                <a:solidFill>
                  <a:srgbClr val="FFFFFF"/>
                </a:solidFill>
                <a:latin typeface="Montserrat"/>
                <a:ea typeface="Montserrat"/>
                <a:cs typeface="Montserrat"/>
                <a:sym typeface="Montserrat"/>
              </a:rPr>
              <a:t>                      returntocorp/semgrep \</a:t>
            </a:r>
          </a:p>
          <a:p>
            <a:pPr algn="l">
              <a:lnSpc>
                <a:spcPts val="1800"/>
              </a:lnSpc>
              <a:spcBef>
                <a:spcPct val="0"/>
              </a:spcBef>
            </a:pPr>
            <a:r>
              <a:rPr lang="en-US" sz="1800" spc="-98">
                <a:solidFill>
                  <a:srgbClr val="FFFFFF"/>
                </a:solidFill>
                <a:latin typeface="Montserrat"/>
                <a:ea typeface="Montserrat"/>
                <a:cs typeface="Montserrat"/>
                <a:sym typeface="Montserrat"/>
              </a:rPr>
              <a:t>                      sh -c 'semgrep --config auto . --json --output /tmp/semgrep_report.json'</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SEMGREP_EXIT=$?</a:t>
            </a:r>
          </a:p>
          <a:p>
            <a:pPr algn="l">
              <a:lnSpc>
                <a:spcPts val="1800"/>
              </a:lnSpc>
              <a:spcBef>
                <a:spcPct val="0"/>
              </a:spcBef>
            </a:pPr>
            <a:r>
              <a:rPr lang="en-US" sz="1800" spc="-98">
                <a:solidFill>
                  <a:srgbClr val="FFFFFF"/>
                </a:solidFill>
                <a:latin typeface="Montserrat"/>
                <a:ea typeface="Montserrat"/>
                <a:cs typeface="Montserrat"/>
                <a:sym typeface="Montserrat"/>
              </a:rPr>
              <a:t>                    echo "Semgrep exit code: $SEMGREP_EXIT"</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docker cp semgrep_scan:/tmp/semgrep_report.json "$REPORTS_DIR/semgrep_report.json" || true</a:t>
            </a:r>
          </a:p>
          <a:p>
            <a:pPr algn="l">
              <a:lnSpc>
                <a:spcPts val="1800"/>
              </a:lnSpc>
              <a:spcBef>
                <a:spcPct val="0"/>
              </a:spcBef>
            </a:pPr>
            <a:r>
              <a:rPr lang="en-US" sz="1800" spc="-98">
                <a:solidFill>
                  <a:srgbClr val="FFFFFF"/>
                </a:solidFill>
                <a:latin typeface="Montserrat"/>
                <a:ea typeface="Montserrat"/>
                <a:cs typeface="Montserrat"/>
                <a:sym typeface="Montserrat"/>
              </a:rPr>
              <a:t>                    docker rm -f semgrep_scan &gt;/dev/null 2&gt;&amp;1 || true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echo "Contenido tras Semgrep:"</a:t>
            </a:r>
          </a:p>
          <a:p>
            <a:pPr algn="l">
              <a:lnSpc>
                <a:spcPts val="1800"/>
              </a:lnSpc>
              <a:spcBef>
                <a:spcPct val="0"/>
              </a:spcBef>
            </a:pPr>
            <a:r>
              <a:rPr lang="en-US" sz="1800" spc="-98">
                <a:solidFill>
                  <a:srgbClr val="FFFFFF"/>
                </a:solidFill>
                <a:latin typeface="Montserrat"/>
                <a:ea typeface="Montserrat"/>
                <a:cs typeface="Montserrat"/>
                <a:sym typeface="Montserrat"/>
              </a:rPr>
              <a:t>                    ls -lah "$REPORTS_DIR" || true</a:t>
            </a:r>
          </a:p>
          <a:p>
            <a:pPr algn="l">
              <a:lnSpc>
                <a:spcPts val="1800"/>
              </a:lnSpc>
              <a:spcBef>
                <a:spcPct val="0"/>
              </a:spcBef>
            </a:pPr>
            <a:r>
              <a:rPr lang="en-US" sz="1800" spc="-98">
                <a:solidFill>
                  <a:srgbClr val="FFFFFF"/>
                </a:solidFill>
                <a:latin typeface="Montserrat"/>
                <a:ea typeface="Montserrat"/>
                <a:cs typeface="Montserrat"/>
                <a:sym typeface="Montserrat"/>
              </a:rPr>
              <a:t>                    exit 0</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stage('Compilacion') {</a:t>
            </a:r>
          </a:p>
          <a:p>
            <a:pPr algn="l">
              <a:lnSpc>
                <a:spcPts val="1800"/>
              </a:lnSpc>
              <a:spcBef>
                <a:spcPct val="0"/>
              </a:spcBef>
            </a:pPr>
            <a:r>
              <a:rPr lang="en-US" sz="1800" spc="-98">
                <a:solidFill>
                  <a:srgbClr val="FFFFFF"/>
                </a:solidFill>
                <a:latin typeface="Montserrat"/>
                <a:ea typeface="Montserrat"/>
                <a:cs typeface="Montserrat"/>
                <a:sym typeface="Montserrat"/>
              </a:rPr>
              <a:t>            steps {</a:t>
            </a:r>
          </a:p>
          <a:p>
            <a:pPr algn="l">
              <a:lnSpc>
                <a:spcPts val="1800"/>
              </a:lnSpc>
              <a:spcBef>
                <a:spcPct val="0"/>
              </a:spcBef>
            </a:pPr>
            <a:r>
              <a:rPr lang="en-US" sz="1800" spc="-98">
                <a:solidFill>
                  <a:srgbClr val="FFFFFF"/>
                </a:solidFill>
                <a:latin typeface="Montserrat"/>
                <a:ea typeface="Montserrat"/>
                <a:cs typeface="Montserrat"/>
                <a:sym typeface="Montserrat"/>
              </a:rPr>
              <a:t>                sh '''</a:t>
            </a:r>
          </a:p>
          <a:p>
            <a:pPr algn="l">
              <a:lnSpc>
                <a:spcPts val="1800"/>
              </a:lnSpc>
              <a:spcBef>
                <a:spcPct val="0"/>
              </a:spcBef>
            </a:pPr>
            <a:r>
              <a:rPr lang="en-US" sz="1800" spc="-98">
                <a:solidFill>
                  <a:srgbClr val="FFFFFF"/>
                </a:solidFill>
                <a:latin typeface="Montserrat"/>
                <a:ea typeface="Montserrat"/>
                <a:cs typeface="Montserrat"/>
                <a:sym typeface="Montserrat"/>
              </a:rPr>
              <a:t>                    set -e</a:t>
            </a:r>
          </a:p>
          <a:p>
            <a:pPr algn="l">
              <a:lnSpc>
                <a:spcPts val="1800"/>
              </a:lnSpc>
              <a:spcBef>
                <a:spcPct val="0"/>
              </a:spcBef>
            </a:pPr>
            <a:r>
              <a:rPr lang="en-US" sz="1800" spc="-98">
                <a:solidFill>
                  <a:srgbClr val="FFFFFF"/>
                </a:solidFill>
                <a:latin typeface="Montserrat"/>
                <a:ea typeface="Montserrat"/>
                <a:cs typeface="Montserrat"/>
                <a:sym typeface="Montserrat"/>
              </a:rPr>
              <a:t>                    mvn -B clean package -DskipTests</a:t>
            </a:r>
          </a:p>
          <a:p>
            <a:pPr algn="l">
              <a:lnSpc>
                <a:spcPts val="1800"/>
              </a:lnSpc>
              <a:spcBef>
                <a:spcPct val="0"/>
              </a:spcBef>
            </a:pPr>
            <a:r>
              <a:rPr lang="en-US" sz="1800" spc="-98">
                <a:solidFill>
                  <a:srgbClr val="FFFFFF"/>
                </a:solidFill>
                <a:latin typeface="Montserrat"/>
                <a:ea typeface="Montserrat"/>
                <a:cs typeface="Montserrat"/>
                <a:sym typeface="Montserrat"/>
              </a:rPr>
              <a:t>                    ls -lah target</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stage('Docker Build') {</a:t>
            </a:r>
          </a:p>
          <a:p>
            <a:pPr algn="l">
              <a:lnSpc>
                <a:spcPts val="1800"/>
              </a:lnSpc>
              <a:spcBef>
                <a:spcPct val="0"/>
              </a:spcBef>
            </a:pPr>
            <a:r>
              <a:rPr lang="en-US" sz="1800" spc="-98">
                <a:solidFill>
                  <a:srgbClr val="FFFFFF"/>
                </a:solidFill>
                <a:latin typeface="Montserrat"/>
                <a:ea typeface="Montserrat"/>
                <a:cs typeface="Montserrat"/>
                <a:sym typeface="Montserrat"/>
              </a:rPr>
              <a:t>            steps {</a:t>
            </a:r>
          </a:p>
          <a:p>
            <a:pPr algn="l">
              <a:lnSpc>
                <a:spcPts val="1800"/>
              </a:lnSpc>
              <a:spcBef>
                <a:spcPct val="0"/>
              </a:spcBef>
            </a:pPr>
            <a:r>
              <a:rPr lang="en-US" sz="1800" spc="-98">
                <a:solidFill>
                  <a:srgbClr val="FFFFFF"/>
                </a:solidFill>
                <a:latin typeface="Montserrat"/>
                <a:ea typeface="Montserrat"/>
                <a:cs typeface="Montserrat"/>
                <a:sym typeface="Montserrat"/>
              </a:rPr>
              <a:t>                sh '''</a:t>
            </a:r>
          </a:p>
          <a:p>
            <a:pPr algn="l">
              <a:lnSpc>
                <a:spcPts val="1800"/>
              </a:lnSpc>
              <a:spcBef>
                <a:spcPct val="0"/>
              </a:spcBef>
            </a:pPr>
            <a:r>
              <a:rPr lang="en-US" sz="1800" spc="-98">
                <a:solidFill>
                  <a:srgbClr val="FFFFFF"/>
                </a:solidFill>
                <a:latin typeface="Montserrat"/>
                <a:ea typeface="Montserrat"/>
                <a:cs typeface="Montserrat"/>
                <a:sym typeface="Montserrat"/>
              </a:rPr>
              <a:t>                    set -e</a:t>
            </a:r>
          </a:p>
          <a:p>
            <a:pPr algn="l">
              <a:lnSpc>
                <a:spcPts val="1800"/>
              </a:lnSpc>
              <a:spcBef>
                <a:spcPct val="0"/>
              </a:spcBef>
            </a:pPr>
            <a:r>
              <a:rPr lang="en-US" sz="1800" spc="-98">
                <a:solidFill>
                  <a:srgbClr val="FFFFFF"/>
                </a:solidFill>
                <a:latin typeface="Montserrat"/>
                <a:ea typeface="Montserrat"/>
                <a:cs typeface="Montserrat"/>
                <a:sym typeface="Montserrat"/>
              </a:rPr>
              <a:t>                    docker build -t "$IMAGE_NAME"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stage('Container Scan - Trivy') {</a:t>
            </a:r>
          </a:p>
          <a:p>
            <a:pPr algn="l">
              <a:lnSpc>
                <a:spcPts val="1800"/>
              </a:lnSpc>
              <a:spcBef>
                <a:spcPct val="0"/>
              </a:spcBef>
            </a:pPr>
            <a:r>
              <a:rPr lang="en-US" sz="1800" spc="-98">
                <a:solidFill>
                  <a:srgbClr val="FFFFFF"/>
                </a:solidFill>
                <a:latin typeface="Montserrat"/>
                <a:ea typeface="Montserrat"/>
                <a:cs typeface="Montserrat"/>
                <a:sym typeface="Montserrat"/>
              </a:rPr>
              <a:t>            steps {</a:t>
            </a:r>
          </a:p>
          <a:p>
            <a:pPr algn="l">
              <a:lnSpc>
                <a:spcPts val="1800"/>
              </a:lnSpc>
              <a:spcBef>
                <a:spcPct val="0"/>
              </a:spcBef>
            </a:pPr>
            <a:r>
              <a:rPr lang="en-US" sz="1800" spc="-98">
                <a:solidFill>
                  <a:srgbClr val="FFFFFF"/>
                </a:solidFill>
                <a:latin typeface="Montserrat"/>
                <a:ea typeface="Montserrat"/>
                <a:cs typeface="Montserrat"/>
                <a:sym typeface="Montserrat"/>
              </a:rPr>
              <a:t>                sh '''</a:t>
            </a:r>
          </a:p>
          <a:p>
            <a:pPr algn="l">
              <a:lnSpc>
                <a:spcPts val="1800"/>
              </a:lnSpc>
              <a:spcBef>
                <a:spcPct val="0"/>
              </a:spcBef>
            </a:pPr>
            <a:r>
              <a:rPr lang="en-US" sz="1800" spc="-98">
                <a:solidFill>
                  <a:srgbClr val="FFFFFF"/>
                </a:solidFill>
                <a:latin typeface="Montserrat"/>
                <a:ea typeface="Montserrat"/>
                <a:cs typeface="Montserrat"/>
                <a:sym typeface="Montserrat"/>
              </a:rPr>
              <a:t>                    set +e</a:t>
            </a:r>
          </a:p>
          <a:p>
            <a:pPr algn="l">
              <a:lnSpc>
                <a:spcPts val="1800"/>
              </a:lnSpc>
              <a:spcBef>
                <a:spcPct val="0"/>
              </a:spcBef>
            </a:pPr>
            <a:r>
              <a:rPr lang="en-US" sz="1800" spc="-98">
                <a:solidFill>
                  <a:srgbClr val="FFFFFF"/>
                </a:solidFill>
                <a:latin typeface="Montserrat"/>
                <a:ea typeface="Montserrat"/>
                <a:cs typeface="Montserrat"/>
                <a:sym typeface="Montserrat"/>
              </a:rPr>
              <a:t>                    docker rm -f trivy_scan &gt;/dev/null 2&gt;&amp;1 || true</a:t>
            </a:r>
          </a:p>
          <a:p>
            <a:pPr algn="l">
              <a:lnSpc>
                <a:spcPts val="1800"/>
              </a:lnSpc>
              <a:spcBef>
                <a:spcPct val="0"/>
              </a:spcBef>
            </a:pPr>
            <a:r>
              <a:rPr lang="en-US" sz="1800" spc="-98">
                <a:solidFill>
                  <a:srgbClr val="FFFFFF"/>
                </a:solidFill>
                <a:latin typeface="Montserrat"/>
                <a:ea typeface="Montserrat"/>
                <a:cs typeface="Montserrat"/>
                <a:sym typeface="Montserrat"/>
              </a:rPr>
              <a:t>                    rm -f "$REPORTS_DIR/trivy_report.json" || true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docker run --name trivy_scan \</a:t>
            </a:r>
          </a:p>
          <a:p>
            <a:pPr algn="l">
              <a:lnSpc>
                <a:spcPts val="1800"/>
              </a:lnSpc>
              <a:spcBef>
                <a:spcPct val="0"/>
              </a:spcBef>
            </a:pPr>
            <a:r>
              <a:rPr lang="en-US" sz="1800" spc="-98">
                <a:solidFill>
                  <a:srgbClr val="FFFFFF"/>
                </a:solidFill>
                <a:latin typeface="Montserrat"/>
                <a:ea typeface="Montserrat"/>
                <a:cs typeface="Montserrat"/>
                <a:sym typeface="Montserrat"/>
              </a:rPr>
              <a:t>                      -u 0:0 \</a:t>
            </a:r>
          </a:p>
          <a:p>
            <a:pPr algn="l">
              <a:lnSpc>
                <a:spcPts val="1800"/>
              </a:lnSpc>
              <a:spcBef>
                <a:spcPct val="0"/>
              </a:spcBef>
            </a:pPr>
            <a:r>
              <a:rPr lang="en-US" sz="1800" spc="-98">
                <a:solidFill>
                  <a:srgbClr val="FFFFFF"/>
                </a:solidFill>
                <a:latin typeface="Montserrat"/>
                <a:ea typeface="Montserrat"/>
                <a:cs typeface="Montserrat"/>
                <a:sym typeface="Montserrat"/>
              </a:rPr>
              <a:t>                      -v /var/run/docker.sock:/var/run/docker.sock \</a:t>
            </a:r>
          </a:p>
          <a:p>
            <a:pPr algn="l">
              <a:lnSpc>
                <a:spcPts val="1800"/>
              </a:lnSpc>
              <a:spcBef>
                <a:spcPct val="0"/>
              </a:spcBef>
            </a:pPr>
            <a:r>
              <a:rPr lang="en-US" sz="1800" spc="-98">
                <a:solidFill>
                  <a:srgbClr val="FFFFFF"/>
                </a:solidFill>
                <a:latin typeface="Montserrat"/>
                <a:ea typeface="Montserrat"/>
                <a:cs typeface="Montserrat"/>
                <a:sym typeface="Montserrat"/>
              </a:rPr>
              <a:t>                      aquasec/trivy:latest image \</a:t>
            </a:r>
          </a:p>
          <a:p>
            <a:pPr algn="l">
              <a:lnSpc>
                <a:spcPts val="1800"/>
              </a:lnSpc>
              <a:spcBef>
                <a:spcPct val="0"/>
              </a:spcBef>
            </a:pPr>
            <a:r>
              <a:rPr lang="en-US" sz="1800" spc="-98">
                <a:solidFill>
                  <a:srgbClr val="FFFFFF"/>
                </a:solidFill>
                <a:latin typeface="Montserrat"/>
                <a:ea typeface="Montserrat"/>
                <a:cs typeface="Montserrat"/>
                <a:sym typeface="Montserrat"/>
              </a:rPr>
              <a:t>                      --timeout 15m \</a:t>
            </a:r>
          </a:p>
          <a:p>
            <a:pPr algn="l">
              <a:lnSpc>
                <a:spcPts val="1800"/>
              </a:lnSpc>
              <a:spcBef>
                <a:spcPct val="0"/>
              </a:spcBef>
            </a:pPr>
            <a:r>
              <a:rPr lang="en-US" sz="1800" spc="-98">
                <a:solidFill>
                  <a:srgbClr val="FFFFFF"/>
                </a:solidFill>
                <a:latin typeface="Montserrat"/>
                <a:ea typeface="Montserrat"/>
                <a:cs typeface="Montserrat"/>
                <a:sym typeface="Montserrat"/>
              </a:rPr>
              <a:t>                      --format json \</a:t>
            </a:r>
          </a:p>
          <a:p>
            <a:pPr algn="l">
              <a:lnSpc>
                <a:spcPts val="1800"/>
              </a:lnSpc>
              <a:spcBef>
                <a:spcPct val="0"/>
              </a:spcBef>
            </a:pPr>
            <a:r>
              <a:rPr lang="en-US" sz="1800" spc="-98">
                <a:solidFill>
                  <a:srgbClr val="FFFFFF"/>
                </a:solidFill>
                <a:latin typeface="Montserrat"/>
                <a:ea typeface="Montserrat"/>
                <a:cs typeface="Montserrat"/>
                <a:sym typeface="Montserrat"/>
              </a:rPr>
              <a:t>                      --output /tmp/trivy_report.json \</a:t>
            </a:r>
          </a:p>
          <a:p>
            <a:pPr algn="l">
              <a:lnSpc>
                <a:spcPts val="1800"/>
              </a:lnSpc>
              <a:spcBef>
                <a:spcPct val="0"/>
              </a:spcBef>
            </a:pPr>
            <a:r>
              <a:rPr lang="en-US" sz="1800" spc="-98">
                <a:solidFill>
                  <a:srgbClr val="FFFFFF"/>
                </a:solidFill>
                <a:latin typeface="Montserrat"/>
                <a:ea typeface="Montserrat"/>
                <a:cs typeface="Montserrat"/>
                <a:sym typeface="Montserrat"/>
              </a:rPr>
              <a:t>                      "$IMAGE_NAME"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TRIVY_EXIT=$?</a:t>
            </a:r>
          </a:p>
          <a:p>
            <a:pPr algn="l">
              <a:lnSpc>
                <a:spcPts val="1800"/>
              </a:lnSpc>
              <a:spcBef>
                <a:spcPct val="0"/>
              </a:spcBef>
            </a:pPr>
            <a:r>
              <a:rPr lang="en-US" sz="1800" spc="-98">
                <a:solidFill>
                  <a:srgbClr val="FFFFFF"/>
                </a:solidFill>
                <a:latin typeface="Montserrat"/>
                <a:ea typeface="Montserrat"/>
                <a:cs typeface="Montserrat"/>
                <a:sym typeface="Montserrat"/>
              </a:rPr>
              <a:t>                    echo "Trivy exit code: $TRIVY_EXIT"</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docker cp trivy_scan:/tmp/trivy_report.json "$REPORTS_DIR/trivy_report.json" || true</a:t>
            </a:r>
          </a:p>
          <a:p>
            <a:pPr algn="l">
              <a:lnSpc>
                <a:spcPts val="1800"/>
              </a:lnSpc>
              <a:spcBef>
                <a:spcPct val="0"/>
              </a:spcBef>
            </a:pPr>
            <a:r>
              <a:rPr lang="en-US" sz="1800" spc="-98">
                <a:solidFill>
                  <a:srgbClr val="FFFFFF"/>
                </a:solidFill>
                <a:latin typeface="Montserrat"/>
                <a:ea typeface="Montserrat"/>
                <a:cs typeface="Montserrat"/>
                <a:sym typeface="Montserrat"/>
              </a:rPr>
              <a:t>                    docker rm -f trivy_scan &gt;/dev/null 2&gt;&amp;1 || true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echo "Contenido tras Trivy:"</a:t>
            </a:r>
          </a:p>
          <a:p>
            <a:pPr algn="l">
              <a:lnSpc>
                <a:spcPts val="1800"/>
              </a:lnSpc>
              <a:spcBef>
                <a:spcPct val="0"/>
              </a:spcBef>
            </a:pPr>
            <a:r>
              <a:rPr lang="en-US" sz="1800" spc="-98">
                <a:solidFill>
                  <a:srgbClr val="FFFFFF"/>
                </a:solidFill>
                <a:latin typeface="Montserrat"/>
                <a:ea typeface="Montserrat"/>
                <a:cs typeface="Montserrat"/>
                <a:sym typeface="Montserrat"/>
              </a:rPr>
              <a:t>                    ls -lah "$REPORTS_DIR" || true</a:t>
            </a:r>
          </a:p>
          <a:p>
            <a:pPr algn="l">
              <a:lnSpc>
                <a:spcPts val="1800"/>
              </a:lnSpc>
              <a:spcBef>
                <a:spcPct val="0"/>
              </a:spcBef>
            </a:pPr>
            <a:r>
              <a:rPr lang="en-US" sz="1800" spc="-98">
                <a:solidFill>
                  <a:srgbClr val="FFFFFF"/>
                </a:solidFill>
                <a:latin typeface="Montserrat"/>
                <a:ea typeface="Montserrat"/>
                <a:cs typeface="Montserrat"/>
                <a:sym typeface="Montserrat"/>
              </a:rPr>
              <a:t>                    exit 0</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stage('SCA - Snyk') {</a:t>
            </a:r>
          </a:p>
          <a:p>
            <a:pPr algn="l">
              <a:lnSpc>
                <a:spcPts val="1800"/>
              </a:lnSpc>
              <a:spcBef>
                <a:spcPct val="0"/>
              </a:spcBef>
            </a:pPr>
            <a:r>
              <a:rPr lang="en-US" sz="1800" spc="-98">
                <a:solidFill>
                  <a:srgbClr val="FFFFFF"/>
                </a:solidFill>
                <a:latin typeface="Montserrat"/>
                <a:ea typeface="Montserrat"/>
                <a:cs typeface="Montserrat"/>
                <a:sym typeface="Montserrat"/>
              </a:rPr>
              <a:t>            when {</a:t>
            </a:r>
          </a:p>
          <a:p>
            <a:pPr algn="l">
              <a:lnSpc>
                <a:spcPts val="1800"/>
              </a:lnSpc>
              <a:spcBef>
                <a:spcPct val="0"/>
              </a:spcBef>
            </a:pPr>
            <a:r>
              <a:rPr lang="en-US" sz="1800" spc="-98">
                <a:solidFill>
                  <a:srgbClr val="FFFFFF"/>
                </a:solidFill>
                <a:latin typeface="Montserrat"/>
                <a:ea typeface="Montserrat"/>
                <a:cs typeface="Montserrat"/>
                <a:sym typeface="Montserrat"/>
              </a:rPr>
              <a:t>                expression { params.ENABLE_SNYK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steps {</a:t>
            </a:r>
          </a:p>
          <a:p>
            <a:pPr algn="l">
              <a:lnSpc>
                <a:spcPts val="1800"/>
              </a:lnSpc>
              <a:spcBef>
                <a:spcPct val="0"/>
              </a:spcBef>
            </a:pPr>
            <a:r>
              <a:rPr lang="en-US" sz="1800" spc="-98">
                <a:solidFill>
                  <a:srgbClr val="FFFFFF"/>
                </a:solidFill>
                <a:latin typeface="Montserrat"/>
                <a:ea typeface="Montserrat"/>
                <a:cs typeface="Montserrat"/>
                <a:sym typeface="Montserrat"/>
              </a:rPr>
              <a:t>                sh '''</a:t>
            </a:r>
          </a:p>
          <a:p>
            <a:pPr algn="l">
              <a:lnSpc>
                <a:spcPts val="1800"/>
              </a:lnSpc>
              <a:spcBef>
                <a:spcPct val="0"/>
              </a:spcBef>
            </a:pPr>
            <a:r>
              <a:rPr lang="en-US" sz="1800" spc="-98">
                <a:solidFill>
                  <a:srgbClr val="FFFFFF"/>
                </a:solidFill>
                <a:latin typeface="Montserrat"/>
                <a:ea typeface="Montserrat"/>
                <a:cs typeface="Montserrat"/>
                <a:sym typeface="Montserrat"/>
              </a:rPr>
              <a:t>                    set +e</a:t>
            </a:r>
          </a:p>
          <a:p>
            <a:pPr algn="l">
              <a:lnSpc>
                <a:spcPts val="1800"/>
              </a:lnSpc>
              <a:spcBef>
                <a:spcPct val="0"/>
              </a:spcBef>
            </a:pPr>
            <a:r>
              <a:rPr lang="en-US" sz="1800" spc="-98">
                <a:solidFill>
                  <a:srgbClr val="FFFFFF"/>
                </a:solidFill>
                <a:latin typeface="Montserrat"/>
                <a:ea typeface="Montserrat"/>
                <a:cs typeface="Montserrat"/>
                <a:sym typeface="Montserrat"/>
              </a:rPr>
              <a:t>                    rm -f snyk snyk_report.json "$REPORTS_DIR/snyk_report.json" || true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curl -sL https://static.snyk.io/cli/latest/snyk-linux -o snyk</a:t>
            </a:r>
          </a:p>
          <a:p>
            <a:pPr algn="l">
              <a:lnSpc>
                <a:spcPts val="1800"/>
              </a:lnSpc>
              <a:spcBef>
                <a:spcPct val="0"/>
              </a:spcBef>
            </a:pPr>
            <a:r>
              <a:rPr lang="en-US" sz="1800" spc="-98">
                <a:solidFill>
                  <a:srgbClr val="FFFFFF"/>
                </a:solidFill>
                <a:latin typeface="Montserrat"/>
                <a:ea typeface="Montserrat"/>
                <a:cs typeface="Montserrat"/>
                <a:sym typeface="Montserrat"/>
              </a:rPr>
              <a:t>                    chmod +x snyk</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./snyk auth "$SNYK_TOKEN"</a:t>
            </a:r>
          </a:p>
          <a:p>
            <a:pPr algn="l">
              <a:lnSpc>
                <a:spcPts val="1800"/>
              </a:lnSpc>
              <a:spcBef>
                <a:spcPct val="0"/>
              </a:spcBef>
            </a:pPr>
            <a:r>
              <a:rPr lang="en-US" sz="1800" spc="-98">
                <a:solidFill>
                  <a:srgbClr val="FFFFFF"/>
                </a:solidFill>
                <a:latin typeface="Montserrat"/>
                <a:ea typeface="Montserrat"/>
                <a:cs typeface="Montserrat"/>
                <a:sym typeface="Montserrat"/>
              </a:rPr>
              <a:t>                    ./snyk test --file=pom.xml --json &gt; snyk_report.json</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SNYK_EXIT=$?</a:t>
            </a:r>
          </a:p>
          <a:p>
            <a:pPr algn="l">
              <a:lnSpc>
                <a:spcPts val="1800"/>
              </a:lnSpc>
              <a:spcBef>
                <a:spcPct val="0"/>
              </a:spcBef>
            </a:pPr>
            <a:r>
              <a:rPr lang="en-US" sz="1800" spc="-98">
                <a:solidFill>
                  <a:srgbClr val="FFFFFF"/>
                </a:solidFill>
                <a:latin typeface="Montserrat"/>
                <a:ea typeface="Montserrat"/>
                <a:cs typeface="Montserrat"/>
                <a:sym typeface="Montserrat"/>
              </a:rPr>
              <a:t>                    echo "Snyk exit code: $SNYK_EXIT"</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cp snyk_report.json "$REPORTS_DIR/snyk_report.json" || true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echo "Contenido tras Snyk:"</a:t>
            </a:r>
          </a:p>
          <a:p>
            <a:pPr algn="l">
              <a:lnSpc>
                <a:spcPts val="1800"/>
              </a:lnSpc>
              <a:spcBef>
                <a:spcPct val="0"/>
              </a:spcBef>
            </a:pPr>
            <a:r>
              <a:rPr lang="en-US" sz="1800" spc="-98">
                <a:solidFill>
                  <a:srgbClr val="FFFFFF"/>
                </a:solidFill>
                <a:latin typeface="Montserrat"/>
                <a:ea typeface="Montserrat"/>
                <a:cs typeface="Montserrat"/>
                <a:sym typeface="Montserrat"/>
              </a:rPr>
              <a:t>                    ls -lah "$REPORTS_DIR" || true</a:t>
            </a:r>
          </a:p>
          <a:p>
            <a:pPr algn="l">
              <a:lnSpc>
                <a:spcPts val="1800"/>
              </a:lnSpc>
              <a:spcBef>
                <a:spcPct val="0"/>
              </a:spcBef>
            </a:pPr>
            <a:r>
              <a:rPr lang="en-US" sz="1800" spc="-98">
                <a:solidFill>
                  <a:srgbClr val="FFFFFF"/>
                </a:solidFill>
                <a:latin typeface="Montserrat"/>
                <a:ea typeface="Montserrat"/>
                <a:cs typeface="Montserrat"/>
                <a:sym typeface="Montserrat"/>
              </a:rPr>
              <a:t>                    exit 0</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stage('Despliegue') {</a:t>
            </a:r>
          </a:p>
          <a:p>
            <a:pPr algn="l">
              <a:lnSpc>
                <a:spcPts val="1800"/>
              </a:lnSpc>
              <a:spcBef>
                <a:spcPct val="0"/>
              </a:spcBef>
            </a:pPr>
            <a:r>
              <a:rPr lang="en-US" sz="1800" spc="-98">
                <a:solidFill>
                  <a:srgbClr val="FFFFFF"/>
                </a:solidFill>
                <a:latin typeface="Montserrat"/>
                <a:ea typeface="Montserrat"/>
                <a:cs typeface="Montserrat"/>
                <a:sym typeface="Montserrat"/>
              </a:rPr>
              <a:t>            when {</a:t>
            </a:r>
          </a:p>
          <a:p>
            <a:pPr algn="l">
              <a:lnSpc>
                <a:spcPts val="1800"/>
              </a:lnSpc>
              <a:spcBef>
                <a:spcPct val="0"/>
              </a:spcBef>
            </a:pPr>
            <a:r>
              <a:rPr lang="en-US" sz="1800" spc="-98">
                <a:solidFill>
                  <a:srgbClr val="FFFFFF"/>
                </a:solidFill>
                <a:latin typeface="Montserrat"/>
                <a:ea typeface="Montserrat"/>
                <a:cs typeface="Montserrat"/>
                <a:sym typeface="Montserrat"/>
              </a:rPr>
              <a:t>                expression { params.ENABLE_DEPLOY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steps {</a:t>
            </a:r>
          </a:p>
          <a:p>
            <a:pPr algn="l">
              <a:lnSpc>
                <a:spcPts val="1800"/>
              </a:lnSpc>
              <a:spcBef>
                <a:spcPct val="0"/>
              </a:spcBef>
            </a:pPr>
            <a:r>
              <a:rPr lang="en-US" sz="1800" spc="-98">
                <a:solidFill>
                  <a:srgbClr val="FFFFFF"/>
                </a:solidFill>
                <a:latin typeface="Montserrat"/>
                <a:ea typeface="Montserrat"/>
                <a:cs typeface="Montserrat"/>
                <a:sym typeface="Montserrat"/>
              </a:rPr>
              <a:t>                withCredentials([</a:t>
            </a:r>
          </a:p>
          <a:p>
            <a:pPr algn="l">
              <a:lnSpc>
                <a:spcPts val="1800"/>
              </a:lnSpc>
              <a:spcBef>
                <a:spcPct val="0"/>
              </a:spcBef>
            </a:pPr>
            <a:r>
              <a:rPr lang="en-US" sz="1800" spc="-98">
                <a:solidFill>
                  <a:srgbClr val="FFFFFF"/>
                </a:solidFill>
                <a:latin typeface="Montserrat"/>
                <a:ea typeface="Montserrat"/>
                <a:cs typeface="Montserrat"/>
                <a:sym typeface="Montserrat"/>
              </a:rPr>
              <a:t>                    sshUserPrivateKey(</a:t>
            </a:r>
          </a:p>
          <a:p>
            <a:pPr algn="l">
              <a:lnSpc>
                <a:spcPts val="1800"/>
              </a:lnSpc>
              <a:spcBef>
                <a:spcPct val="0"/>
              </a:spcBef>
            </a:pPr>
            <a:r>
              <a:rPr lang="en-US" sz="1800" spc="-98">
                <a:solidFill>
                  <a:srgbClr val="FFFFFF"/>
                </a:solidFill>
                <a:latin typeface="Montserrat"/>
                <a:ea typeface="Montserrat"/>
                <a:cs typeface="Montserrat"/>
                <a:sym typeface="Montserrat"/>
              </a:rPr>
              <a:t>                        credentialsId: 'vm-access',</a:t>
            </a:r>
          </a:p>
          <a:p>
            <a:pPr algn="l">
              <a:lnSpc>
                <a:spcPts val="1800"/>
              </a:lnSpc>
              <a:spcBef>
                <a:spcPct val="0"/>
              </a:spcBef>
            </a:pPr>
            <a:r>
              <a:rPr lang="en-US" sz="1800" spc="-98">
                <a:solidFill>
                  <a:srgbClr val="FFFFFF"/>
                </a:solidFill>
                <a:latin typeface="Montserrat"/>
                <a:ea typeface="Montserrat"/>
                <a:cs typeface="Montserrat"/>
                <a:sym typeface="Montserrat"/>
              </a:rPr>
              <a:t>                        keyFileVariable: 'SSH_KEY',</a:t>
            </a:r>
          </a:p>
          <a:p>
            <a:pPr algn="l">
              <a:lnSpc>
                <a:spcPts val="1800"/>
              </a:lnSpc>
              <a:spcBef>
                <a:spcPct val="0"/>
              </a:spcBef>
            </a:pPr>
            <a:r>
              <a:rPr lang="en-US" sz="1800" spc="-98">
                <a:solidFill>
                  <a:srgbClr val="FFFFFF"/>
                </a:solidFill>
                <a:latin typeface="Montserrat"/>
                <a:ea typeface="Montserrat"/>
                <a:cs typeface="Montserrat"/>
                <a:sym typeface="Montserrat"/>
              </a:rPr>
              <a:t>                        usernameVariable: 'SSH_USER'</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 {</a:t>
            </a:r>
          </a:p>
          <a:p>
            <a:pPr algn="l">
              <a:lnSpc>
                <a:spcPts val="1800"/>
              </a:lnSpc>
              <a:spcBef>
                <a:spcPct val="0"/>
              </a:spcBef>
            </a:pPr>
            <a:r>
              <a:rPr lang="en-US" sz="1800" spc="-98">
                <a:solidFill>
                  <a:srgbClr val="FFFFFF"/>
                </a:solidFill>
                <a:latin typeface="Montserrat"/>
                <a:ea typeface="Montserrat"/>
                <a:cs typeface="Montserrat"/>
                <a:sym typeface="Montserrat"/>
              </a:rPr>
              <a:t>                    sh '''</a:t>
            </a:r>
          </a:p>
          <a:p>
            <a:pPr algn="l">
              <a:lnSpc>
                <a:spcPts val="1800"/>
              </a:lnSpc>
              <a:spcBef>
                <a:spcPct val="0"/>
              </a:spcBef>
            </a:pPr>
            <a:r>
              <a:rPr lang="en-US" sz="1800" spc="-98">
                <a:solidFill>
                  <a:srgbClr val="FFFFFF"/>
                </a:solidFill>
                <a:latin typeface="Montserrat"/>
                <a:ea typeface="Montserrat"/>
                <a:cs typeface="Montserrat"/>
                <a:sym typeface="Montserrat"/>
              </a:rPr>
              <a:t>                        set -euxo pipefail</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echo "========== PRUEBA SSH =========="</a:t>
            </a:r>
          </a:p>
          <a:p>
            <a:pPr algn="l">
              <a:lnSpc>
                <a:spcPts val="1800"/>
              </a:lnSpc>
              <a:spcBef>
                <a:spcPct val="0"/>
              </a:spcBef>
            </a:pPr>
            <a:r>
              <a:rPr lang="en-US" sz="1800" spc="-98">
                <a:solidFill>
                  <a:srgbClr val="FFFFFF"/>
                </a:solidFill>
                <a:latin typeface="Montserrat"/>
                <a:ea typeface="Montserrat"/>
                <a:cs typeface="Montserrat"/>
                <a:sym typeface="Montserrat"/>
              </a:rPr>
              <a:t>                        ssh $SSH_OPTS -p "$VM_SSH_PORT" -i "$SSH_KEY" \</a:t>
            </a:r>
          </a:p>
          <a:p>
            <a:pPr algn="l">
              <a:lnSpc>
                <a:spcPts val="1800"/>
              </a:lnSpc>
              <a:spcBef>
                <a:spcPct val="0"/>
              </a:spcBef>
            </a:pPr>
            <a:r>
              <a:rPr lang="en-US" sz="1800" spc="-98">
                <a:solidFill>
                  <a:srgbClr val="FFFFFF"/>
                </a:solidFill>
                <a:latin typeface="Montserrat"/>
                <a:ea typeface="Montserrat"/>
                <a:cs typeface="Montserrat"/>
                <a:sym typeface="Montserrat"/>
              </a:rPr>
              <a:t><![CDATA[                          "$SSH_USER@$VM_IP" 'echo CONEXION_OK && whoami && hostname && java -version']]></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echo "========== DETENER APP ANTERIOR =========="</a:t>
            </a:r>
          </a:p>
          <a:p>
            <a:pPr algn="l">
              <a:lnSpc>
                <a:spcPts val="1800"/>
              </a:lnSpc>
              <a:spcBef>
                <a:spcPct val="0"/>
              </a:spcBef>
            </a:pPr>
            <a:r>
              <a:rPr lang="en-US" sz="1800" spc="-98">
                <a:solidFill>
                  <a:srgbClr val="FFFFFF"/>
                </a:solidFill>
                <a:latin typeface="Montserrat"/>
                <a:ea typeface="Montserrat"/>
                <a:cs typeface="Montserrat"/>
                <a:sym typeface="Montserrat"/>
              </a:rPr>
              <a:t>                        ssh $SSH_OPTS -p "$VM_SSH_PORT" -i "$SSH_KEY" \</a:t>
            </a:r>
          </a:p>
          <a:p>
            <a:pPr algn="l">
              <a:lnSpc>
                <a:spcPts val="1800"/>
              </a:lnSpc>
              <a:spcBef>
                <a:spcPct val="0"/>
              </a:spcBef>
            </a:pPr>
            <a:r>
              <a:rPr lang="en-US" sz="1800" spc="-98">
                <a:solidFill>
                  <a:srgbClr val="FFFFFF"/>
                </a:solidFill>
                <a:latin typeface="Montserrat"/>
                <a:ea typeface="Montserrat"/>
                <a:cs typeface="Montserrat"/>
                <a:sym typeface="Montserrat"/>
              </a:rPr>
              <a:t>                          "$SSH_USER@$VM_IP" "</a:t>
            </a:r>
          </a:p>
          <a:p>
            <a:pPr algn="l">
              <a:lnSpc>
                <a:spcPts val="1800"/>
              </a:lnSpc>
              <a:spcBef>
                <a:spcPct val="0"/>
              </a:spcBef>
            </a:pPr>
            <a:r>
              <a:rPr lang="en-US" sz="1800" spc="-98">
                <a:solidFill>
                  <a:srgbClr val="FFFFFF"/>
                </a:solidFill>
                <a:latin typeface="Montserrat"/>
                <a:ea typeface="Montserrat"/>
                <a:cs typeface="Montserrat"/>
                <a:sym typeface="Montserrat"/>
              </a:rPr>
              <a:t>                            fuser -k ${APP_PORT}/tcp || true</a:t>
            </a:r>
          </a:p>
          <a:p>
            <a:pPr algn="l">
              <a:lnSpc>
                <a:spcPts val="1800"/>
              </a:lnSpc>
              <a:spcBef>
                <a:spcPct val="0"/>
              </a:spcBef>
            </a:pPr>
            <a:r>
              <a:rPr lang="en-US" sz="1800" spc="-98">
                <a:solidFill>
                  <a:srgbClr val="FFFFFF"/>
                </a:solidFill>
                <a:latin typeface="Montserrat"/>
                <a:ea typeface="Montserrat"/>
                <a:cs typeface="Montserrat"/>
                <a:sym typeface="Montserrat"/>
              </a:rPr>
              <a:t>                            sleep 3</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echo "========== COPIAR JAR =========="</a:t>
            </a:r>
          </a:p>
          <a:p>
            <a:pPr algn="l">
              <a:lnSpc>
                <a:spcPts val="1800"/>
              </a:lnSpc>
              <a:spcBef>
                <a:spcPct val="0"/>
              </a:spcBef>
            </a:pPr>
            <a:r>
              <a:rPr lang="en-US" sz="1800" spc="-98">
                <a:solidFill>
                  <a:srgbClr val="FFFFFF"/>
                </a:solidFill>
                <a:latin typeface="Montserrat"/>
                <a:ea typeface="Montserrat"/>
                <a:cs typeface="Montserrat"/>
                <a:sym typeface="Montserrat"/>
              </a:rPr>
              <a:t>                        scp $SSH_OPTS -P "$VM_SSH_PORT" -i "$SSH_KEY" \</a:t>
            </a:r>
          </a:p>
          <a:p>
            <a:pPr algn="l">
              <a:lnSpc>
                <a:spcPts val="1800"/>
              </a:lnSpc>
              <a:spcBef>
                <a:spcPct val="0"/>
              </a:spcBef>
            </a:pPr>
            <a:r>
              <a:rPr lang="en-US" sz="1800" spc="-98">
                <a:solidFill>
                  <a:srgbClr val="FFFFFF"/>
                </a:solidFill>
                <a:latin typeface="Montserrat"/>
                <a:ea typeface="Montserrat"/>
                <a:cs typeface="Montserrat"/>
                <a:sym typeface="Montserrat"/>
              </a:rPr>
              <a:t>                          target/*.jar \</a:t>
            </a:r>
          </a:p>
          <a:p>
            <a:pPr algn="l">
              <a:lnSpc>
                <a:spcPts val="1800"/>
              </a:lnSpc>
              <a:spcBef>
                <a:spcPct val="0"/>
              </a:spcBef>
            </a:pPr>
            <a:r>
              <a:rPr lang="en-US" sz="1800" spc="-98">
                <a:solidFill>
                  <a:srgbClr val="FFFFFF"/>
                </a:solidFill>
                <a:latin typeface="Montserrat"/>
                <a:ea typeface="Montserrat"/>
                <a:cs typeface="Montserrat"/>
                <a:sym typeface="Montserrat"/>
              </a:rPr>
              <a:t>                          "$SSH_USER@$VM_IP:$APP_PATH/app.jar"</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echo "========== ARRANCAR APP =========="</a:t>
            </a:r>
          </a:p>
          <a:p>
            <a:pPr algn="l">
              <a:lnSpc>
                <a:spcPts val="1800"/>
              </a:lnSpc>
              <a:spcBef>
                <a:spcPct val="0"/>
              </a:spcBef>
            </a:pPr>
            <a:r>
              <a:rPr lang="en-US" sz="1800" spc="-98">
                <a:solidFill>
                  <a:srgbClr val="FFFFFF"/>
                </a:solidFill>
                <a:latin typeface="Montserrat"/>
                <a:ea typeface="Montserrat"/>
                <a:cs typeface="Montserrat"/>
                <a:sym typeface="Montserrat"/>
              </a:rPr>
              <a:t>                        ssh $SSH_OPTS -p "$VM_SSH_PORT" -i "$SSH_KEY" \</a:t>
            </a:r>
          </a:p>
          <a:p>
            <a:pPr algn="l">
              <a:lnSpc>
                <a:spcPts val="1800"/>
              </a:lnSpc>
              <a:spcBef>
                <a:spcPct val="0"/>
              </a:spcBef>
            </a:pPr>
            <a:r>
              <a:rPr lang="en-US" sz="1800" spc="-98">
                <a:solidFill>
                  <a:srgbClr val="FFFFFF"/>
                </a:solidFill>
                <a:latin typeface="Montserrat"/>
                <a:ea typeface="Montserrat"/>
                <a:cs typeface="Montserrat"/>
                <a:sym typeface="Montserrat"/>
              </a:rPr>
              <a:t>                          "$SSH_USER@$VM_IP" "</a:t>
            </a:r>
          </a:p>
          <a:p>
            <a:pPr algn="l">
              <a:lnSpc>
                <a:spcPts val="1800"/>
              </a:lnSpc>
              <a:spcBef>
                <a:spcPct val="0"/>
              </a:spcBef>
            </a:pPr>
            <a:r>
              <a:rPr lang="en-US" sz="1800" spc="-98">
                <a:solidFill>
                  <a:srgbClr val="FFFFFF"/>
                </a:solidFill>
                <a:latin typeface="Montserrat"/>
                <a:ea typeface="Montserrat"/>
                <a:cs typeface="Montserrat"/>
                <a:sym typeface="Montserrat"/>
              </a:rPr>
              <a:t>                            nohup java -jar $APP_PATH/app.jar --server.port=${APP_PORT} &gt; /tmp/app.log 2&gt;&amp;1 &amp;</a:t>
            </a:r>
          </a:p>
          <a:p>
            <a:pPr algn="l">
              <a:lnSpc>
                <a:spcPts val="1800"/>
              </a:lnSpc>
              <a:spcBef>
                <a:spcPct val="0"/>
              </a:spcBef>
            </a:pPr>
            <a:r>
              <a:rPr lang="en-US" sz="1800" spc="-98">
                <a:solidFill>
                  <a:srgbClr val="FFFFFF"/>
                </a:solidFill>
                <a:latin typeface="Montserrat"/>
                <a:ea typeface="Montserrat"/>
                <a:cs typeface="Montserrat"/>
                <a:sym typeface="Montserrat"/>
              </a:rPr>
              <a:t>                            echo \\$! &gt; /tmp/app.pid</a:t>
            </a:r>
          </a:p>
          <a:p>
            <a:pPr algn="l">
              <a:lnSpc>
                <a:spcPts val="1800"/>
              </a:lnSpc>
              <a:spcBef>
                <a:spcPct val="0"/>
              </a:spcBef>
            </a:pPr>
            <a:r>
              <a:rPr lang="en-US" sz="1800" spc="-98">
                <a:solidFill>
                  <a:srgbClr val="FFFFFF"/>
                </a:solidFill>
                <a:latin typeface="Montserrat"/>
                <a:ea typeface="Montserrat"/>
                <a:cs typeface="Montserrat"/>
                <a:sym typeface="Montserrat"/>
              </a:rPr>
              <a:t>                            sleep 2</a:t>
            </a:r>
          </a:p>
          <a:p>
            <a:pPr algn="l">
              <a:lnSpc>
                <a:spcPts val="1800"/>
              </a:lnSpc>
              <a:spcBef>
                <a:spcPct val="0"/>
              </a:spcBef>
            </a:pPr>
            <a:r>
              <a:rPr lang="en-US" sz="1800" spc="-98">
                <a:solidFill>
                  <a:srgbClr val="FFFFFF"/>
                </a:solidFill>
                <a:latin typeface="Montserrat"/>
                <a:ea typeface="Montserrat"/>
                <a:cs typeface="Montserrat"/>
                <a:sym typeface="Montserrat"/>
              </a:rPr>
              <a:t>                            echo 'PID actual:'</a:t>
            </a:r>
          </a:p>
          <a:p>
            <a:pPr algn="l">
              <a:lnSpc>
                <a:spcPts val="1800"/>
              </a:lnSpc>
              <a:spcBef>
                <a:spcPct val="0"/>
              </a:spcBef>
            </a:pPr>
            <a:r>
              <a:rPr lang="en-US" sz="1800" spc="-98">
                <a:solidFill>
                  <a:srgbClr val="FFFFFF"/>
                </a:solidFill>
                <a:latin typeface="Montserrat"/>
                <a:ea typeface="Montserrat"/>
                <a:cs typeface="Montserrat"/>
                <a:sym typeface="Montserrat"/>
              </a:rPr>
              <a:t>                            cat /tmp/app.pid || true</a:t>
            </a:r>
          </a:p>
          <a:p>
            <a:pPr algn="l">
              <a:lnSpc>
                <a:spcPts val="1800"/>
              </a:lnSpc>
              <a:spcBef>
                <a:spcPct val="0"/>
              </a:spcBef>
            </a:pPr>
            <a:r>
              <a:rPr lang="en-US" sz="1800" spc="-98">
                <a:solidFill>
                  <a:srgbClr val="FFFFFF"/>
                </a:solidFill>
                <a:latin typeface="Montserrat"/>
                <a:ea typeface="Montserrat"/>
                <a:cs typeface="Montserrat"/>
                <a:sym typeface="Montserrat"/>
              </a:rPr>
              <a:t>                            ps -ef | grep app.jar | grep -v grep || true</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echo "========== VALIDAR ARRANQUE EN VM =========="</a:t>
            </a:r>
          </a:p>
          <a:p>
            <a:pPr algn="l">
              <a:lnSpc>
                <a:spcPts val="1800"/>
              </a:lnSpc>
              <a:spcBef>
                <a:spcPct val="0"/>
              </a:spcBef>
            </a:pPr>
            <a:r>
              <a:rPr lang="en-US" sz="1800" spc="-98">
                <a:solidFill>
                  <a:srgbClr val="FFFFFF"/>
                </a:solidFill>
                <a:latin typeface="Montserrat"/>
                <a:ea typeface="Montserrat"/>
                <a:cs typeface="Montserrat"/>
                <a:sym typeface="Montserrat"/>
              </a:rPr>
              <a:t>                        ssh $SSH_OPTS -p "$VM_SSH_PORT" -i "$SSH_KEY" \</a:t>
            </a:r>
          </a:p>
          <a:p>
            <a:pPr algn="l">
              <a:lnSpc>
                <a:spcPts val="1800"/>
              </a:lnSpc>
              <a:spcBef>
                <a:spcPct val="0"/>
              </a:spcBef>
            </a:pPr>
            <a:r>
              <a:rPr lang="en-US" sz="1800" spc="-98">
                <a:solidFill>
                  <a:srgbClr val="FFFFFF"/>
                </a:solidFill>
                <a:latin typeface="Montserrat"/>
                <a:ea typeface="Montserrat"/>
                <a:cs typeface="Montserrat"/>
                <a:sym typeface="Montserrat"/>
              </a:rPr>
              <a:t>                          "$SSH_USER@$VM_IP" "</a:t>
            </a:r>
          </a:p>
          <a:p>
            <a:pPr algn="l">
              <a:lnSpc>
                <a:spcPts val="1800"/>
              </a:lnSpc>
              <a:spcBef>
                <a:spcPct val="0"/>
              </a:spcBef>
            </a:pPr>
            <a:r>
              <a:rPr lang="en-US" sz="1800" spc="-98">
                <a:solidFill>
                  <a:srgbClr val="FFFFFF"/>
                </a:solidFill>
                <a:latin typeface="Montserrat"/>
                <a:ea typeface="Montserrat"/>
                <a:cs typeface="Montserrat"/>
                <a:sym typeface="Montserrat"/>
              </a:rPr>
              <a:t>                            for i in \\$(seq 1 18); do</a:t>
            </a:r>
          </a:p>
          <a:p>
            <a:pPr algn="l">
              <a:lnSpc>
                <a:spcPts val="1800"/>
              </a:lnSpc>
              <a:spcBef>
                <a:spcPct val="0"/>
              </a:spcBef>
            </a:pPr>
            <a:r>
              <a:rPr lang="en-US" sz="1800" spc="-98">
                <a:solidFill>
                  <a:srgbClr val="FFFFFF"/>
                </a:solidFill>
                <a:latin typeface="Montserrat"/>
                <a:ea typeface="Montserrat"/>
                <a:cs typeface="Montserrat"/>
                <a:sym typeface="Montserrat"/>
              </a:rPr>
              <a:t>                              echo '=============================='</a:t>
            </a:r>
          </a:p>
          <a:p>
            <a:pPr algn="l">
              <a:lnSpc>
                <a:spcPts val="1800"/>
              </a:lnSpc>
              <a:spcBef>
                <a:spcPct val="0"/>
              </a:spcBef>
            </a:pPr>
            <a:r>
              <a:rPr lang="en-US" sz="1800" spc="-98">
                <a:solidFill>
                  <a:srgbClr val="FFFFFF"/>
                </a:solidFill>
                <a:latin typeface="Montserrat"/>
                <a:ea typeface="Montserrat"/>
                <a:cs typeface="Montserrat"/>
                <a:sym typeface="Montserrat"/>
              </a:rPr>
              <a:t>                              echo 'Intento de health #' \\$i</a:t>
            </a:r>
          </a:p>
          <a:p>
            <a:pPr algn="l">
              <a:lnSpc>
                <a:spcPts val="1800"/>
              </a:lnSpc>
              <a:spcBef>
                <a:spcPct val="0"/>
              </a:spcBef>
            </a:pPr>
            <a:r>
              <a:rPr lang="en-US" sz="1800" spc="-98">
                <a:solidFill>
                  <a:srgbClr val="FFFFFF"/>
                </a:solidFill>
                <a:latin typeface="Montserrat"/>
                <a:ea typeface="Montserrat"/>
                <a:cs typeface="Montserrat"/>
                <a:sym typeface="Montserrat"/>
              </a:rPr>
              <a:t>                              echo '---- PROCESO ----'</a:t>
            </a:r>
          </a:p>
          <a:p>
            <a:pPr algn="l">
              <a:lnSpc>
                <a:spcPts val="1800"/>
              </a:lnSpc>
              <a:spcBef>
                <a:spcPct val="0"/>
              </a:spcBef>
            </a:pPr>
            <a:r>
              <a:rPr lang="en-US" sz="1800" spc="-98">
                <a:solidFill>
                  <a:srgbClr val="FFFFFF"/>
                </a:solidFill>
                <a:latin typeface="Montserrat"/>
                <a:ea typeface="Montserrat"/>
                <a:cs typeface="Montserrat"/>
                <a:sym typeface="Montserrat"/>
              </a:rPr>
              <a:t>                              ps -ef | grep app.jar | grep -v grep || true</a:t>
            </a:r>
          </a:p>
          <a:p>
            <a:pPr algn="l">
              <a:lnSpc>
                <a:spcPts val="1800"/>
              </a:lnSpc>
              <a:spcBef>
                <a:spcPct val="0"/>
              </a:spcBef>
            </a:pPr>
            <a:r>
              <a:rPr lang="en-US" sz="1800" spc="-98">
                <a:solidFill>
                  <a:srgbClr val="FFFFFF"/>
                </a:solidFill>
                <a:latin typeface="Montserrat"/>
                <a:ea typeface="Montserrat"/>
                <a:cs typeface="Montserrat"/>
                <a:sym typeface="Montserrat"/>
              </a:rPr>
              <a:t>                              echo '---- PUERTO ----'</a:t>
            </a:r>
          </a:p>
          <a:p>
            <a:pPr algn="l">
              <a:lnSpc>
                <a:spcPts val="1800"/>
              </a:lnSpc>
              <a:spcBef>
                <a:spcPct val="0"/>
              </a:spcBef>
            </a:pPr>
            <a:r>
              <a:rPr lang="en-US" sz="1800" spc="-98">
                <a:solidFill>
                  <a:srgbClr val="FFFFFF"/>
                </a:solidFill>
                <a:latin typeface="Montserrat"/>
                <a:ea typeface="Montserrat"/>
                <a:cs typeface="Montserrat"/>
                <a:sym typeface="Montserrat"/>
              </a:rPr>
              <a:t>                              ss -ltn | grep :${APP_PORT} || true</a:t>
            </a:r>
          </a:p>
          <a:p>
            <a:pPr algn="l">
              <a:lnSpc>
                <a:spcPts val="1800"/>
              </a:lnSpc>
              <a:spcBef>
                <a:spcPct val="0"/>
              </a:spcBef>
            </a:pPr>
            <a:r>
              <a:rPr lang="en-US" sz="1800" spc="-98">
                <a:solidFill>
                  <a:srgbClr val="FFFFFF"/>
                </a:solidFill>
                <a:latin typeface="Montserrat"/>
                <a:ea typeface="Montserrat"/>
                <a:cs typeface="Montserrat"/>
                <a:sym typeface="Montserrat"/>
              </a:rPr>
              <a:t>                              echo '---- HEALTH ----'</a:t>
            </a:r>
          </a:p>
          <a:p>
            <a:pPr algn="l">
              <a:lnSpc>
                <a:spcPts val="1800"/>
              </a:lnSpc>
              <a:spcBef>
                <a:spcPct val="0"/>
              </a:spcBef>
            </a:pPr>
            <a:r>
              <a:rPr lang="en-US" sz="1800" spc="-98">
                <a:solidFill>
                  <a:srgbClr val="FFFFFF"/>
                </a:solidFill>
                <a:latin typeface="Montserrat"/>
                <a:ea typeface="Montserrat"/>
                <a:cs typeface="Montserrat"/>
                <a:sym typeface="Montserrat"/>
              </a:rPr>
              <a:t>                              curl -fsS http://127.0.0.1:${APP_PORT}${APP_HEALTH} &amp;&amp; exit 0</a:t>
            </a:r>
          </a:p>
          <a:p>
            <a:pPr algn="l">
              <a:lnSpc>
                <a:spcPts val="1800"/>
              </a:lnSpc>
              <a:spcBef>
                <a:spcPct val="0"/>
              </a:spcBef>
            </a:pPr>
            <a:r>
              <a:rPr lang="en-US" sz="1800" spc="-98">
                <a:solidFill>
                  <a:srgbClr val="FFFFFF"/>
                </a:solidFill>
                <a:latin typeface="Montserrat"/>
                <a:ea typeface="Montserrat"/>
                <a:cs typeface="Montserrat"/>
                <a:sym typeface="Montserrat"/>
              </a:rPr>
              <a:t>                              sleep 5</a:t>
            </a:r>
          </a:p>
          <a:p>
            <a:pPr algn="l">
              <a:lnSpc>
                <a:spcPts val="1800"/>
              </a:lnSpc>
              <a:spcBef>
                <a:spcPct val="0"/>
              </a:spcBef>
            </a:pPr>
            <a:r>
              <a:rPr lang="en-US" sz="1800" spc="-98">
                <a:solidFill>
                  <a:srgbClr val="FFFFFF"/>
                </a:solidFill>
                <a:latin typeface="Montserrat"/>
                <a:ea typeface="Montserrat"/>
                <a:cs typeface="Montserrat"/>
                <a:sym typeface="Montserrat"/>
              </a:rPr>
              <a:t>                            done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echo '=============================='</a:t>
            </a:r>
          </a:p>
          <a:p>
            <a:pPr algn="l">
              <a:lnSpc>
                <a:spcPts val="1800"/>
              </a:lnSpc>
              <a:spcBef>
                <a:spcPct val="0"/>
              </a:spcBef>
            </a:pPr>
            <a:r>
              <a:rPr lang="en-US" sz="1800" spc="-98">
                <a:solidFill>
                  <a:srgbClr val="FFFFFF"/>
                </a:solidFill>
                <a:latin typeface="Montserrat"/>
                <a:ea typeface="Montserrat"/>
                <a:cs typeface="Montserrat"/>
                <a:sym typeface="Montserrat"/>
              </a:rPr>
              <a:t>                            echo 'FALLO: la aplicacion no respondio al health dentro del tiempo esperado'</a:t>
            </a:r>
          </a:p>
          <a:p>
            <a:pPr algn="l">
              <a:lnSpc>
                <a:spcPts val="1800"/>
              </a:lnSpc>
              <a:spcBef>
                <a:spcPct val="0"/>
              </a:spcBef>
            </a:pPr>
            <a:r>
              <a:rPr lang="en-US" sz="1800" spc="-98">
                <a:solidFill>
                  <a:srgbClr val="FFFFFF"/>
                </a:solidFill>
                <a:latin typeface="Montserrat"/>
                <a:ea typeface="Montserrat"/>
                <a:cs typeface="Montserrat"/>
                <a:sym typeface="Montserrat"/>
              </a:rPr>
              <a:t>                            echo '---- JAR ----'</a:t>
            </a:r>
          </a:p>
          <a:p>
            <a:pPr algn="l">
              <a:lnSpc>
                <a:spcPts val="1800"/>
              </a:lnSpc>
              <a:spcBef>
                <a:spcPct val="0"/>
              </a:spcBef>
            </a:pPr>
            <a:r>
              <a:rPr lang="en-US" sz="1800" spc="-98">
                <a:solidFill>
                  <a:srgbClr val="FFFFFF"/>
                </a:solidFill>
                <a:latin typeface="Montserrat"/>
                <a:ea typeface="Montserrat"/>
                <a:cs typeface="Montserrat"/>
                <a:sym typeface="Montserrat"/>
              </a:rPr>
              <a:t>                            ls -l $APP_PATH/app.jar || true</a:t>
            </a:r>
          </a:p>
          <a:p>
            <a:pPr algn="l">
              <a:lnSpc>
                <a:spcPts val="1800"/>
              </a:lnSpc>
              <a:spcBef>
                <a:spcPct val="0"/>
              </a:spcBef>
            </a:pPr>
            <a:r>
              <a:rPr lang="en-US" sz="1800" spc="-98">
                <a:solidFill>
                  <a:srgbClr val="FFFFFF"/>
                </a:solidFill>
                <a:latin typeface="Montserrat"/>
                <a:ea typeface="Montserrat"/>
                <a:cs typeface="Montserrat"/>
                <a:sym typeface="Montserrat"/>
              </a:rPr>
              <a:t>                            echo '---- PUERTO ----'</a:t>
            </a:r>
          </a:p>
          <a:p>
            <a:pPr algn="l">
              <a:lnSpc>
                <a:spcPts val="1800"/>
              </a:lnSpc>
              <a:spcBef>
                <a:spcPct val="0"/>
              </a:spcBef>
            </a:pPr>
            <a:r>
              <a:rPr lang="en-US" sz="1800" spc="-98">
                <a:solidFill>
                  <a:srgbClr val="FFFFFF"/>
                </a:solidFill>
                <a:latin typeface="Montserrat"/>
                <a:ea typeface="Montserrat"/>
                <a:cs typeface="Montserrat"/>
                <a:sym typeface="Montserrat"/>
              </a:rPr>
              <a:t>                            ss -tulpn | grep ${APP_PORT} || true</a:t>
            </a:r>
          </a:p>
          <a:p>
            <a:pPr algn="l">
              <a:lnSpc>
                <a:spcPts val="1800"/>
              </a:lnSpc>
              <a:spcBef>
                <a:spcPct val="0"/>
              </a:spcBef>
            </a:pPr>
            <a:r>
              <a:rPr lang="en-US" sz="1800" spc="-98">
                <a:solidFill>
                  <a:srgbClr val="FFFFFF"/>
                </a:solidFill>
                <a:latin typeface="Montserrat"/>
                <a:ea typeface="Montserrat"/>
                <a:cs typeface="Montserrat"/>
                <a:sym typeface="Montserrat"/>
              </a:rPr>
              <a:t>                            echo '---- PROCESO ----'</a:t>
            </a:r>
          </a:p>
          <a:p>
            <a:pPr algn="l">
              <a:lnSpc>
                <a:spcPts val="1800"/>
              </a:lnSpc>
              <a:spcBef>
                <a:spcPct val="0"/>
              </a:spcBef>
            </a:pPr>
            <a:r>
              <a:rPr lang="en-US" sz="1800" spc="-98">
                <a:solidFill>
                  <a:srgbClr val="FFFFFF"/>
                </a:solidFill>
                <a:latin typeface="Montserrat"/>
                <a:ea typeface="Montserrat"/>
                <a:cs typeface="Montserrat"/>
                <a:sym typeface="Montserrat"/>
              </a:rPr>
              <a:t>                            ps -ef | grep app.jar | grep -v grep || true</a:t>
            </a:r>
          </a:p>
          <a:p>
            <a:pPr algn="l">
              <a:lnSpc>
                <a:spcPts val="1800"/>
              </a:lnSpc>
              <a:spcBef>
                <a:spcPct val="0"/>
              </a:spcBef>
            </a:pPr>
            <a:r>
              <a:rPr lang="en-US" sz="1800" spc="-98">
                <a:solidFill>
                  <a:srgbClr val="FFFFFF"/>
                </a:solidFill>
                <a:latin typeface="Montserrat"/>
                <a:ea typeface="Montserrat"/>
                <a:cs typeface="Montserrat"/>
                <a:sym typeface="Montserrat"/>
              </a:rPr>
              <a:t>                            echo '---- LOG ----'</a:t>
            </a:r>
          </a:p>
          <a:p>
            <a:pPr algn="l">
              <a:lnSpc>
                <a:spcPts val="1800"/>
              </a:lnSpc>
              <a:spcBef>
                <a:spcPct val="0"/>
              </a:spcBef>
            </a:pPr>
            <a:r>
              <a:rPr lang="en-US" sz="1800" spc="-98">
                <a:solidFill>
                  <a:srgbClr val="FFFFFF"/>
                </a:solidFill>
                <a:latin typeface="Montserrat"/>
                <a:ea typeface="Montserrat"/>
                <a:cs typeface="Montserrat"/>
                <a:sym typeface="Montserrat"/>
              </a:rPr>
              <a:t>                            tail -n 100 /tmp/app.log || true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exit 1</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stage('Validar Acceso desde Jenkins') {</a:t>
            </a:r>
          </a:p>
          <a:p>
            <a:pPr algn="l">
              <a:lnSpc>
                <a:spcPts val="1800"/>
              </a:lnSpc>
              <a:spcBef>
                <a:spcPct val="0"/>
              </a:spcBef>
            </a:pPr>
            <a:r>
              <a:rPr lang="en-US" sz="1800" spc="-98">
                <a:solidFill>
                  <a:srgbClr val="FFFFFF"/>
                </a:solidFill>
                <a:latin typeface="Montserrat"/>
                <a:ea typeface="Montserrat"/>
                <a:cs typeface="Montserrat"/>
                <a:sym typeface="Montserrat"/>
              </a:rPr>
              <a:t>            when {</a:t>
            </a:r>
          </a:p>
          <a:p>
            <a:pPr algn="l">
              <a:lnSpc>
                <a:spcPts val="1800"/>
              </a:lnSpc>
              <a:spcBef>
                <a:spcPct val="0"/>
              </a:spcBef>
            </a:pPr>
            <a:r>
              <a:rPr lang="en-US" sz="1800" spc="-98">
                <a:solidFill>
                  <a:srgbClr val="FFFFFF"/>
                </a:solidFill>
                <a:latin typeface="Montserrat"/>
                <a:ea typeface="Montserrat"/>
                <a:cs typeface="Montserrat"/>
                <a:sym typeface="Montserrat"/>
              </a:rPr>
              <a:t>                expression { params.ENABLE_DEPLOY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steps {</a:t>
            </a:r>
          </a:p>
          <a:p>
            <a:pPr algn="l">
              <a:lnSpc>
                <a:spcPts val="1800"/>
              </a:lnSpc>
              <a:spcBef>
                <a:spcPct val="0"/>
              </a:spcBef>
            </a:pPr>
            <a:r>
              <a:rPr lang="en-US" sz="1800" spc="-98">
                <a:solidFill>
                  <a:srgbClr val="FFFFFF"/>
                </a:solidFill>
                <a:latin typeface="Montserrat"/>
                <a:ea typeface="Montserrat"/>
                <a:cs typeface="Montserrat"/>
                <a:sym typeface="Montserrat"/>
              </a:rPr>
              <a:t>                sh '''</a:t>
            </a:r>
          </a:p>
          <a:p>
            <a:pPr algn="l">
              <a:lnSpc>
                <a:spcPts val="1800"/>
              </a:lnSpc>
              <a:spcBef>
                <a:spcPct val="0"/>
              </a:spcBef>
            </a:pPr>
            <a:r>
              <a:rPr lang="en-US" sz="1800" spc="-98">
                <a:solidFill>
                  <a:srgbClr val="FFFFFF"/>
                </a:solidFill>
                <a:latin typeface="Montserrat"/>
                <a:ea typeface="Montserrat"/>
                <a:cs typeface="Montserrat"/>
                <a:sym typeface="Montserrat"/>
              </a:rPr>
              <a:t>                    set -eux</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echo "========== HEALTH DESDE JENKINS =========="</a:t>
            </a:r>
          </a:p>
          <a:p>
            <a:pPr algn="l">
              <a:lnSpc>
                <a:spcPts val="1800"/>
              </a:lnSpc>
              <a:spcBef>
                <a:spcPct val="0"/>
              </a:spcBef>
            </a:pPr>
            <a:r>
              <a:rPr lang="en-US" sz="1800" spc="-98">
                <a:solidFill>
                  <a:srgbClr val="FFFFFF"/>
                </a:solidFill>
                <a:latin typeface="Montserrat"/>
                <a:ea typeface="Montserrat"/>
                <a:cs typeface="Montserrat"/>
                <a:sym typeface="Montserrat"/>
              </a:rPr>
              <a:t>                    for i in $(seq 1 12); do</a:t>
            </a:r>
          </a:p>
          <a:p>
            <a:pPr algn="l">
              <a:lnSpc>
                <a:spcPts val="1800"/>
              </a:lnSpc>
              <a:spcBef>
                <a:spcPct val="0"/>
              </a:spcBef>
            </a:pPr>
            <a:r>
              <a:rPr lang="en-US" sz="1800" spc="-98">
                <a:solidFill>
                  <a:srgbClr val="FFFFFF"/>
                </a:solidFill>
                <a:latin typeface="Montserrat"/>
                <a:ea typeface="Montserrat"/>
                <a:cs typeface="Montserrat"/>
                <a:sym typeface="Montserrat"/>
              </a:rPr>
              <a:t>                      echo "Intento $i desde Jenkins"</a:t>
            </a:r>
          </a:p>
          <a:p>
            <a:pPr algn="l">
              <a:lnSpc>
                <a:spcPts val="1800"/>
              </a:lnSpc>
              <a:spcBef>
                <a:spcPct val="0"/>
              </a:spcBef>
            </a:pPr>
            <a:r>
              <a:rPr lang="en-US" sz="1800" spc="-98">
                <a:solidFill>
                  <a:srgbClr val="FFFFFF"/>
                </a:solidFill>
                <a:latin typeface="Montserrat"/>
                <a:ea typeface="Montserrat"/>
                <a:cs typeface="Montserrat"/>
                <a:sym typeface="Montserrat"/>
              </a:rPr>
              <a:t>                      curl -v --max-time 10 "http://host.docker.internal:${APP_PORT}${APP_HEALTH}" &amp;&amp; exit 0</a:t>
            </a:r>
          </a:p>
          <a:p>
            <a:pPr algn="l">
              <a:lnSpc>
                <a:spcPts val="1800"/>
              </a:lnSpc>
              <a:spcBef>
                <a:spcPct val="0"/>
              </a:spcBef>
            </a:pPr>
            <a:r>
              <a:rPr lang="en-US" sz="1800" spc="-98">
                <a:solidFill>
                  <a:srgbClr val="FFFFFF"/>
                </a:solidFill>
                <a:latin typeface="Montserrat"/>
                <a:ea typeface="Montserrat"/>
                <a:cs typeface="Montserrat"/>
                <a:sym typeface="Montserrat"/>
              </a:rPr>
              <a:t>                      sleep 5</a:t>
            </a:r>
          </a:p>
          <a:p>
            <a:pPr algn="l">
              <a:lnSpc>
                <a:spcPts val="1800"/>
              </a:lnSpc>
              <a:spcBef>
                <a:spcPct val="0"/>
              </a:spcBef>
            </a:pPr>
            <a:r>
              <a:rPr lang="en-US" sz="1800" spc="-98">
                <a:solidFill>
                  <a:srgbClr val="FFFFFF"/>
                </a:solidFill>
                <a:latin typeface="Montserrat"/>
                <a:ea typeface="Montserrat"/>
                <a:cs typeface="Montserrat"/>
                <a:sym typeface="Montserrat"/>
              </a:rPr>
              <a:t>                    done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echo "FALLO: Jenkins no pudo acceder al health de la aplicacion"</a:t>
            </a:r>
          </a:p>
          <a:p>
            <a:pPr algn="l">
              <a:lnSpc>
                <a:spcPts val="1800"/>
              </a:lnSpc>
              <a:spcBef>
                <a:spcPct val="0"/>
              </a:spcBef>
            </a:pPr>
            <a:r>
              <a:rPr lang="en-US" sz="1800" spc="-98">
                <a:solidFill>
                  <a:srgbClr val="FFFFFF"/>
                </a:solidFill>
                <a:latin typeface="Montserrat"/>
                <a:ea typeface="Montserrat"/>
                <a:cs typeface="Montserrat"/>
                <a:sym typeface="Montserrat"/>
              </a:rPr>
              <a:t>                    exit 1</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stage('DAST - OWASP ZAP') {</a:t>
            </a:r>
          </a:p>
          <a:p>
            <a:pPr algn="l">
              <a:lnSpc>
                <a:spcPts val="1800"/>
              </a:lnSpc>
              <a:spcBef>
                <a:spcPct val="0"/>
              </a:spcBef>
            </a:pPr>
            <a:r>
              <a:rPr lang="en-US" sz="1800" spc="-98">
                <a:solidFill>
                  <a:srgbClr val="FFFFFF"/>
                </a:solidFill>
                <a:latin typeface="Montserrat"/>
                <a:ea typeface="Montserrat"/>
                <a:cs typeface="Montserrat"/>
                <a:sym typeface="Montserrat"/>
              </a:rPr>
              <a:t>            when {</a:t>
            </a:r>
          </a:p>
          <a:p>
            <a:pPr algn="l">
              <a:lnSpc>
                <a:spcPts val="1800"/>
              </a:lnSpc>
              <a:spcBef>
                <a:spcPct val="0"/>
              </a:spcBef>
            </a:pPr>
            <a:r>
              <a:rPr lang="en-US" sz="1800" spc="-98">
                <a:solidFill>
                  <a:srgbClr val="FFFFFF"/>
                </a:solidFill>
                <a:latin typeface="Montserrat"/>
                <a:ea typeface="Montserrat"/>
                <a:cs typeface="Montserrat"/>
                <a:sym typeface="Montserrat"/>
              </a:rPr>
              <a:t>                allOf {</a:t>
            </a:r>
          </a:p>
          <a:p>
            <a:pPr algn="l">
              <a:lnSpc>
                <a:spcPts val="1800"/>
              </a:lnSpc>
              <a:spcBef>
                <a:spcPct val="0"/>
              </a:spcBef>
            </a:pPr>
            <a:r>
              <a:rPr lang="en-US" sz="1800" spc="-98">
                <a:solidFill>
                  <a:srgbClr val="FFFFFF"/>
                </a:solidFill>
                <a:latin typeface="Montserrat"/>
                <a:ea typeface="Montserrat"/>
                <a:cs typeface="Montserrat"/>
                <a:sym typeface="Montserrat"/>
              </a:rPr>
              <a:t>                    expression { params.ENABLE_DEPLOY }</a:t>
            </a:r>
          </a:p>
          <a:p>
            <a:pPr algn="l">
              <a:lnSpc>
                <a:spcPts val="1800"/>
              </a:lnSpc>
              <a:spcBef>
                <a:spcPct val="0"/>
              </a:spcBef>
            </a:pPr>
            <a:r>
              <a:rPr lang="en-US" sz="1800" spc="-98">
                <a:solidFill>
                  <a:srgbClr val="FFFFFF"/>
                </a:solidFill>
                <a:latin typeface="Montserrat"/>
                <a:ea typeface="Montserrat"/>
                <a:cs typeface="Montserrat"/>
                <a:sym typeface="Montserrat"/>
              </a:rPr>
              <a:t>                    expression { params.ENABLE_DAST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steps {</a:t>
            </a:r>
          </a:p>
          <a:p>
            <a:pPr algn="l">
              <a:lnSpc>
                <a:spcPts val="1800"/>
              </a:lnSpc>
              <a:spcBef>
                <a:spcPct val="0"/>
              </a:spcBef>
            </a:pPr>
            <a:r>
              <a:rPr lang="en-US" sz="1800" spc="-98">
                <a:solidFill>
                  <a:srgbClr val="FFFFFF"/>
                </a:solidFill>
                <a:latin typeface="Montserrat"/>
                <a:ea typeface="Montserrat"/>
                <a:cs typeface="Montserrat"/>
                <a:sym typeface="Montserrat"/>
              </a:rPr>
              <a:t>                sh '''</a:t>
            </a:r>
          </a:p>
          <a:p>
            <a:pPr algn="l">
              <a:lnSpc>
                <a:spcPts val="1800"/>
              </a:lnSpc>
              <a:spcBef>
                <a:spcPct val="0"/>
              </a:spcBef>
            </a:pPr>
            <a:r>
              <a:rPr lang="en-US" sz="1800" spc="-98">
                <a:solidFill>
                  <a:srgbClr val="FFFFFF"/>
                </a:solidFill>
                <a:latin typeface="Montserrat"/>
                <a:ea typeface="Montserrat"/>
                <a:cs typeface="Montserrat"/>
                <a:sym typeface="Montserrat"/>
              </a:rPr>
              <a:t>                    set +e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docker rm -f zap_scan zap_export &gt;/dev/null 2&gt;&amp;1 || true</a:t>
            </a:r>
          </a:p>
          <a:p>
            <a:pPr algn="l">
              <a:lnSpc>
                <a:spcPts val="1800"/>
              </a:lnSpc>
              <a:spcBef>
                <a:spcPct val="0"/>
              </a:spcBef>
            </a:pPr>
            <a:r>
              <a:rPr lang="en-US" sz="1800" spc="-98">
                <a:solidFill>
                  <a:srgbClr val="FFFFFF"/>
                </a:solidFill>
                <a:latin typeface="Montserrat"/>
                <a:ea typeface="Montserrat"/>
                <a:cs typeface="Montserrat"/>
                <a:sym typeface="Montserrat"/>
              </a:rPr>
              <a:t>                    docker volume rm zap_reports &gt;/dev/null 2&gt;&amp;1 || true</a:t>
            </a:r>
          </a:p>
          <a:p>
            <a:pPr algn="l">
              <a:lnSpc>
                <a:spcPts val="1800"/>
              </a:lnSpc>
              <a:spcBef>
                <a:spcPct val="0"/>
              </a:spcBef>
            </a:pPr>
            <a:r>
              <a:rPr lang="en-US" sz="1800" spc="-98">
                <a:solidFill>
                  <a:srgbClr val="FFFFFF"/>
                </a:solidFill>
                <a:latin typeface="Montserrat"/>
                <a:ea typeface="Montserrat"/>
                <a:cs typeface="Montserrat"/>
                <a:sym typeface="Montserrat"/>
              </a:rPr>
              <a:t>                    rm -f "$REPORTS_DIR/zap_report.json" "$REPORTS_DIR/zap_report.html" || true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docker volume create zap_reports</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docker run --name zap_scan \</a:t>
            </a:r>
          </a:p>
          <a:p>
            <a:pPr algn="l">
              <a:lnSpc>
                <a:spcPts val="1800"/>
              </a:lnSpc>
              <a:spcBef>
                <a:spcPct val="0"/>
              </a:spcBef>
            </a:pPr>
            <a:r>
              <a:rPr lang="en-US" sz="1800" spc="-98">
                <a:solidFill>
                  <a:srgbClr val="FFFFFF"/>
                </a:solidFill>
                <a:latin typeface="Montserrat"/>
                <a:ea typeface="Montserrat"/>
                <a:cs typeface="Montserrat"/>
                <a:sym typeface="Montserrat"/>
              </a:rPr>
              <a:t>                      -u 0:0 \</a:t>
            </a:r>
          </a:p>
          <a:p>
            <a:pPr algn="l">
              <a:lnSpc>
                <a:spcPts val="1800"/>
              </a:lnSpc>
              <a:spcBef>
                <a:spcPct val="0"/>
              </a:spcBef>
            </a:pPr>
            <a:r>
              <a:rPr lang="en-US" sz="1800" spc="-98">
                <a:solidFill>
                  <a:srgbClr val="FFFFFF"/>
                </a:solidFill>
                <a:latin typeface="Montserrat"/>
                <a:ea typeface="Montserrat"/>
                <a:cs typeface="Montserrat"/>
                <a:sym typeface="Montserrat"/>
              </a:rPr>
              <a:t>                      -v zap_reports:/zap/wrk \</a:t>
            </a:r>
          </a:p>
          <a:p>
            <a:pPr algn="l">
              <a:lnSpc>
                <a:spcPts val="1800"/>
              </a:lnSpc>
              <a:spcBef>
                <a:spcPct val="0"/>
              </a:spcBef>
            </a:pPr>
            <a:r>
              <a:rPr lang="en-US" sz="1800" spc="-98">
                <a:solidFill>
                  <a:srgbClr val="FFFFFF"/>
                </a:solidFill>
                <a:latin typeface="Montserrat"/>
                <a:ea typeface="Montserrat"/>
                <a:cs typeface="Montserrat"/>
                <a:sym typeface="Montserrat"/>
              </a:rPr>
              <a:t>                      ghcr.io/zaproxy/zaproxy:stable \</a:t>
            </a:r>
          </a:p>
          <a:p>
            <a:pPr algn="l">
              <a:lnSpc>
                <a:spcPts val="1800"/>
              </a:lnSpc>
              <a:spcBef>
                <a:spcPct val="0"/>
              </a:spcBef>
            </a:pPr>
            <a:r>
              <a:rPr lang="en-US" sz="1800" spc="-98">
                <a:solidFill>
                  <a:srgbClr val="FFFFFF"/>
                </a:solidFill>
                <a:latin typeface="Montserrat"/>
                <a:ea typeface="Montserrat"/>
                <a:cs typeface="Montserrat"/>
                <a:sym typeface="Montserrat"/>
              </a:rPr>
              <a:t>                      zap-baseline.py \</a:t>
            </a:r>
          </a:p>
          <a:p>
            <a:pPr algn="l">
              <a:lnSpc>
                <a:spcPts val="1800"/>
              </a:lnSpc>
              <a:spcBef>
                <a:spcPct val="0"/>
              </a:spcBef>
            </a:pPr>
            <a:r>
              <a:rPr lang="en-US" sz="1800" spc="-98">
                <a:solidFill>
                  <a:srgbClr val="FFFFFF"/>
                </a:solidFill>
                <a:latin typeface="Montserrat"/>
                <a:ea typeface="Montserrat"/>
                <a:cs typeface="Montserrat"/>
                <a:sym typeface="Montserrat"/>
              </a:rPr>
              <a:t>                      -t "http://host.docker.internal:${APP_PORT}${APP_HEALTH}" \</a:t>
            </a:r>
          </a:p>
          <a:p>
            <a:pPr algn="l">
              <a:lnSpc>
                <a:spcPts val="1800"/>
              </a:lnSpc>
              <a:spcBef>
                <a:spcPct val="0"/>
              </a:spcBef>
            </a:pPr>
            <a:r>
              <a:rPr lang="en-US" sz="1800" spc="-98">
                <a:solidFill>
                  <a:srgbClr val="FFFFFF"/>
                </a:solidFill>
                <a:latin typeface="Montserrat"/>
                <a:ea typeface="Montserrat"/>
                <a:cs typeface="Montserrat"/>
                <a:sym typeface="Montserrat"/>
              </a:rPr>
              <a:t>                      -J zap_report.json \</a:t>
            </a:r>
          </a:p>
          <a:p>
            <a:pPr algn="l">
              <a:lnSpc>
                <a:spcPts val="1800"/>
              </a:lnSpc>
              <a:spcBef>
                <a:spcPct val="0"/>
              </a:spcBef>
            </a:pPr>
            <a:r>
              <a:rPr lang="en-US" sz="1800" spc="-98">
                <a:solidFill>
                  <a:srgbClr val="FFFFFF"/>
                </a:solidFill>
                <a:latin typeface="Montserrat"/>
                <a:ea typeface="Montserrat"/>
                <a:cs typeface="Montserrat"/>
                <a:sym typeface="Montserrat"/>
              </a:rPr>
              <a:t>                      -r zap_report.html</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ZAP_EXIT=$?</a:t>
            </a:r>
          </a:p>
          <a:p>
            <a:pPr algn="l">
              <a:lnSpc>
                <a:spcPts val="1800"/>
              </a:lnSpc>
              <a:spcBef>
                <a:spcPct val="0"/>
              </a:spcBef>
            </a:pPr>
            <a:r>
              <a:rPr lang="en-US" sz="1800" spc="-98">
                <a:solidFill>
                  <a:srgbClr val="FFFFFF"/>
                </a:solidFill>
                <a:latin typeface="Montserrat"/>
                <a:ea typeface="Montserrat"/>
                <a:cs typeface="Montserrat"/>
                <a:sym typeface="Montserrat"/>
              </a:rPr>
              <a:t>                    echo "ZAP exit code: $ZAP_EXIT"</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docker create --name zap_export -v zap_reports:/from alpine:3.20 sh &gt;/dev/null</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docker cp zap_export:/from/zap_report.json "$REPORTS_DIR/zap_report.json" || true</a:t>
            </a:r>
          </a:p>
          <a:p>
            <a:pPr algn="l">
              <a:lnSpc>
                <a:spcPts val="1800"/>
              </a:lnSpc>
              <a:spcBef>
                <a:spcPct val="0"/>
              </a:spcBef>
            </a:pPr>
            <a:r>
              <a:rPr lang="en-US" sz="1800" spc="-98">
                <a:solidFill>
                  <a:srgbClr val="FFFFFF"/>
                </a:solidFill>
                <a:latin typeface="Montserrat"/>
                <a:ea typeface="Montserrat"/>
                <a:cs typeface="Montserrat"/>
                <a:sym typeface="Montserrat"/>
              </a:rPr>
              <a:t>                    docker cp zap_export:/from/zap_report.html "$REPORTS_DIR/zap_report.html" || true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docker start zap_export &gt;/dev/null 2&gt;&amp;1 || true</a:t>
            </a:r>
          </a:p>
          <a:p>
            <a:pPr algn="l">
              <a:lnSpc>
                <a:spcPts val="1800"/>
              </a:lnSpc>
              <a:spcBef>
                <a:spcPct val="0"/>
              </a:spcBef>
            </a:pPr>
            <a:r>
              <a:rPr lang="en-US" sz="1800" spc="-98">
                <a:solidFill>
                  <a:srgbClr val="FFFFFF"/>
                </a:solidFill>
                <a:latin typeface="Montserrat"/>
                <a:ea typeface="Montserrat"/>
                <a:cs typeface="Montserrat"/>
                <a:sym typeface="Montserrat"/>
              </a:rPr>
              <a:t>                    docker exec zap_export sh -c 'ls -lah /from || true' || true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docker rm -f zap_scan zap_export &gt;/dev/null 2&gt;&amp;1 || true</a:t>
            </a:r>
          </a:p>
          <a:p>
            <a:pPr algn="l">
              <a:lnSpc>
                <a:spcPts val="1800"/>
              </a:lnSpc>
              <a:spcBef>
                <a:spcPct val="0"/>
              </a:spcBef>
            </a:pPr>
            <a:r>
              <a:rPr lang="en-US" sz="1800" spc="-98">
                <a:solidFill>
                  <a:srgbClr val="FFFFFF"/>
                </a:solidFill>
                <a:latin typeface="Montserrat"/>
                <a:ea typeface="Montserrat"/>
                <a:cs typeface="Montserrat"/>
                <a:sym typeface="Montserrat"/>
              </a:rPr>
              <a:t>                    docker volume rm zap_reports &gt;/dev/null 2&gt;&amp;1 || true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ls -lah "$REPORTS_DIR" || true</a:t>
            </a:r>
          </a:p>
          <a:p>
            <a:pPr algn="l">
              <a:lnSpc>
                <a:spcPts val="1800"/>
              </a:lnSpc>
              <a:spcBef>
                <a:spcPct val="0"/>
              </a:spcBef>
            </a:pPr>
            <a:r>
              <a:rPr lang="en-US" sz="1800" spc="-98">
                <a:solidFill>
                  <a:srgbClr val="FFFFFF"/>
                </a:solidFill>
                <a:latin typeface="Montserrat"/>
                <a:ea typeface="Montserrat"/>
                <a:cs typeface="Montserrat"/>
                <a:sym typeface="Montserrat"/>
              </a:rPr>
              <a:t>                    exit 0</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stage('Subir a DefectDojo') {</a:t>
            </a:r>
          </a:p>
          <a:p>
            <a:pPr algn="l">
              <a:lnSpc>
                <a:spcPts val="1800"/>
              </a:lnSpc>
              <a:spcBef>
                <a:spcPct val="0"/>
              </a:spcBef>
            </a:pPr>
            <a:r>
              <a:rPr lang="en-US" sz="1800" spc="-98">
                <a:solidFill>
                  <a:srgbClr val="FFFFFF"/>
                </a:solidFill>
                <a:latin typeface="Montserrat"/>
                <a:ea typeface="Montserrat"/>
                <a:cs typeface="Montserrat"/>
                <a:sym typeface="Montserrat"/>
              </a:rPr>
              <a:t>            when {</a:t>
            </a:r>
          </a:p>
          <a:p>
            <a:pPr algn="l">
              <a:lnSpc>
                <a:spcPts val="1800"/>
              </a:lnSpc>
              <a:spcBef>
                <a:spcPct val="0"/>
              </a:spcBef>
            </a:pPr>
            <a:r>
              <a:rPr lang="en-US" sz="1800" spc="-98">
                <a:solidFill>
                  <a:srgbClr val="FFFFFF"/>
                </a:solidFill>
                <a:latin typeface="Montserrat"/>
                <a:ea typeface="Montserrat"/>
                <a:cs typeface="Montserrat"/>
                <a:sym typeface="Montserrat"/>
              </a:rPr>
              <a:t>                expression { params.ENABLE_DEFECTDOJO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steps {</a:t>
            </a:r>
          </a:p>
          <a:p>
            <a:pPr algn="l">
              <a:lnSpc>
                <a:spcPts val="1800"/>
              </a:lnSpc>
              <a:spcBef>
                <a:spcPct val="0"/>
              </a:spcBef>
            </a:pPr>
            <a:r>
              <a:rPr lang="en-US" sz="1800" spc="-98">
                <a:solidFill>
                  <a:srgbClr val="FFFFFF"/>
                </a:solidFill>
                <a:latin typeface="Montserrat"/>
                <a:ea typeface="Montserrat"/>
                <a:cs typeface="Montserrat"/>
                <a:sym typeface="Montserrat"/>
              </a:rPr>
              <a:t>                sh '''</a:t>
            </a:r>
          </a:p>
          <a:p>
            <a:pPr algn="l">
              <a:lnSpc>
                <a:spcPts val="1800"/>
              </a:lnSpc>
              <a:spcBef>
                <a:spcPct val="0"/>
              </a:spcBef>
            </a:pPr>
            <a:r>
              <a:rPr lang="en-US" sz="1800" spc="-98">
                <a:solidFill>
                  <a:srgbClr val="FFFFFF"/>
                </a:solidFill>
                <a:latin typeface="Montserrat"/>
                <a:ea typeface="Montserrat"/>
                <a:cs typeface="Montserrat"/>
                <a:sym typeface="Montserrat"/>
              </a:rPr>
              <a:t>                    set +e</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curl -sS -H "Authorization: Token $DOJO_API_KEY" \</a:t>
            </a:r>
          </a:p>
          <a:p>
            <a:pPr algn="l">
              <a:lnSpc>
                <a:spcPts val="1800"/>
              </a:lnSpc>
              <a:spcBef>
                <a:spcPct val="0"/>
              </a:spcBef>
            </a:pPr>
            <a:r>
              <a:rPr lang="en-US" sz="1800" spc="-98">
                <a:solidFill>
                  <a:srgbClr val="FFFFFF"/>
                </a:solidFill>
                <a:latin typeface="Montserrat"/>
                <a:ea typeface="Montserrat"/>
                <a:cs typeface="Montserrat"/>
                <a:sym typeface="Montserrat"/>
              </a:rPr>
              <a:t>                      "$DOJO_URL/api/v2/products/" | head -c 500 || true</a:t>
            </a:r>
          </a:p>
          <a:p>
            <a:pPr algn="l">
              <a:lnSpc>
                <a:spcPts val="1800"/>
              </a:lnSpc>
              <a:spcBef>
                <a:spcPct val="0"/>
              </a:spcBef>
            </a:pPr>
            <a:r>
              <a:rPr lang="en-US" sz="1800" spc="-98">
                <a:solidFill>
                  <a:srgbClr val="FFFFFF"/>
                </a:solidFill>
                <a:latin typeface="Montserrat"/>
                <a:ea typeface="Montserrat"/>
                <a:cs typeface="Montserrat"/>
                <a:sym typeface="Montserrat"/>
              </a:rPr>
              <a:t>                    echo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if [ -f "$REPORTS_DIR/semgrep_report.json" ]; then</a:t>
            </a:r>
          </a:p>
          <a:p>
            <a:pPr algn="l">
              <a:lnSpc>
                <a:spcPts val="1800"/>
              </a:lnSpc>
              <a:spcBef>
                <a:spcPct val="0"/>
              </a:spcBef>
            </a:pPr>
            <a:r>
              <a:rPr lang="en-US" sz="1800" spc="-98">
                <a:solidFill>
                  <a:srgbClr val="FFFFFF"/>
                </a:solidFill>
                <a:latin typeface="Montserrat"/>
                <a:ea typeface="Montserrat"/>
                <a:cs typeface="Montserrat"/>
                <a:sym typeface="Montserrat"/>
              </a:rPr>
              <a:t>                      curl -sS -X POST "$DOJO_URL/api/v2/import-scan/" \</a:t>
            </a:r>
          </a:p>
          <a:p>
            <a:pPr algn="l">
              <a:lnSpc>
                <a:spcPts val="1800"/>
              </a:lnSpc>
              <a:spcBef>
                <a:spcPct val="0"/>
              </a:spcBef>
            </a:pPr>
            <a:r>
              <a:rPr lang="en-US" sz="1800" spc="-98">
                <a:solidFill>
                  <a:srgbClr val="FFFFFF"/>
                </a:solidFill>
                <a:latin typeface="Montserrat"/>
                <a:ea typeface="Montserrat"/>
                <a:cs typeface="Montserrat"/>
                <a:sym typeface="Montserrat"/>
              </a:rPr>
              <a:t>                        -H "Authorization: Token $DOJO_API_KEY" \</a:t>
            </a:r>
          </a:p>
          <a:p>
            <a:pPr algn="l">
              <a:lnSpc>
                <a:spcPts val="1800"/>
              </a:lnSpc>
              <a:spcBef>
                <a:spcPct val="0"/>
              </a:spcBef>
            </a:pPr>
            <a:r>
              <a:rPr lang="en-US" sz="1800" spc="-98">
                <a:solidFill>
                  <a:srgbClr val="FFFFFF"/>
                </a:solidFill>
                <a:latin typeface="Montserrat"/>
                <a:ea typeface="Montserrat"/>
                <a:cs typeface="Montserrat"/>
                <a:sym typeface="Montserrat"/>
              </a:rPr>
              <a:t>                        -F "scan_type=Semgrep JSON Report" \</a:t>
            </a:r>
          </a:p>
          <a:p>
            <a:pPr algn="l">
              <a:lnSpc>
                <a:spcPts val="1800"/>
              </a:lnSpc>
              <a:spcBef>
                <a:spcPct val="0"/>
              </a:spcBef>
            </a:pPr>
            <a:r>
              <a:rPr lang="en-US" sz="1800" spc="-98">
                <a:solidFill>
                  <a:srgbClr val="FFFFFF"/>
                </a:solidFill>
                <a:latin typeface="Montserrat"/>
                <a:ea typeface="Montserrat"/>
                <a:cs typeface="Montserrat"/>
                <a:sym typeface="Montserrat"/>
              </a:rPr>
              <a:t>                        -F "file=@$REPORTS_DIR/semgrep_report.json" \</a:t>
            </a:r>
          </a:p>
          <a:p>
            <a:pPr algn="l">
              <a:lnSpc>
                <a:spcPts val="1800"/>
              </a:lnSpc>
              <a:spcBef>
                <a:spcPct val="0"/>
              </a:spcBef>
            </a:pPr>
            <a:r>
              <a:rPr lang="en-US" sz="1800" spc="-98">
                <a:solidFill>
                  <a:srgbClr val="FFFFFF"/>
                </a:solidFill>
                <a:latin typeface="Montserrat"/>
                <a:ea typeface="Montserrat"/>
                <a:cs typeface="Montserrat"/>
                <a:sym typeface="Montserrat"/>
              </a:rPr>
              <a:t>                        -F "engagement=$DOJO_ENGAGEMENT_ID" \</a:t>
            </a:r>
          </a:p>
          <a:p>
            <a:pPr algn="l">
              <a:lnSpc>
                <a:spcPts val="1800"/>
              </a:lnSpc>
              <a:spcBef>
                <a:spcPct val="0"/>
              </a:spcBef>
            </a:pPr>
            <a:r>
              <a:rPr lang="en-US" sz="1800" spc="-98">
                <a:solidFill>
                  <a:srgbClr val="FFFFFF"/>
                </a:solidFill>
                <a:latin typeface="Montserrat"/>
                <a:ea typeface="Montserrat"/>
                <a:cs typeface="Montserrat"/>
                <a:sym typeface="Montserrat"/>
              </a:rPr>
              <a:t>                        -F "active=true" \</a:t>
            </a:r>
          </a:p>
          <a:p>
            <a:pPr algn="l">
              <a:lnSpc>
                <a:spcPts val="1800"/>
              </a:lnSpc>
              <a:spcBef>
                <a:spcPct val="0"/>
              </a:spcBef>
            </a:pPr>
            <a:r>
              <a:rPr lang="en-US" sz="1800" spc="-98">
                <a:solidFill>
                  <a:srgbClr val="FFFFFF"/>
                </a:solidFill>
                <a:latin typeface="Montserrat"/>
                <a:ea typeface="Montserrat"/>
                <a:cs typeface="Montserrat"/>
                <a:sym typeface="Montserrat"/>
              </a:rPr>
              <a:t>                        -F "verified=true" \</a:t>
            </a:r>
          </a:p>
          <a:p>
            <a:pPr algn="l">
              <a:lnSpc>
                <a:spcPts val="1800"/>
              </a:lnSpc>
              <a:spcBef>
                <a:spcPct val="0"/>
              </a:spcBef>
            </a:pPr>
            <a:r>
              <a:rPr lang="en-US" sz="1800" spc="-98">
                <a:solidFill>
                  <a:srgbClr val="FFFFFF"/>
                </a:solidFill>
                <a:latin typeface="Montserrat"/>
                <a:ea typeface="Montserrat"/>
                <a:cs typeface="Montserrat"/>
                <a:sym typeface="Montserrat"/>
              </a:rPr>
              <a:t>                        -F "close_old_findings=false"</a:t>
            </a:r>
          </a:p>
          <a:p>
            <a:pPr algn="l">
              <a:lnSpc>
                <a:spcPts val="1800"/>
              </a:lnSpc>
              <a:spcBef>
                <a:spcPct val="0"/>
              </a:spcBef>
            </a:pPr>
            <a:r>
              <a:rPr lang="en-US" sz="1800" spc="-98">
                <a:solidFill>
                  <a:srgbClr val="FFFFFF"/>
                </a:solidFill>
                <a:latin typeface="Montserrat"/>
                <a:ea typeface="Montserrat"/>
                <a:cs typeface="Montserrat"/>
                <a:sym typeface="Montserrat"/>
              </a:rPr>
              <a:t>                      echo ""</a:t>
            </a:r>
          </a:p>
          <a:p>
            <a:pPr algn="l">
              <a:lnSpc>
                <a:spcPts val="1800"/>
              </a:lnSpc>
              <a:spcBef>
                <a:spcPct val="0"/>
              </a:spcBef>
            </a:pPr>
            <a:r>
              <a:rPr lang="en-US" sz="1800" spc="-98">
                <a:solidFill>
                  <a:srgbClr val="FFFFFF"/>
                </a:solidFill>
                <a:latin typeface="Montserrat"/>
                <a:ea typeface="Montserrat"/>
                <a:cs typeface="Montserrat"/>
                <a:sym typeface="Montserrat"/>
              </a:rPr>
              <a:t>                    fi</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if [ -f "$REPORTS_DIR/trivy_report.json" ]; then</a:t>
            </a:r>
          </a:p>
          <a:p>
            <a:pPr algn="l">
              <a:lnSpc>
                <a:spcPts val="1800"/>
              </a:lnSpc>
              <a:spcBef>
                <a:spcPct val="0"/>
              </a:spcBef>
            </a:pPr>
            <a:r>
              <a:rPr lang="en-US" sz="1800" spc="-98">
                <a:solidFill>
                  <a:srgbClr val="FFFFFF"/>
                </a:solidFill>
                <a:latin typeface="Montserrat"/>
                <a:ea typeface="Montserrat"/>
                <a:cs typeface="Montserrat"/>
                <a:sym typeface="Montserrat"/>
              </a:rPr>
              <a:t>                      curl -sS -X POST "$DOJO_URL/api/v2/import-scan/" \</a:t>
            </a:r>
          </a:p>
          <a:p>
            <a:pPr algn="l">
              <a:lnSpc>
                <a:spcPts val="1800"/>
              </a:lnSpc>
              <a:spcBef>
                <a:spcPct val="0"/>
              </a:spcBef>
            </a:pPr>
            <a:r>
              <a:rPr lang="en-US" sz="1800" spc="-98">
                <a:solidFill>
                  <a:srgbClr val="FFFFFF"/>
                </a:solidFill>
                <a:latin typeface="Montserrat"/>
                <a:ea typeface="Montserrat"/>
                <a:cs typeface="Montserrat"/>
                <a:sym typeface="Montserrat"/>
              </a:rPr>
              <a:t>                        -H "Authorization: Token $DOJO_API_KEY" \</a:t>
            </a:r>
          </a:p>
          <a:p>
            <a:pPr algn="l">
              <a:lnSpc>
                <a:spcPts val="1800"/>
              </a:lnSpc>
              <a:spcBef>
                <a:spcPct val="0"/>
              </a:spcBef>
            </a:pPr>
            <a:r>
              <a:rPr lang="en-US" sz="1800" spc="-98">
                <a:solidFill>
                  <a:srgbClr val="FFFFFF"/>
                </a:solidFill>
                <a:latin typeface="Montserrat"/>
                <a:ea typeface="Montserrat"/>
                <a:cs typeface="Montserrat"/>
                <a:sym typeface="Montserrat"/>
              </a:rPr>
              <a:t>                        -F "scan_type=Trivy Scan" \</a:t>
            </a:r>
          </a:p>
          <a:p>
            <a:pPr algn="l">
              <a:lnSpc>
                <a:spcPts val="1800"/>
              </a:lnSpc>
              <a:spcBef>
                <a:spcPct val="0"/>
              </a:spcBef>
            </a:pPr>
            <a:r>
              <a:rPr lang="en-US" sz="1800" spc="-98">
                <a:solidFill>
                  <a:srgbClr val="FFFFFF"/>
                </a:solidFill>
                <a:latin typeface="Montserrat"/>
                <a:ea typeface="Montserrat"/>
                <a:cs typeface="Montserrat"/>
                <a:sym typeface="Montserrat"/>
              </a:rPr>
              <a:t>                        -F "file=@$REPORTS_DIR/trivy_report.json" \</a:t>
            </a:r>
          </a:p>
          <a:p>
            <a:pPr algn="l">
              <a:lnSpc>
                <a:spcPts val="1800"/>
              </a:lnSpc>
              <a:spcBef>
                <a:spcPct val="0"/>
              </a:spcBef>
            </a:pPr>
            <a:r>
              <a:rPr lang="en-US" sz="1800" spc="-98">
                <a:solidFill>
                  <a:srgbClr val="FFFFFF"/>
                </a:solidFill>
                <a:latin typeface="Montserrat"/>
                <a:ea typeface="Montserrat"/>
                <a:cs typeface="Montserrat"/>
                <a:sym typeface="Montserrat"/>
              </a:rPr>
              <a:t>                        -F "engagement=$DOJO_ENGAGEMENT_ID" \</a:t>
            </a:r>
          </a:p>
          <a:p>
            <a:pPr algn="l">
              <a:lnSpc>
                <a:spcPts val="1800"/>
              </a:lnSpc>
              <a:spcBef>
                <a:spcPct val="0"/>
              </a:spcBef>
            </a:pPr>
            <a:r>
              <a:rPr lang="en-US" sz="1800" spc="-98">
                <a:solidFill>
                  <a:srgbClr val="FFFFFF"/>
                </a:solidFill>
                <a:latin typeface="Montserrat"/>
                <a:ea typeface="Montserrat"/>
                <a:cs typeface="Montserrat"/>
                <a:sym typeface="Montserrat"/>
              </a:rPr>
              <a:t>                        -F "active=true" \</a:t>
            </a:r>
          </a:p>
          <a:p>
            <a:pPr algn="l">
              <a:lnSpc>
                <a:spcPts val="1800"/>
              </a:lnSpc>
              <a:spcBef>
                <a:spcPct val="0"/>
              </a:spcBef>
            </a:pPr>
            <a:r>
              <a:rPr lang="en-US" sz="1800" spc="-98">
                <a:solidFill>
                  <a:srgbClr val="FFFFFF"/>
                </a:solidFill>
                <a:latin typeface="Montserrat"/>
                <a:ea typeface="Montserrat"/>
                <a:cs typeface="Montserrat"/>
                <a:sym typeface="Montserrat"/>
              </a:rPr>
              <a:t>                        -F "verified=true" \</a:t>
            </a:r>
          </a:p>
          <a:p>
            <a:pPr algn="l">
              <a:lnSpc>
                <a:spcPts val="1800"/>
              </a:lnSpc>
              <a:spcBef>
                <a:spcPct val="0"/>
              </a:spcBef>
            </a:pPr>
            <a:r>
              <a:rPr lang="en-US" sz="1800" spc="-98">
                <a:solidFill>
                  <a:srgbClr val="FFFFFF"/>
                </a:solidFill>
                <a:latin typeface="Montserrat"/>
                <a:ea typeface="Montserrat"/>
                <a:cs typeface="Montserrat"/>
                <a:sym typeface="Montserrat"/>
              </a:rPr>
              <a:t>                        -F "close_old_findings=false"</a:t>
            </a:r>
          </a:p>
          <a:p>
            <a:pPr algn="l">
              <a:lnSpc>
                <a:spcPts val="1800"/>
              </a:lnSpc>
              <a:spcBef>
                <a:spcPct val="0"/>
              </a:spcBef>
            </a:pPr>
            <a:r>
              <a:rPr lang="en-US" sz="1800" spc="-98">
                <a:solidFill>
                  <a:srgbClr val="FFFFFF"/>
                </a:solidFill>
                <a:latin typeface="Montserrat"/>
                <a:ea typeface="Montserrat"/>
                <a:cs typeface="Montserrat"/>
                <a:sym typeface="Montserrat"/>
              </a:rPr>
              <a:t>                      echo ""</a:t>
            </a:r>
          </a:p>
          <a:p>
            <a:pPr algn="l">
              <a:lnSpc>
                <a:spcPts val="1800"/>
              </a:lnSpc>
              <a:spcBef>
                <a:spcPct val="0"/>
              </a:spcBef>
            </a:pPr>
            <a:r>
              <a:rPr lang="en-US" sz="1800" spc="-98">
                <a:solidFill>
                  <a:srgbClr val="FFFFFF"/>
                </a:solidFill>
                <a:latin typeface="Montserrat"/>
                <a:ea typeface="Montserrat"/>
                <a:cs typeface="Montserrat"/>
                <a:sym typeface="Montserrat"/>
              </a:rPr>
              <a:t>                    fi</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if [ -f "$REPORTS_DIR/zap_report.json" ]; then</a:t>
            </a:r>
          </a:p>
          <a:p>
            <a:pPr algn="l">
              <a:lnSpc>
                <a:spcPts val="1800"/>
              </a:lnSpc>
              <a:spcBef>
                <a:spcPct val="0"/>
              </a:spcBef>
            </a:pPr>
            <a:r>
              <a:rPr lang="en-US" sz="1800" spc="-98">
                <a:solidFill>
                  <a:srgbClr val="FFFFFF"/>
                </a:solidFill>
                <a:latin typeface="Montserrat"/>
                <a:ea typeface="Montserrat"/>
                <a:cs typeface="Montserrat"/>
                <a:sym typeface="Montserrat"/>
              </a:rPr>
              <a:t>                      curl -sS -X POST "$DOJO_URL/api/v2/import-scan/" \</a:t>
            </a:r>
          </a:p>
          <a:p>
            <a:pPr algn="l">
              <a:lnSpc>
                <a:spcPts val="1800"/>
              </a:lnSpc>
              <a:spcBef>
                <a:spcPct val="0"/>
              </a:spcBef>
            </a:pPr>
            <a:r>
              <a:rPr lang="en-US" sz="1800" spc="-98">
                <a:solidFill>
                  <a:srgbClr val="FFFFFF"/>
                </a:solidFill>
                <a:latin typeface="Montserrat"/>
                <a:ea typeface="Montserrat"/>
                <a:cs typeface="Montserrat"/>
                <a:sym typeface="Montserrat"/>
              </a:rPr>
              <a:t>                        -H "Authorization: Token $DOJO_API_KEY" \</a:t>
            </a:r>
          </a:p>
          <a:p>
            <a:pPr algn="l">
              <a:lnSpc>
                <a:spcPts val="1800"/>
              </a:lnSpc>
              <a:spcBef>
                <a:spcPct val="0"/>
              </a:spcBef>
            </a:pPr>
            <a:r>
              <a:rPr lang="en-US" sz="1800" spc="-98">
                <a:solidFill>
                  <a:srgbClr val="FFFFFF"/>
                </a:solidFill>
                <a:latin typeface="Montserrat"/>
                <a:ea typeface="Montserrat"/>
                <a:cs typeface="Montserrat"/>
                <a:sym typeface="Montserrat"/>
              </a:rPr>
              <a:t>                        -F "scan_type=ZAP Scan" \</a:t>
            </a:r>
          </a:p>
          <a:p>
            <a:pPr algn="l">
              <a:lnSpc>
                <a:spcPts val="1800"/>
              </a:lnSpc>
              <a:spcBef>
                <a:spcPct val="0"/>
              </a:spcBef>
            </a:pPr>
            <a:r>
              <a:rPr lang="en-US" sz="1800" spc="-98">
                <a:solidFill>
                  <a:srgbClr val="FFFFFF"/>
                </a:solidFill>
                <a:latin typeface="Montserrat"/>
                <a:ea typeface="Montserrat"/>
                <a:cs typeface="Montserrat"/>
                <a:sym typeface="Montserrat"/>
              </a:rPr>
              <a:t>                        -F "file=@$REPORTS_DIR/zap_report.json" \</a:t>
            </a:r>
          </a:p>
          <a:p>
            <a:pPr algn="l">
              <a:lnSpc>
                <a:spcPts val="1800"/>
              </a:lnSpc>
              <a:spcBef>
                <a:spcPct val="0"/>
              </a:spcBef>
            </a:pPr>
            <a:r>
              <a:rPr lang="en-US" sz="1800" spc="-98">
                <a:solidFill>
                  <a:srgbClr val="FFFFFF"/>
                </a:solidFill>
                <a:latin typeface="Montserrat"/>
                <a:ea typeface="Montserrat"/>
                <a:cs typeface="Montserrat"/>
                <a:sym typeface="Montserrat"/>
              </a:rPr>
              <a:t>                        -F "engagement=$DOJO_ENGAGEMENT_ID" \</a:t>
            </a:r>
          </a:p>
          <a:p>
            <a:pPr algn="l">
              <a:lnSpc>
                <a:spcPts val="1800"/>
              </a:lnSpc>
              <a:spcBef>
                <a:spcPct val="0"/>
              </a:spcBef>
            </a:pPr>
            <a:r>
              <a:rPr lang="en-US" sz="1800" spc="-98">
                <a:solidFill>
                  <a:srgbClr val="FFFFFF"/>
                </a:solidFill>
                <a:latin typeface="Montserrat"/>
                <a:ea typeface="Montserrat"/>
                <a:cs typeface="Montserrat"/>
                <a:sym typeface="Montserrat"/>
              </a:rPr>
              <a:t>                        -F "active=true" \</a:t>
            </a:r>
          </a:p>
          <a:p>
            <a:pPr algn="l">
              <a:lnSpc>
                <a:spcPts val="1800"/>
              </a:lnSpc>
              <a:spcBef>
                <a:spcPct val="0"/>
              </a:spcBef>
            </a:pPr>
            <a:r>
              <a:rPr lang="en-US" sz="1800" spc="-98">
                <a:solidFill>
                  <a:srgbClr val="FFFFFF"/>
                </a:solidFill>
                <a:latin typeface="Montserrat"/>
                <a:ea typeface="Montserrat"/>
                <a:cs typeface="Montserrat"/>
                <a:sym typeface="Montserrat"/>
              </a:rPr>
              <a:t>                        -F "verified=true" \</a:t>
            </a:r>
          </a:p>
          <a:p>
            <a:pPr algn="l">
              <a:lnSpc>
                <a:spcPts val="1800"/>
              </a:lnSpc>
              <a:spcBef>
                <a:spcPct val="0"/>
              </a:spcBef>
            </a:pPr>
            <a:r>
              <a:rPr lang="en-US" sz="1800" spc="-98">
                <a:solidFill>
                  <a:srgbClr val="FFFFFF"/>
                </a:solidFill>
                <a:latin typeface="Montserrat"/>
                <a:ea typeface="Montserrat"/>
                <a:cs typeface="Montserrat"/>
                <a:sym typeface="Montserrat"/>
              </a:rPr>
              <a:t>                        -F "close_old_findings=false"</a:t>
            </a:r>
          </a:p>
          <a:p>
            <a:pPr algn="l">
              <a:lnSpc>
                <a:spcPts val="1800"/>
              </a:lnSpc>
              <a:spcBef>
                <a:spcPct val="0"/>
              </a:spcBef>
            </a:pPr>
            <a:r>
              <a:rPr lang="en-US" sz="1800" spc="-98">
                <a:solidFill>
                  <a:srgbClr val="FFFFFF"/>
                </a:solidFill>
                <a:latin typeface="Montserrat"/>
                <a:ea typeface="Montserrat"/>
                <a:cs typeface="Montserrat"/>
                <a:sym typeface="Montserrat"/>
              </a:rPr>
              <a:t>                      echo ""</a:t>
            </a:r>
          </a:p>
          <a:p>
            <a:pPr algn="l">
              <a:lnSpc>
                <a:spcPts val="1800"/>
              </a:lnSpc>
              <a:spcBef>
                <a:spcPct val="0"/>
              </a:spcBef>
            </a:pPr>
            <a:r>
              <a:rPr lang="en-US" sz="1800" spc="-98">
                <a:solidFill>
                  <a:srgbClr val="FFFFFF"/>
                </a:solidFill>
                <a:latin typeface="Montserrat"/>
                <a:ea typeface="Montserrat"/>
                <a:cs typeface="Montserrat"/>
                <a:sym typeface="Montserrat"/>
              </a:rPr>
              <a:t>                    fi</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if [ -f "$REPORTS_DIR/snyk_report.json" ]; then</a:t>
            </a:r>
          </a:p>
          <a:p>
            <a:pPr algn="l">
              <a:lnSpc>
                <a:spcPts val="1800"/>
              </a:lnSpc>
              <a:spcBef>
                <a:spcPct val="0"/>
              </a:spcBef>
            </a:pPr>
            <a:r>
              <a:rPr lang="en-US" sz="1800" spc="-98">
                <a:solidFill>
                  <a:srgbClr val="FFFFFF"/>
                </a:solidFill>
                <a:latin typeface="Montserrat"/>
                <a:ea typeface="Montserrat"/>
                <a:cs typeface="Montserrat"/>
                <a:sym typeface="Montserrat"/>
              </a:rPr>
              <a:t>                      curl -sS -X POST "$DOJO_URL/api/v2/import-scan/" \</a:t>
            </a:r>
          </a:p>
          <a:p>
            <a:pPr algn="l">
              <a:lnSpc>
                <a:spcPts val="1800"/>
              </a:lnSpc>
              <a:spcBef>
                <a:spcPct val="0"/>
              </a:spcBef>
            </a:pPr>
            <a:r>
              <a:rPr lang="en-US" sz="1800" spc="-98">
                <a:solidFill>
                  <a:srgbClr val="FFFFFF"/>
                </a:solidFill>
                <a:latin typeface="Montserrat"/>
                <a:ea typeface="Montserrat"/>
                <a:cs typeface="Montserrat"/>
                <a:sym typeface="Montserrat"/>
              </a:rPr>
              <a:t>                        -H "Authorization: Token $DOJO_API_KEY" \</a:t>
            </a:r>
          </a:p>
          <a:p>
            <a:pPr algn="l">
              <a:lnSpc>
                <a:spcPts val="1800"/>
              </a:lnSpc>
              <a:spcBef>
                <a:spcPct val="0"/>
              </a:spcBef>
            </a:pPr>
            <a:r>
              <a:rPr lang="en-US" sz="1800" spc="-98">
                <a:solidFill>
                  <a:srgbClr val="FFFFFF"/>
                </a:solidFill>
                <a:latin typeface="Montserrat"/>
                <a:ea typeface="Montserrat"/>
                <a:cs typeface="Montserrat"/>
                <a:sym typeface="Montserrat"/>
              </a:rPr>
              <a:t>                        -F "scan_type=Snyk Scan" \</a:t>
            </a:r>
          </a:p>
          <a:p>
            <a:pPr algn="l">
              <a:lnSpc>
                <a:spcPts val="1800"/>
              </a:lnSpc>
              <a:spcBef>
                <a:spcPct val="0"/>
              </a:spcBef>
            </a:pPr>
            <a:r>
              <a:rPr lang="en-US" sz="1800" spc="-98">
                <a:solidFill>
                  <a:srgbClr val="FFFFFF"/>
                </a:solidFill>
                <a:latin typeface="Montserrat"/>
                <a:ea typeface="Montserrat"/>
                <a:cs typeface="Montserrat"/>
                <a:sym typeface="Montserrat"/>
              </a:rPr>
              <a:t>                        -F "file=@$REPORTS_DIR/snyk_report.json" \</a:t>
            </a:r>
          </a:p>
          <a:p>
            <a:pPr algn="l">
              <a:lnSpc>
                <a:spcPts val="1800"/>
              </a:lnSpc>
              <a:spcBef>
                <a:spcPct val="0"/>
              </a:spcBef>
            </a:pPr>
            <a:r>
              <a:rPr lang="en-US" sz="1800" spc="-98">
                <a:solidFill>
                  <a:srgbClr val="FFFFFF"/>
                </a:solidFill>
                <a:latin typeface="Montserrat"/>
                <a:ea typeface="Montserrat"/>
                <a:cs typeface="Montserrat"/>
                <a:sym typeface="Montserrat"/>
              </a:rPr>
              <a:t>                        -F "engagement=$DOJO_ENGAGEMENT_ID" \</a:t>
            </a:r>
          </a:p>
          <a:p>
            <a:pPr algn="l">
              <a:lnSpc>
                <a:spcPts val="1800"/>
              </a:lnSpc>
              <a:spcBef>
                <a:spcPct val="0"/>
              </a:spcBef>
            </a:pPr>
            <a:r>
              <a:rPr lang="en-US" sz="1800" spc="-98">
                <a:solidFill>
                  <a:srgbClr val="FFFFFF"/>
                </a:solidFill>
                <a:latin typeface="Montserrat"/>
                <a:ea typeface="Montserrat"/>
                <a:cs typeface="Montserrat"/>
                <a:sym typeface="Montserrat"/>
              </a:rPr>
              <a:t>                        -F "active=true" \</a:t>
            </a:r>
          </a:p>
          <a:p>
            <a:pPr algn="l">
              <a:lnSpc>
                <a:spcPts val="1800"/>
              </a:lnSpc>
              <a:spcBef>
                <a:spcPct val="0"/>
              </a:spcBef>
            </a:pPr>
            <a:r>
              <a:rPr lang="en-US" sz="1800" spc="-98">
                <a:solidFill>
                  <a:srgbClr val="FFFFFF"/>
                </a:solidFill>
                <a:latin typeface="Montserrat"/>
                <a:ea typeface="Montserrat"/>
                <a:cs typeface="Montserrat"/>
                <a:sym typeface="Montserrat"/>
              </a:rPr>
              <a:t>                        -F "verified=true" \</a:t>
            </a:r>
          </a:p>
          <a:p>
            <a:pPr algn="l">
              <a:lnSpc>
                <a:spcPts val="1800"/>
              </a:lnSpc>
              <a:spcBef>
                <a:spcPct val="0"/>
              </a:spcBef>
            </a:pPr>
            <a:r>
              <a:rPr lang="en-US" sz="1800" spc="-98">
                <a:solidFill>
                  <a:srgbClr val="FFFFFF"/>
                </a:solidFill>
                <a:latin typeface="Montserrat"/>
                <a:ea typeface="Montserrat"/>
                <a:cs typeface="Montserrat"/>
                <a:sym typeface="Montserrat"/>
              </a:rPr>
              <a:t>                        -F "close_old_findings=false"</a:t>
            </a:r>
          </a:p>
          <a:p>
            <a:pPr algn="l">
              <a:lnSpc>
                <a:spcPts val="1800"/>
              </a:lnSpc>
              <a:spcBef>
                <a:spcPct val="0"/>
              </a:spcBef>
            </a:pPr>
            <a:r>
              <a:rPr lang="en-US" sz="1800" spc="-98">
                <a:solidFill>
                  <a:srgbClr val="FFFFFF"/>
                </a:solidFill>
                <a:latin typeface="Montserrat"/>
                <a:ea typeface="Montserrat"/>
                <a:cs typeface="Montserrat"/>
                <a:sym typeface="Montserrat"/>
              </a:rPr>
              <a:t>                      echo ""</a:t>
            </a:r>
          </a:p>
          <a:p>
            <a:pPr algn="l">
              <a:lnSpc>
                <a:spcPts val="1800"/>
              </a:lnSpc>
              <a:spcBef>
                <a:spcPct val="0"/>
              </a:spcBef>
            </a:pPr>
            <a:r>
              <a:rPr lang="en-US" sz="1800" spc="-98">
                <a:solidFill>
                  <a:srgbClr val="FFFFFF"/>
                </a:solidFill>
                <a:latin typeface="Montserrat"/>
                <a:ea typeface="Montserrat"/>
                <a:cs typeface="Montserrat"/>
                <a:sym typeface="Montserrat"/>
              </a:rPr>
              <a:t>                    fi</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exit 0</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p>
          <a:p>
            <a:pPr algn="l">
              <a:lnSpc>
                <a:spcPts val="1800"/>
              </a:lnSpc>
              <a:spcBef>
                <a:spcPct val="0"/>
              </a:spcBef>
            </a:pPr>
            <a:r>
              <a:rPr lang="en-US" sz="1800" spc="-98">
                <a:solidFill>
                  <a:srgbClr val="FFFFFF"/>
                </a:solidFill>
                <a:latin typeface="Montserrat"/>
                <a:ea typeface="Montserrat"/>
                <a:cs typeface="Montserrat"/>
                <a:sym typeface="Montserrat"/>
              </a:rPr>
              <a:t>    post {</a:t>
            </a:r>
          </a:p>
          <a:p>
            <a:pPr algn="l">
              <a:lnSpc>
                <a:spcPts val="1800"/>
              </a:lnSpc>
              <a:spcBef>
                <a:spcPct val="0"/>
              </a:spcBef>
            </a:pPr>
            <a:r>
              <a:rPr lang="en-US" sz="1800" spc="-98">
                <a:solidFill>
                  <a:srgbClr val="FFFFFF"/>
                </a:solidFill>
                <a:latin typeface="Montserrat"/>
                <a:ea typeface="Montserrat"/>
                <a:cs typeface="Montserrat"/>
                <a:sym typeface="Montserrat"/>
              </a:rPr>
              <a:t>        always {</a:t>
            </a:r>
          </a:p>
          <a:p>
            <a:pPr algn="l">
              <a:lnSpc>
                <a:spcPts val="1800"/>
              </a:lnSpc>
              <a:spcBef>
                <a:spcPct val="0"/>
              </a:spcBef>
            </a:pPr>
            <a:r>
              <a:rPr lang="en-US" sz="1800" spc="-98">
                <a:solidFill>
                  <a:srgbClr val="FFFFFF"/>
                </a:solidFill>
                <a:latin typeface="Montserrat"/>
                <a:ea typeface="Montserrat"/>
                <a:cs typeface="Montserrat"/>
                <a:sym typeface="Montserrat"/>
              </a:rPr>
              <a:t>            echo 'Archivando reportes en Jenkins...'</a:t>
            </a:r>
          </a:p>
          <a:p>
            <a:pPr algn="l">
              <a:lnSpc>
                <a:spcPts val="1800"/>
              </a:lnSpc>
              <a:spcBef>
                <a:spcPct val="0"/>
              </a:spcBef>
            </a:pPr>
            <a:r>
              <a:rPr lang="en-US" sz="1800" spc="-98">
                <a:solidFill>
                  <a:srgbClr val="FFFFFF"/>
                </a:solidFill>
                <a:latin typeface="Montserrat"/>
                <a:ea typeface="Montserrat"/>
                <a:cs typeface="Montserrat"/>
                <a:sym typeface="Montserrat"/>
              </a:rPr>
              <a:t>            sh '''</a:t>
            </a:r>
          </a:p>
          <a:p>
            <a:pPr algn="l">
              <a:lnSpc>
                <a:spcPts val="1800"/>
              </a:lnSpc>
              <a:spcBef>
                <a:spcPct val="0"/>
              </a:spcBef>
            </a:pPr>
            <a:r>
              <a:rPr lang="en-US" sz="1800" spc="-98">
                <a:solidFill>
                  <a:srgbClr val="FFFFFF"/>
                </a:solidFill>
                <a:latin typeface="Montserrat"/>
                <a:ea typeface="Montserrat"/>
                <a:cs typeface="Montserrat"/>
                <a:sym typeface="Montserrat"/>
              </a:rPr>
              <a:t>                echo "========== REPORTS_DIR =========="</a:t>
            </a:r>
          </a:p>
          <a:p>
            <a:pPr algn="l">
              <a:lnSpc>
                <a:spcPts val="1800"/>
              </a:lnSpc>
              <a:spcBef>
                <a:spcPct val="0"/>
              </a:spcBef>
            </a:pPr>
            <a:r>
              <a:rPr lang="en-US" sz="1800" spc="-98">
                <a:solidFill>
                  <a:srgbClr val="FFFFFF"/>
                </a:solidFill>
                <a:latin typeface="Montserrat"/>
                <a:ea typeface="Montserrat"/>
                <a:cs typeface="Montserrat"/>
                <a:sym typeface="Montserrat"/>
              </a:rPr>
              <a:t>                ls -lah "$REPORTS_DIR" || true</a:t>
            </a:r>
          </a:p>
          <a:p>
            <a:pPr algn="l">
              <a:lnSpc>
                <a:spcPts val="1800"/>
              </a:lnSpc>
              <a:spcBef>
                <a:spcPct val="0"/>
              </a:spcBef>
            </a:pPr>
            <a:r>
              <a:rPr lang="en-US" sz="1800" spc="-98">
                <a:solidFill>
                  <a:srgbClr val="FFFFFF"/>
                </a:solidFill>
                <a:latin typeface="Montserrat"/>
                <a:ea typeface="Montserrat"/>
                <a:cs typeface="Montserrat"/>
                <a:sym typeface="Montserrat"/>
              </a:rPr>
              <a:t>                echo "========== WORKSPACE =========="</a:t>
            </a:r>
          </a:p>
          <a:p>
            <a:pPr algn="l">
              <a:lnSpc>
                <a:spcPts val="1800"/>
              </a:lnSpc>
              <a:spcBef>
                <a:spcPct val="0"/>
              </a:spcBef>
            </a:pPr>
            <a:r>
              <a:rPr lang="en-US" sz="1800" spc="-98">
                <a:solidFill>
                  <a:srgbClr val="FFFFFF"/>
                </a:solidFill>
                <a:latin typeface="Montserrat"/>
                <a:ea typeface="Montserrat"/>
                <a:cs typeface="Montserrat"/>
                <a:sym typeface="Montserrat"/>
              </a:rPr>
              <a:t>                ls -lah "$WORKSPACE" || true</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archiveArtifacts artifacts: 'modulofin/**', allowEmptyArchive: true</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    }</a:t>
            </a:r>
          </a:p>
          <a:p>
            <a:pPr algn="l">
              <a:lnSpc>
                <a:spcPts val="1800"/>
              </a:lnSpc>
              <a:spcBef>
                <a:spcPct val="0"/>
              </a:spcBef>
            </a:pPr>
            <a:r>
              <a:rPr lang="en-US" sz="1800" spc="-98">
                <a:solidFill>
                  <a:srgbClr val="FFFFFF"/>
                </a:solidFill>
                <a:latin typeface="Montserrat"/>
                <a:ea typeface="Montserrat"/>
                <a:cs typeface="Montserrat"/>
                <a:sym typeface="Montserrat"/>
              </a:rPr>
              <a: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B131B"/>
        </a:solidFill>
      </p:bgPr>
    </p:bg>
    <p:spTree>
      <p:nvGrpSpPr>
        <p:cNvPr id="1" name=""/>
        <p:cNvGrpSpPr/>
        <p:nvPr/>
      </p:nvGrpSpPr>
      <p:grpSpPr>
        <a:xfrm>
          <a:off x="0" y="0"/>
          <a:ext cx="0" cy="0"/>
          <a:chOff x="0" y="0"/>
          <a:chExt cx="0" cy="0"/>
        </a:xfrm>
      </p:grpSpPr>
      <p:sp>
        <p:nvSpPr>
          <p:cNvPr name="Freeform 2" id="2"/>
          <p:cNvSpPr/>
          <p:nvPr/>
        </p:nvSpPr>
        <p:spPr>
          <a:xfrm flipH="false" flipV="false" rot="0">
            <a:off x="1527390" y="1791436"/>
            <a:ext cx="15233219" cy="7173255"/>
          </a:xfrm>
          <a:custGeom>
            <a:avLst/>
            <a:gdLst/>
            <a:ahLst/>
            <a:cxnLst/>
            <a:rect r="r" b="b" t="t" l="l"/>
            <a:pathLst>
              <a:path h="7173255" w="15233219">
                <a:moveTo>
                  <a:pt x="0" y="0"/>
                </a:moveTo>
                <a:lnTo>
                  <a:pt x="15233220" y="0"/>
                </a:lnTo>
                <a:lnTo>
                  <a:pt x="15233220" y="7173255"/>
                </a:lnTo>
                <a:lnTo>
                  <a:pt x="0" y="7173255"/>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B131B"/>
        </a:solidFill>
      </p:bgPr>
    </p:bg>
    <p:spTree>
      <p:nvGrpSpPr>
        <p:cNvPr id="1" name=""/>
        <p:cNvGrpSpPr/>
        <p:nvPr/>
      </p:nvGrpSpPr>
      <p:grpSpPr>
        <a:xfrm>
          <a:off x="0" y="0"/>
          <a:ext cx="0" cy="0"/>
          <a:chOff x="0" y="0"/>
          <a:chExt cx="0" cy="0"/>
        </a:xfrm>
      </p:grpSpPr>
      <p:sp>
        <p:nvSpPr>
          <p:cNvPr name="Freeform 2" id="2"/>
          <p:cNvSpPr/>
          <p:nvPr/>
        </p:nvSpPr>
        <p:spPr>
          <a:xfrm flipH="true" flipV="false" rot="3909884">
            <a:off x="-1982581" y="-347858"/>
            <a:ext cx="14319658" cy="14625633"/>
          </a:xfrm>
          <a:custGeom>
            <a:avLst/>
            <a:gdLst/>
            <a:ahLst/>
            <a:cxnLst/>
            <a:rect r="r" b="b" t="t" l="l"/>
            <a:pathLst>
              <a:path h="14625633" w="14319658">
                <a:moveTo>
                  <a:pt x="14319657" y="0"/>
                </a:moveTo>
                <a:lnTo>
                  <a:pt x="0" y="0"/>
                </a:lnTo>
                <a:lnTo>
                  <a:pt x="0" y="14625633"/>
                </a:lnTo>
                <a:lnTo>
                  <a:pt x="14319657" y="14625633"/>
                </a:lnTo>
                <a:lnTo>
                  <a:pt x="14319657" y="0"/>
                </a:lnTo>
                <a:close/>
              </a:path>
            </a:pathLst>
          </a:custGeom>
          <a:blipFill>
            <a:blip r:embed="rId2">
              <a:alphaModFix amt="7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664168">
            <a:off x="6670063" y="-2715093"/>
            <a:ext cx="23235874" cy="21039028"/>
          </a:xfrm>
          <a:custGeom>
            <a:avLst/>
            <a:gdLst/>
            <a:ahLst/>
            <a:cxnLst/>
            <a:rect r="r" b="b" t="t" l="l"/>
            <a:pathLst>
              <a:path h="21039028" w="23235874">
                <a:moveTo>
                  <a:pt x="0" y="0"/>
                </a:moveTo>
                <a:lnTo>
                  <a:pt x="23235874" y="0"/>
                </a:lnTo>
                <a:lnTo>
                  <a:pt x="23235874" y="21039027"/>
                </a:lnTo>
                <a:lnTo>
                  <a:pt x="0" y="21039027"/>
                </a:lnTo>
                <a:lnTo>
                  <a:pt x="0" y="0"/>
                </a:lnTo>
                <a:close/>
              </a:path>
            </a:pathLst>
          </a:custGeom>
          <a:blipFill>
            <a:blip r:embed="rId4">
              <a:alphaModFix amt="38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3803731" y="2170782"/>
            <a:ext cx="24368261" cy="24368261"/>
          </a:xfrm>
          <a:custGeom>
            <a:avLst/>
            <a:gdLst/>
            <a:ahLst/>
            <a:cxnLst/>
            <a:rect r="r" b="b" t="t" l="l"/>
            <a:pathLst>
              <a:path h="24368261" w="24368261">
                <a:moveTo>
                  <a:pt x="0" y="0"/>
                </a:moveTo>
                <a:lnTo>
                  <a:pt x="24368260" y="0"/>
                </a:lnTo>
                <a:lnTo>
                  <a:pt x="24368260" y="24368260"/>
                </a:lnTo>
                <a:lnTo>
                  <a:pt x="0" y="243682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128782" y="2628848"/>
            <a:ext cx="10655702" cy="5936258"/>
            <a:chOff x="0" y="0"/>
            <a:chExt cx="3433274" cy="1912666"/>
          </a:xfrm>
        </p:grpSpPr>
        <p:sp>
          <p:nvSpPr>
            <p:cNvPr name="Freeform 6" id="6"/>
            <p:cNvSpPr/>
            <p:nvPr/>
          </p:nvSpPr>
          <p:spPr>
            <a:xfrm flipH="false" flipV="false" rot="0">
              <a:off x="0" y="0"/>
              <a:ext cx="3433274" cy="1912666"/>
            </a:xfrm>
            <a:custGeom>
              <a:avLst/>
              <a:gdLst/>
              <a:ahLst/>
              <a:cxnLst/>
              <a:rect r="r" b="b" t="t" l="l"/>
              <a:pathLst>
                <a:path h="1912666" w="3433274">
                  <a:moveTo>
                    <a:pt x="38507" y="0"/>
                  </a:moveTo>
                  <a:lnTo>
                    <a:pt x="3394767" y="0"/>
                  </a:lnTo>
                  <a:cubicBezTo>
                    <a:pt x="3416034" y="0"/>
                    <a:pt x="3433274" y="17240"/>
                    <a:pt x="3433274" y="38507"/>
                  </a:cubicBezTo>
                  <a:lnTo>
                    <a:pt x="3433274" y="1874159"/>
                  </a:lnTo>
                  <a:cubicBezTo>
                    <a:pt x="3433274" y="1895426"/>
                    <a:pt x="3416034" y="1912666"/>
                    <a:pt x="3394767" y="1912666"/>
                  </a:cubicBezTo>
                  <a:lnTo>
                    <a:pt x="38507" y="1912666"/>
                  </a:lnTo>
                  <a:cubicBezTo>
                    <a:pt x="17240" y="1912666"/>
                    <a:pt x="0" y="1895426"/>
                    <a:pt x="0" y="1874159"/>
                  </a:cubicBezTo>
                  <a:lnTo>
                    <a:pt x="0" y="38507"/>
                  </a:lnTo>
                  <a:cubicBezTo>
                    <a:pt x="0" y="17240"/>
                    <a:pt x="17240" y="0"/>
                    <a:pt x="38507" y="0"/>
                  </a:cubicBezTo>
                  <a:close/>
                </a:path>
              </a:pathLst>
            </a:custGeom>
            <a:solidFill>
              <a:srgbClr val="2D3677">
                <a:alpha val="44706"/>
              </a:srgbClr>
            </a:solidFill>
            <a:ln w="38100" cap="rnd">
              <a:solidFill>
                <a:srgbClr val="E7F2FA">
                  <a:alpha val="44706"/>
                </a:srgbClr>
              </a:solidFill>
              <a:prstDash val="solid"/>
              <a:round/>
            </a:ln>
          </p:spPr>
        </p:sp>
        <p:sp>
          <p:nvSpPr>
            <p:cNvPr name="TextBox 7" id="7"/>
            <p:cNvSpPr txBox="true"/>
            <p:nvPr/>
          </p:nvSpPr>
          <p:spPr>
            <a:xfrm>
              <a:off x="0" y="-38100"/>
              <a:ext cx="3433274" cy="1950766"/>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2475314">
            <a:off x="1098871" y="962175"/>
            <a:ext cx="612968" cy="443566"/>
          </a:xfrm>
          <a:custGeom>
            <a:avLst/>
            <a:gdLst/>
            <a:ahLst/>
            <a:cxnLst/>
            <a:rect r="r" b="b" t="t" l="l"/>
            <a:pathLst>
              <a:path h="443566" w="612968">
                <a:moveTo>
                  <a:pt x="0" y="0"/>
                </a:moveTo>
                <a:lnTo>
                  <a:pt x="612968" y="0"/>
                </a:lnTo>
                <a:lnTo>
                  <a:pt x="612968" y="443565"/>
                </a:lnTo>
                <a:lnTo>
                  <a:pt x="0" y="44356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5177247" y="3700748"/>
            <a:ext cx="8558772" cy="4002008"/>
          </a:xfrm>
          <a:prstGeom prst="rect">
            <a:avLst/>
          </a:prstGeom>
        </p:spPr>
        <p:txBody>
          <a:bodyPr anchor="t" rtlCol="false" tIns="0" lIns="0" bIns="0" rIns="0">
            <a:spAutoFit/>
          </a:bodyPr>
          <a:lstStyle/>
          <a:p>
            <a:pPr algn="ctr">
              <a:lnSpc>
                <a:spcPts val="10396"/>
              </a:lnSpc>
            </a:pPr>
            <a:r>
              <a:rPr lang="en-US" sz="10396" i="true" spc="-571">
                <a:solidFill>
                  <a:srgbClr val="E7F2FA"/>
                </a:solidFill>
                <a:latin typeface="Montserrat Italics"/>
                <a:ea typeface="Montserrat Italics"/>
                <a:cs typeface="Montserrat Italics"/>
                <a:sym typeface="Montserrat Italics"/>
              </a:rPr>
              <a:t>GRACIAS POR SU ATENCIÓN</a:t>
            </a:r>
          </a:p>
        </p:txBody>
      </p:sp>
      <p:sp>
        <p:nvSpPr>
          <p:cNvPr name="TextBox 10" id="10"/>
          <p:cNvSpPr txBox="true"/>
          <p:nvPr/>
        </p:nvSpPr>
        <p:spPr>
          <a:xfrm rot="0">
            <a:off x="1895458" y="1075372"/>
            <a:ext cx="2969155" cy="245745"/>
          </a:xfrm>
          <a:prstGeom prst="rect">
            <a:avLst/>
          </a:prstGeom>
        </p:spPr>
        <p:txBody>
          <a:bodyPr anchor="t" rtlCol="false" tIns="0" lIns="0" bIns="0" rIns="0">
            <a:spAutoFit/>
          </a:bodyPr>
          <a:lstStyle/>
          <a:p>
            <a:pPr algn="l">
              <a:lnSpc>
                <a:spcPts val="1800"/>
              </a:lnSpc>
            </a:pPr>
            <a:r>
              <a:rPr lang="en-US" sz="1800" spc="-98" b="true">
                <a:solidFill>
                  <a:srgbClr val="E7F2FA"/>
                </a:solidFill>
                <a:latin typeface="Montserrat Bold"/>
                <a:ea typeface="Montserrat Bold"/>
                <a:cs typeface="Montserrat Bold"/>
                <a:sym typeface="Montserrat Bold"/>
              </a:rPr>
              <a:t>I</a:t>
            </a:r>
            <a:r>
              <a:rPr lang="en-US" b="true" sz="1800" spc="-98">
                <a:solidFill>
                  <a:srgbClr val="E7F2FA"/>
                </a:solidFill>
                <a:latin typeface="Montserrat Bold"/>
                <a:ea typeface="Montserrat Bold"/>
                <a:cs typeface="Montserrat Bold"/>
                <a:sym typeface="Montserrat Bold"/>
              </a:rPr>
              <a:t>ngoude Company</a:t>
            </a:r>
          </a:p>
        </p:txBody>
      </p:sp>
      <p:sp>
        <p:nvSpPr>
          <p:cNvPr name="TextBox 11" id="11"/>
          <p:cNvSpPr txBox="true"/>
          <p:nvPr/>
        </p:nvSpPr>
        <p:spPr>
          <a:xfrm rot="0">
            <a:off x="8381761"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Home</a:t>
            </a:r>
          </a:p>
        </p:txBody>
      </p:sp>
      <p:sp>
        <p:nvSpPr>
          <p:cNvPr name="TextBox 12" id="12"/>
          <p:cNvSpPr txBox="true"/>
          <p:nvPr/>
        </p:nvSpPr>
        <p:spPr>
          <a:xfrm rot="0">
            <a:off x="10668000"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About</a:t>
            </a:r>
          </a:p>
        </p:txBody>
      </p:sp>
      <p:sp>
        <p:nvSpPr>
          <p:cNvPr name="TextBox 13" id="13"/>
          <p:cNvSpPr txBox="true"/>
          <p:nvPr/>
        </p:nvSpPr>
        <p:spPr>
          <a:xfrm rot="0">
            <a:off x="12951095"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Service</a:t>
            </a:r>
          </a:p>
        </p:txBody>
      </p:sp>
      <p:sp>
        <p:nvSpPr>
          <p:cNvPr name="TextBox 14" id="14"/>
          <p:cNvSpPr txBox="true"/>
          <p:nvPr/>
        </p:nvSpPr>
        <p:spPr>
          <a:xfrm rot="0">
            <a:off x="15234190" y="1075372"/>
            <a:ext cx="2149745" cy="245745"/>
          </a:xfrm>
          <a:prstGeom prst="rect">
            <a:avLst/>
          </a:prstGeom>
        </p:spPr>
        <p:txBody>
          <a:bodyPr anchor="t" rtlCol="false" tIns="0" lIns="0" bIns="0" rIns="0">
            <a:spAutoFit/>
          </a:bodyPr>
          <a:lstStyle/>
          <a:p>
            <a:pPr algn="ctr">
              <a:lnSpc>
                <a:spcPts val="1800"/>
              </a:lnSpc>
            </a:pPr>
            <a:r>
              <a:rPr lang="en-US" sz="1800" spc="-98">
                <a:solidFill>
                  <a:srgbClr val="E7F2FA"/>
                </a:solidFill>
                <a:latin typeface="Montserrat"/>
                <a:ea typeface="Montserrat"/>
                <a:cs typeface="Montserrat"/>
                <a:sym typeface="Montserrat"/>
              </a:rPr>
              <a:t>Contact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DAHEJ8cUQQM</dc:identifier>
  <dcterms:modified xsi:type="dcterms:W3CDTF">2011-08-01T06:04:30Z</dcterms:modified>
  <cp:revision>1</cp:revision>
  <dc:title>Presentación Modulo Final</dc:title>
</cp:coreProperties>
</file>